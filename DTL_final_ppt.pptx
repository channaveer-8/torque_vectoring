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50" r:id="rId2"/>
  </p:sldMasterIdLst>
  <p:notesMasterIdLst>
    <p:notesMasterId r:id="rId36"/>
  </p:notesMasterIdLst>
  <p:sldIdLst>
    <p:sldId id="256" r:id="rId3"/>
    <p:sldId id="276" r:id="rId4"/>
    <p:sldId id="277" r:id="rId5"/>
    <p:sldId id="290" r:id="rId6"/>
    <p:sldId id="259" r:id="rId7"/>
    <p:sldId id="269" r:id="rId8"/>
    <p:sldId id="271" r:id="rId9"/>
    <p:sldId id="266" r:id="rId10"/>
    <p:sldId id="268" r:id="rId11"/>
    <p:sldId id="267" r:id="rId12"/>
    <p:sldId id="273" r:id="rId13"/>
    <p:sldId id="278" r:id="rId14"/>
    <p:sldId id="280" r:id="rId15"/>
    <p:sldId id="303" r:id="rId16"/>
    <p:sldId id="281" r:id="rId17"/>
    <p:sldId id="282" r:id="rId18"/>
    <p:sldId id="274" r:id="rId19"/>
    <p:sldId id="289" r:id="rId20"/>
    <p:sldId id="291" r:id="rId21"/>
    <p:sldId id="292" r:id="rId22"/>
    <p:sldId id="262" r:id="rId23"/>
    <p:sldId id="293" r:id="rId24"/>
    <p:sldId id="287" r:id="rId25"/>
    <p:sldId id="286" r:id="rId26"/>
    <p:sldId id="285" r:id="rId27"/>
    <p:sldId id="288" r:id="rId28"/>
    <p:sldId id="264" r:id="rId29"/>
    <p:sldId id="260" r:id="rId30"/>
    <p:sldId id="299" r:id="rId31"/>
    <p:sldId id="302" r:id="rId32"/>
    <p:sldId id="300" r:id="rId33"/>
    <p:sldId id="301" r:id="rId34"/>
    <p:sldId id="297" r:id="rId35"/>
  </p:sldIdLst>
  <p:sldSz cx="20104100" cy="11309350"/>
  <p:notesSz cx="20104100" cy="11309350"/>
  <p:embeddedFontLst>
    <p:embeddedFont>
      <p:font typeface="Arial Black" panose="020B0A04020102020204" pitchFamily="34" charset="0"/>
      <p:bold r:id="rId37"/>
    </p:embeddedFont>
    <p:embeddedFont>
      <p:font typeface="Calibri" panose="020F0502020204030204" pitchFamily="34" charset="0"/>
      <p:regular r:id="rId38"/>
      <p:bold r:id="rId39"/>
      <p:italic r:id="rId40"/>
      <p:boldItalic r:id="rId41"/>
    </p:embeddedFont>
    <p:embeddedFont>
      <p:font typeface="Helvetica Neue" panose="020B0604020202020204" charset="0"/>
      <p:regular r:id="rId42"/>
      <p:bold r:id="rId43"/>
      <p:italic r:id="rId44"/>
      <p:boldItalic r:id="rId45"/>
    </p:embeddedFont>
    <p:embeddedFont>
      <p:font typeface="Playfair Display" panose="00000500000000000000" pitchFamily="2" charset="0"/>
      <p:regular r:id="rId46"/>
      <p:bold r:id="rId47"/>
      <p:italic r:id="rId48"/>
      <p:boldItalic r:id="rId49"/>
    </p:embeddedFont>
    <p:embeddedFont>
      <p:font typeface="Roboto" panose="02000000000000000000" pitchFamily="2"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gnAhQA1kYX5NmkWXJRQwkmIUKMM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5" autoAdjust="0"/>
    <p:restoredTop sz="94557" autoAdjust="0"/>
  </p:normalViewPr>
  <p:slideViewPr>
    <p:cSldViewPr snapToGrid="0">
      <p:cViewPr varScale="1">
        <p:scale>
          <a:sx n="39" d="100"/>
          <a:sy n="39" d="100"/>
        </p:scale>
        <p:origin x="954" y="78"/>
      </p:cViewPr>
      <p:guideLst>
        <p:guide orient="horz" pos="2880"/>
        <p:guide pos="2160"/>
      </p:guideLst>
    </p:cSldViewPr>
  </p:slideViewPr>
  <p:outlineViewPr>
    <p:cViewPr>
      <p:scale>
        <a:sx n="33" d="100"/>
        <a:sy n="33" d="100"/>
      </p:scale>
      <p:origin x="0" y="-2649"/>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3.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font" Target="fonts/font17.fntdata"/><Relationship Id="rId58"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7.fntdata"/><Relationship Id="rId48" Type="http://schemas.openxmlformats.org/officeDocument/2006/relationships/font" Target="fonts/font12.fntdata"/><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font" Target="fonts/font15.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8.xml"/><Relationship Id="rId41" Type="http://schemas.openxmlformats.org/officeDocument/2006/relationships/font" Target="fonts/font5.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49" Type="http://schemas.openxmlformats.org/officeDocument/2006/relationships/font" Target="fonts/font13.fntdata"/><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8.fntdata"/><Relationship Id="rId52" Type="http://schemas.openxmlformats.org/officeDocument/2006/relationships/font" Target="fonts/font16.fnt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E48134-0F2F-45FA-8961-5E30510E247E}"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IN"/>
        </a:p>
      </dgm:t>
    </dgm:pt>
    <dgm:pt modelId="{0ABABBB5-F943-4777-9427-E06189827352}">
      <dgm:prSet phldrT="[Text]"/>
      <dgm:spPr/>
      <dgm:t>
        <a:bodyPr/>
        <a:lstStyle/>
        <a:p>
          <a:pPr>
            <a:buFont typeface="Wingdings" panose="05000000000000000000" pitchFamily="2" charset="2"/>
            <a:buChar char="Ø"/>
          </a:pPr>
          <a:r>
            <a:rPr lang="en-IN" b="1" i="0" dirty="0">
              <a:effectLst/>
              <a:latin typeface="Calibri" panose="020F0502020204030204" pitchFamily="34" charset="0"/>
              <a:ea typeface="Calibri" panose="020F0502020204030204" pitchFamily="34" charset="0"/>
              <a:cs typeface="Calibri" panose="020F0502020204030204" pitchFamily="34" charset="0"/>
            </a:rPr>
            <a:t>Enhanced Traction Control</a:t>
          </a:r>
          <a:endParaRPr lang="en-IN" dirty="0"/>
        </a:p>
      </dgm:t>
    </dgm:pt>
    <dgm:pt modelId="{4C6FFBE1-DE5D-4B3B-A6AD-352DC489646D}" type="parTrans" cxnId="{7AC1F040-E66B-43FB-AD96-364A1127145E}">
      <dgm:prSet/>
      <dgm:spPr/>
      <dgm:t>
        <a:bodyPr/>
        <a:lstStyle/>
        <a:p>
          <a:endParaRPr lang="en-IN"/>
        </a:p>
      </dgm:t>
    </dgm:pt>
    <dgm:pt modelId="{276FE5D9-5B0C-4627-BDBB-4266B6A83D59}" type="sibTrans" cxnId="{7AC1F040-E66B-43FB-AD96-364A1127145E}">
      <dgm:prSet/>
      <dgm:spPr/>
      <dgm:t>
        <a:bodyPr/>
        <a:lstStyle/>
        <a:p>
          <a:endParaRPr lang="en-IN"/>
        </a:p>
      </dgm:t>
    </dgm:pt>
    <dgm:pt modelId="{A4B28738-627C-45BB-9760-350FF55508B8}">
      <dgm:prSet/>
      <dgm:spPr/>
      <dgm:t>
        <a:bodyPr/>
        <a:lstStyle/>
        <a:p>
          <a:r>
            <a:rPr lang="en-IN" b="1" i="0">
              <a:effectLst/>
              <a:latin typeface="Calibri" panose="020F0502020204030204" pitchFamily="34" charset="0"/>
              <a:ea typeface="Calibri" panose="020F0502020204030204" pitchFamily="34" charset="0"/>
              <a:cs typeface="Calibri" panose="020F0502020204030204" pitchFamily="34" charset="0"/>
            </a:rPr>
            <a:t>Precise Torque Distribution</a:t>
          </a:r>
          <a:endParaRPr lang="en-IN" b="1" dirty="0">
            <a:latin typeface="Calibri" panose="020F0502020204030204" pitchFamily="34" charset="0"/>
            <a:ea typeface="Calibri" panose="020F0502020204030204" pitchFamily="34" charset="0"/>
            <a:cs typeface="Calibri" panose="020F0502020204030204" pitchFamily="34" charset="0"/>
          </a:endParaRPr>
        </a:p>
      </dgm:t>
    </dgm:pt>
    <dgm:pt modelId="{872A2CBD-5169-41B2-83FC-63E0A0C014D6}" type="parTrans" cxnId="{FED06C13-7276-4499-A32B-A5BCF76A1551}">
      <dgm:prSet/>
      <dgm:spPr/>
      <dgm:t>
        <a:bodyPr/>
        <a:lstStyle/>
        <a:p>
          <a:endParaRPr lang="en-IN"/>
        </a:p>
      </dgm:t>
    </dgm:pt>
    <dgm:pt modelId="{A9B7522E-BADC-4128-81F1-02CC4D5C04DE}" type="sibTrans" cxnId="{FED06C13-7276-4499-A32B-A5BCF76A1551}">
      <dgm:prSet/>
      <dgm:spPr/>
      <dgm:t>
        <a:bodyPr/>
        <a:lstStyle/>
        <a:p>
          <a:endParaRPr lang="en-IN"/>
        </a:p>
      </dgm:t>
    </dgm:pt>
    <dgm:pt modelId="{F83911F2-D5C0-4953-B144-A8BE6FF99974}">
      <dgm:prSet/>
      <dgm:spPr/>
      <dgm:t>
        <a:bodyPr/>
        <a:lstStyle/>
        <a:p>
          <a:r>
            <a:rPr lang="en-IN" b="1" i="0">
              <a:effectLst/>
              <a:latin typeface="Calibri" panose="020F0502020204030204" pitchFamily="34" charset="0"/>
              <a:ea typeface="Calibri" panose="020F0502020204030204" pitchFamily="34" charset="0"/>
              <a:cs typeface="Calibri" panose="020F0502020204030204" pitchFamily="34" charset="0"/>
            </a:rPr>
            <a:t>Dynamic Adaptability</a:t>
          </a:r>
          <a:endParaRPr lang="en-IN" b="1" i="0" dirty="0">
            <a:effectLst/>
            <a:latin typeface="Calibri" panose="020F0502020204030204" pitchFamily="34" charset="0"/>
            <a:ea typeface="Calibri" panose="020F0502020204030204" pitchFamily="34" charset="0"/>
            <a:cs typeface="Calibri" panose="020F0502020204030204" pitchFamily="34" charset="0"/>
          </a:endParaRPr>
        </a:p>
      </dgm:t>
    </dgm:pt>
    <dgm:pt modelId="{C6F381DE-7EB0-408B-91DF-418859E25811}" type="parTrans" cxnId="{DC6187DD-9C1F-4809-BF5E-8E4E4091ED6F}">
      <dgm:prSet/>
      <dgm:spPr/>
      <dgm:t>
        <a:bodyPr/>
        <a:lstStyle/>
        <a:p>
          <a:endParaRPr lang="en-IN"/>
        </a:p>
      </dgm:t>
    </dgm:pt>
    <dgm:pt modelId="{DB50AEBF-8BA7-4F91-BF4D-E634EFDAB58D}" type="sibTrans" cxnId="{DC6187DD-9C1F-4809-BF5E-8E4E4091ED6F}">
      <dgm:prSet/>
      <dgm:spPr/>
      <dgm:t>
        <a:bodyPr/>
        <a:lstStyle/>
        <a:p>
          <a:endParaRPr lang="en-IN"/>
        </a:p>
      </dgm:t>
    </dgm:pt>
    <dgm:pt modelId="{DA6FE874-2A80-445A-AB3C-7E4A0A328C44}">
      <dgm:prSet/>
      <dgm:spPr/>
      <dgm:t>
        <a:bodyPr/>
        <a:lstStyle/>
        <a:p>
          <a:r>
            <a:rPr lang="en-IN" b="1" i="0" dirty="0">
              <a:effectLst/>
              <a:latin typeface="Calibri" panose="020F0502020204030204" pitchFamily="34" charset="0"/>
              <a:ea typeface="Calibri" panose="020F0502020204030204" pitchFamily="34" charset="0"/>
              <a:cs typeface="Calibri" panose="020F0502020204030204" pitchFamily="34" charset="0"/>
            </a:rPr>
            <a:t>Reduced Understeer and Oversteer</a:t>
          </a:r>
        </a:p>
      </dgm:t>
    </dgm:pt>
    <dgm:pt modelId="{E3DDFC4B-DFCB-4879-9F2B-5E57DE674F4A}" type="parTrans" cxnId="{ADE5D65F-2644-42D4-A39A-D503E4B32D0D}">
      <dgm:prSet/>
      <dgm:spPr/>
      <dgm:t>
        <a:bodyPr/>
        <a:lstStyle/>
        <a:p>
          <a:endParaRPr lang="en-IN"/>
        </a:p>
      </dgm:t>
    </dgm:pt>
    <dgm:pt modelId="{8B4B2F6C-0261-4E91-8229-30F1EE68E534}" type="sibTrans" cxnId="{ADE5D65F-2644-42D4-A39A-D503E4B32D0D}">
      <dgm:prSet/>
      <dgm:spPr/>
      <dgm:t>
        <a:bodyPr/>
        <a:lstStyle/>
        <a:p>
          <a:endParaRPr lang="en-IN"/>
        </a:p>
      </dgm:t>
    </dgm:pt>
    <dgm:pt modelId="{DE3FBAB5-5865-49DA-A353-F888D2B4F855}">
      <dgm:prSet/>
      <dgm:spPr/>
      <dgm:t>
        <a:bodyPr/>
        <a:lstStyle/>
        <a:p>
          <a:r>
            <a:rPr lang="en-IN" b="1" i="0">
              <a:effectLst/>
              <a:latin typeface="Calibri" panose="020F0502020204030204" pitchFamily="34" charset="0"/>
              <a:ea typeface="Calibri" panose="020F0502020204030204" pitchFamily="34" charset="0"/>
              <a:cs typeface="Calibri" panose="020F0502020204030204" pitchFamily="34" charset="0"/>
            </a:rPr>
            <a:t>Customizable Driving Modes</a:t>
          </a:r>
          <a:endParaRPr lang="en-IN" b="1" dirty="0">
            <a:latin typeface="Calibri" panose="020F0502020204030204" pitchFamily="34" charset="0"/>
            <a:ea typeface="Calibri" panose="020F0502020204030204" pitchFamily="34" charset="0"/>
            <a:cs typeface="Calibri" panose="020F0502020204030204" pitchFamily="34" charset="0"/>
          </a:endParaRPr>
        </a:p>
      </dgm:t>
    </dgm:pt>
    <dgm:pt modelId="{34D327D5-1A96-40AD-B325-4D3E07038A27}" type="parTrans" cxnId="{25BF77D2-4E21-4E1A-9D66-7C93F13382BC}">
      <dgm:prSet/>
      <dgm:spPr/>
      <dgm:t>
        <a:bodyPr/>
        <a:lstStyle/>
        <a:p>
          <a:endParaRPr lang="en-IN"/>
        </a:p>
      </dgm:t>
    </dgm:pt>
    <dgm:pt modelId="{87C2CFEF-0A56-4D5B-94E1-AAF58877A71B}" type="sibTrans" cxnId="{25BF77D2-4E21-4E1A-9D66-7C93F13382BC}">
      <dgm:prSet/>
      <dgm:spPr/>
      <dgm:t>
        <a:bodyPr/>
        <a:lstStyle/>
        <a:p>
          <a:endParaRPr lang="en-IN"/>
        </a:p>
      </dgm:t>
    </dgm:pt>
    <dgm:pt modelId="{1FD0A262-2ED5-43E5-819D-9FCDCCEEEBB8}">
      <dgm:prSet/>
      <dgm:spPr/>
      <dgm:t>
        <a:bodyPr/>
        <a:lstStyle/>
        <a:p>
          <a:r>
            <a:rPr lang="en-IN" b="1" i="0">
              <a:effectLst/>
              <a:latin typeface="Calibri" panose="020F0502020204030204" pitchFamily="34" charset="0"/>
              <a:ea typeface="Calibri" panose="020F0502020204030204" pitchFamily="34" charset="0"/>
              <a:cs typeface="Calibri" panose="020F0502020204030204" pitchFamily="34" charset="0"/>
            </a:rPr>
            <a:t>Compatibility with ADAS</a:t>
          </a:r>
          <a:endParaRPr lang="en-IN" b="1" i="0" dirty="0">
            <a:effectLst/>
            <a:latin typeface="Calibri" panose="020F0502020204030204" pitchFamily="34" charset="0"/>
            <a:ea typeface="Calibri" panose="020F0502020204030204" pitchFamily="34" charset="0"/>
            <a:cs typeface="Calibri" panose="020F0502020204030204" pitchFamily="34" charset="0"/>
          </a:endParaRPr>
        </a:p>
      </dgm:t>
    </dgm:pt>
    <dgm:pt modelId="{77094370-90E9-482E-BE3D-FF7DDBC75358}" type="parTrans" cxnId="{585F3B9B-C947-4B99-BAC8-B82C0F6DDC7A}">
      <dgm:prSet/>
      <dgm:spPr/>
      <dgm:t>
        <a:bodyPr/>
        <a:lstStyle/>
        <a:p>
          <a:endParaRPr lang="en-IN"/>
        </a:p>
      </dgm:t>
    </dgm:pt>
    <dgm:pt modelId="{D67BC381-F89A-4DD3-99AA-F983ACF5C82A}" type="sibTrans" cxnId="{585F3B9B-C947-4B99-BAC8-B82C0F6DDC7A}">
      <dgm:prSet/>
      <dgm:spPr/>
      <dgm:t>
        <a:bodyPr/>
        <a:lstStyle/>
        <a:p>
          <a:endParaRPr lang="en-IN"/>
        </a:p>
      </dgm:t>
    </dgm:pt>
    <dgm:pt modelId="{8A6A004D-BD1E-4DDA-8304-D1BF3694CADC}">
      <dgm:prSet/>
      <dgm:spPr/>
      <dgm:t>
        <a:bodyPr/>
        <a:lstStyle/>
        <a:p>
          <a:r>
            <a:rPr lang="en-IN" b="1" i="0" dirty="0">
              <a:effectLst/>
              <a:latin typeface="Calibri" panose="020F0502020204030204" pitchFamily="34" charset="0"/>
              <a:ea typeface="Calibri" panose="020F0502020204030204" pitchFamily="34" charset="0"/>
              <a:cs typeface="Calibri" panose="020F0502020204030204" pitchFamily="34" charset="0"/>
            </a:rPr>
            <a:t>Optimized EV Performance</a:t>
          </a:r>
        </a:p>
      </dgm:t>
    </dgm:pt>
    <dgm:pt modelId="{77DB5A58-0ACD-45F0-9705-D0FDE06D1B37}" type="parTrans" cxnId="{05258DE7-CEFF-4C75-B1D4-741847CC538D}">
      <dgm:prSet/>
      <dgm:spPr/>
      <dgm:t>
        <a:bodyPr/>
        <a:lstStyle/>
        <a:p>
          <a:endParaRPr lang="en-IN"/>
        </a:p>
      </dgm:t>
    </dgm:pt>
    <dgm:pt modelId="{B0B9ACF2-991A-40E5-8B7A-73CCF9789D96}" type="sibTrans" cxnId="{05258DE7-CEFF-4C75-B1D4-741847CC538D}">
      <dgm:prSet/>
      <dgm:spPr/>
      <dgm:t>
        <a:bodyPr/>
        <a:lstStyle/>
        <a:p>
          <a:endParaRPr lang="en-IN"/>
        </a:p>
      </dgm:t>
    </dgm:pt>
    <dgm:pt modelId="{1C89E6DA-A452-4C85-88E5-0F5B0C65F9E5}" type="pres">
      <dgm:prSet presAssocID="{C3E48134-0F2F-45FA-8961-5E30510E247E}" presName="Name0" presStyleCnt="0">
        <dgm:presLayoutVars>
          <dgm:chMax val="7"/>
          <dgm:chPref val="7"/>
          <dgm:dir/>
        </dgm:presLayoutVars>
      </dgm:prSet>
      <dgm:spPr/>
    </dgm:pt>
    <dgm:pt modelId="{D80B760D-DD7A-44A0-9219-D4308F58D840}" type="pres">
      <dgm:prSet presAssocID="{C3E48134-0F2F-45FA-8961-5E30510E247E}" presName="Name1" presStyleCnt="0"/>
      <dgm:spPr/>
    </dgm:pt>
    <dgm:pt modelId="{F4F8D30A-8ECF-49CA-B6E7-90CC031650ED}" type="pres">
      <dgm:prSet presAssocID="{C3E48134-0F2F-45FA-8961-5E30510E247E}" presName="cycle" presStyleCnt="0"/>
      <dgm:spPr/>
    </dgm:pt>
    <dgm:pt modelId="{37DA76C0-3C5A-4742-8401-CDF6D874430B}" type="pres">
      <dgm:prSet presAssocID="{C3E48134-0F2F-45FA-8961-5E30510E247E}" presName="srcNode" presStyleLbl="node1" presStyleIdx="0" presStyleCnt="7"/>
      <dgm:spPr/>
    </dgm:pt>
    <dgm:pt modelId="{49337E09-A171-4E14-B68D-50DFA21C531F}" type="pres">
      <dgm:prSet presAssocID="{C3E48134-0F2F-45FA-8961-5E30510E247E}" presName="conn" presStyleLbl="parChTrans1D2" presStyleIdx="0" presStyleCnt="1"/>
      <dgm:spPr/>
    </dgm:pt>
    <dgm:pt modelId="{7AB2AAAD-B602-4616-84EB-82AA8F30AD70}" type="pres">
      <dgm:prSet presAssocID="{C3E48134-0F2F-45FA-8961-5E30510E247E}" presName="extraNode" presStyleLbl="node1" presStyleIdx="0" presStyleCnt="7"/>
      <dgm:spPr/>
    </dgm:pt>
    <dgm:pt modelId="{7E279DA3-17B0-49CC-A632-B0B7E6A2FF02}" type="pres">
      <dgm:prSet presAssocID="{C3E48134-0F2F-45FA-8961-5E30510E247E}" presName="dstNode" presStyleLbl="node1" presStyleIdx="0" presStyleCnt="7"/>
      <dgm:spPr/>
    </dgm:pt>
    <dgm:pt modelId="{1D04DE70-45C2-41A8-8B79-E94543D880F4}" type="pres">
      <dgm:prSet presAssocID="{0ABABBB5-F943-4777-9427-E06189827352}" presName="text_1" presStyleLbl="node1" presStyleIdx="0" presStyleCnt="7">
        <dgm:presLayoutVars>
          <dgm:bulletEnabled val="1"/>
        </dgm:presLayoutVars>
      </dgm:prSet>
      <dgm:spPr/>
    </dgm:pt>
    <dgm:pt modelId="{80054620-755E-4A57-AEBE-48C04F1772C0}" type="pres">
      <dgm:prSet presAssocID="{0ABABBB5-F943-4777-9427-E06189827352}" presName="accent_1" presStyleCnt="0"/>
      <dgm:spPr/>
    </dgm:pt>
    <dgm:pt modelId="{3B98825E-D6F4-4EA6-B8D5-6CF5A10E05C0}" type="pres">
      <dgm:prSet presAssocID="{0ABABBB5-F943-4777-9427-E06189827352}" presName="accentRepeatNode" presStyleLbl="solidFgAcc1" presStyleIdx="0" presStyleCnt="7"/>
      <dgm:spPr/>
    </dgm:pt>
    <dgm:pt modelId="{C4D9B5B4-B242-44C6-82C8-C06B2E9BE47D}" type="pres">
      <dgm:prSet presAssocID="{A4B28738-627C-45BB-9760-350FF55508B8}" presName="text_2" presStyleLbl="node1" presStyleIdx="1" presStyleCnt="7">
        <dgm:presLayoutVars>
          <dgm:bulletEnabled val="1"/>
        </dgm:presLayoutVars>
      </dgm:prSet>
      <dgm:spPr/>
    </dgm:pt>
    <dgm:pt modelId="{EC67FE18-3618-46CD-B481-6D82F4938F69}" type="pres">
      <dgm:prSet presAssocID="{A4B28738-627C-45BB-9760-350FF55508B8}" presName="accent_2" presStyleCnt="0"/>
      <dgm:spPr/>
    </dgm:pt>
    <dgm:pt modelId="{DC19B562-578D-4918-B778-04C24F4D85F6}" type="pres">
      <dgm:prSet presAssocID="{A4B28738-627C-45BB-9760-350FF55508B8}" presName="accentRepeatNode" presStyleLbl="solidFgAcc1" presStyleIdx="1" presStyleCnt="7"/>
      <dgm:spPr/>
    </dgm:pt>
    <dgm:pt modelId="{A15C1589-3274-4784-8EFF-67FD7FDE9226}" type="pres">
      <dgm:prSet presAssocID="{F83911F2-D5C0-4953-B144-A8BE6FF99974}" presName="text_3" presStyleLbl="node1" presStyleIdx="2" presStyleCnt="7">
        <dgm:presLayoutVars>
          <dgm:bulletEnabled val="1"/>
        </dgm:presLayoutVars>
      </dgm:prSet>
      <dgm:spPr/>
    </dgm:pt>
    <dgm:pt modelId="{A7645F01-EAE3-4F5C-86B4-5B7EDBF1728A}" type="pres">
      <dgm:prSet presAssocID="{F83911F2-D5C0-4953-B144-A8BE6FF99974}" presName="accent_3" presStyleCnt="0"/>
      <dgm:spPr/>
    </dgm:pt>
    <dgm:pt modelId="{3E57EC30-9AF8-487F-81A0-E6F9C75EAEFF}" type="pres">
      <dgm:prSet presAssocID="{F83911F2-D5C0-4953-B144-A8BE6FF99974}" presName="accentRepeatNode" presStyleLbl="solidFgAcc1" presStyleIdx="2" presStyleCnt="7"/>
      <dgm:spPr/>
    </dgm:pt>
    <dgm:pt modelId="{6047825F-2372-4A10-B48A-7FDDD960BEA7}" type="pres">
      <dgm:prSet presAssocID="{DA6FE874-2A80-445A-AB3C-7E4A0A328C44}" presName="text_4" presStyleLbl="node1" presStyleIdx="3" presStyleCnt="7">
        <dgm:presLayoutVars>
          <dgm:bulletEnabled val="1"/>
        </dgm:presLayoutVars>
      </dgm:prSet>
      <dgm:spPr/>
    </dgm:pt>
    <dgm:pt modelId="{078E1A2D-CB0A-4617-8C13-83808E7DE7AD}" type="pres">
      <dgm:prSet presAssocID="{DA6FE874-2A80-445A-AB3C-7E4A0A328C44}" presName="accent_4" presStyleCnt="0"/>
      <dgm:spPr/>
    </dgm:pt>
    <dgm:pt modelId="{EFD859F1-E24A-4234-A6A8-6E46D88BF1D6}" type="pres">
      <dgm:prSet presAssocID="{DA6FE874-2A80-445A-AB3C-7E4A0A328C44}" presName="accentRepeatNode" presStyleLbl="solidFgAcc1" presStyleIdx="3" presStyleCnt="7"/>
      <dgm:spPr/>
    </dgm:pt>
    <dgm:pt modelId="{85DF3E4B-6A03-40E3-A679-6A9ADDF8C234}" type="pres">
      <dgm:prSet presAssocID="{DE3FBAB5-5865-49DA-A353-F888D2B4F855}" presName="text_5" presStyleLbl="node1" presStyleIdx="4" presStyleCnt="7">
        <dgm:presLayoutVars>
          <dgm:bulletEnabled val="1"/>
        </dgm:presLayoutVars>
      </dgm:prSet>
      <dgm:spPr/>
    </dgm:pt>
    <dgm:pt modelId="{803EA015-791A-4A20-B0D5-439942024A2B}" type="pres">
      <dgm:prSet presAssocID="{DE3FBAB5-5865-49DA-A353-F888D2B4F855}" presName="accent_5" presStyleCnt="0"/>
      <dgm:spPr/>
    </dgm:pt>
    <dgm:pt modelId="{8DE61567-8404-465D-A1CE-996591C1B2D3}" type="pres">
      <dgm:prSet presAssocID="{DE3FBAB5-5865-49DA-A353-F888D2B4F855}" presName="accentRepeatNode" presStyleLbl="solidFgAcc1" presStyleIdx="4" presStyleCnt="7"/>
      <dgm:spPr/>
    </dgm:pt>
    <dgm:pt modelId="{A1BCB675-D074-4E0A-978E-0D5E9D5E7122}" type="pres">
      <dgm:prSet presAssocID="{1FD0A262-2ED5-43E5-819D-9FCDCCEEEBB8}" presName="text_6" presStyleLbl="node1" presStyleIdx="5" presStyleCnt="7">
        <dgm:presLayoutVars>
          <dgm:bulletEnabled val="1"/>
        </dgm:presLayoutVars>
      </dgm:prSet>
      <dgm:spPr/>
    </dgm:pt>
    <dgm:pt modelId="{F435A71E-E0D9-4293-9BA7-E3B853152510}" type="pres">
      <dgm:prSet presAssocID="{1FD0A262-2ED5-43E5-819D-9FCDCCEEEBB8}" presName="accent_6" presStyleCnt="0"/>
      <dgm:spPr/>
    </dgm:pt>
    <dgm:pt modelId="{D0AA3BB3-716F-4A20-8640-5D20C9F4C160}" type="pres">
      <dgm:prSet presAssocID="{1FD0A262-2ED5-43E5-819D-9FCDCCEEEBB8}" presName="accentRepeatNode" presStyleLbl="solidFgAcc1" presStyleIdx="5" presStyleCnt="7"/>
      <dgm:spPr/>
    </dgm:pt>
    <dgm:pt modelId="{9BE86209-17B6-491C-9530-69CC0949AD09}" type="pres">
      <dgm:prSet presAssocID="{8A6A004D-BD1E-4DDA-8304-D1BF3694CADC}" presName="text_7" presStyleLbl="node1" presStyleIdx="6" presStyleCnt="7">
        <dgm:presLayoutVars>
          <dgm:bulletEnabled val="1"/>
        </dgm:presLayoutVars>
      </dgm:prSet>
      <dgm:spPr/>
    </dgm:pt>
    <dgm:pt modelId="{284A5860-D183-4645-885C-1912B2A3FB29}" type="pres">
      <dgm:prSet presAssocID="{8A6A004D-BD1E-4DDA-8304-D1BF3694CADC}" presName="accent_7" presStyleCnt="0"/>
      <dgm:spPr/>
    </dgm:pt>
    <dgm:pt modelId="{A0FB172A-8058-49B7-8828-DC3EB789357D}" type="pres">
      <dgm:prSet presAssocID="{8A6A004D-BD1E-4DDA-8304-D1BF3694CADC}" presName="accentRepeatNode" presStyleLbl="solidFgAcc1" presStyleIdx="6" presStyleCnt="7"/>
      <dgm:spPr/>
    </dgm:pt>
  </dgm:ptLst>
  <dgm:cxnLst>
    <dgm:cxn modelId="{869CEF02-005F-40C4-902E-66B569FDDB98}" type="presOf" srcId="{276FE5D9-5B0C-4627-BDBB-4266B6A83D59}" destId="{49337E09-A171-4E14-B68D-50DFA21C531F}" srcOrd="0" destOrd="0" presId="urn:microsoft.com/office/officeart/2008/layout/VerticalCurvedList"/>
    <dgm:cxn modelId="{FED06C13-7276-4499-A32B-A5BCF76A1551}" srcId="{C3E48134-0F2F-45FA-8961-5E30510E247E}" destId="{A4B28738-627C-45BB-9760-350FF55508B8}" srcOrd="1" destOrd="0" parTransId="{872A2CBD-5169-41B2-83FC-63E0A0C014D6}" sibTransId="{A9B7522E-BADC-4128-81F1-02CC4D5C04DE}"/>
    <dgm:cxn modelId="{F4E4102F-5136-4177-A290-4FA61553C64B}" type="presOf" srcId="{8A6A004D-BD1E-4DDA-8304-D1BF3694CADC}" destId="{9BE86209-17B6-491C-9530-69CC0949AD09}" srcOrd="0" destOrd="0" presId="urn:microsoft.com/office/officeart/2008/layout/VerticalCurvedList"/>
    <dgm:cxn modelId="{1D16F438-DA79-42BE-8694-005E2E0D4E86}" type="presOf" srcId="{1FD0A262-2ED5-43E5-819D-9FCDCCEEEBB8}" destId="{A1BCB675-D074-4E0A-978E-0D5E9D5E7122}" srcOrd="0" destOrd="0" presId="urn:microsoft.com/office/officeart/2008/layout/VerticalCurvedList"/>
    <dgm:cxn modelId="{65BEBB3D-9915-4EC7-BC68-CB1377F25C51}" type="presOf" srcId="{DA6FE874-2A80-445A-AB3C-7E4A0A328C44}" destId="{6047825F-2372-4A10-B48A-7FDDD960BEA7}" srcOrd="0" destOrd="0" presId="urn:microsoft.com/office/officeart/2008/layout/VerticalCurvedList"/>
    <dgm:cxn modelId="{7AC1F040-E66B-43FB-AD96-364A1127145E}" srcId="{C3E48134-0F2F-45FA-8961-5E30510E247E}" destId="{0ABABBB5-F943-4777-9427-E06189827352}" srcOrd="0" destOrd="0" parTransId="{4C6FFBE1-DE5D-4B3B-A6AD-352DC489646D}" sibTransId="{276FE5D9-5B0C-4627-BDBB-4266B6A83D59}"/>
    <dgm:cxn modelId="{ADE5D65F-2644-42D4-A39A-D503E4B32D0D}" srcId="{C3E48134-0F2F-45FA-8961-5E30510E247E}" destId="{DA6FE874-2A80-445A-AB3C-7E4A0A328C44}" srcOrd="3" destOrd="0" parTransId="{E3DDFC4B-DFCB-4879-9F2B-5E57DE674F4A}" sibTransId="{8B4B2F6C-0261-4E91-8229-30F1EE68E534}"/>
    <dgm:cxn modelId="{38554E5A-157D-4129-8F68-92902E94316D}" type="presOf" srcId="{C3E48134-0F2F-45FA-8961-5E30510E247E}" destId="{1C89E6DA-A452-4C85-88E5-0F5B0C65F9E5}" srcOrd="0" destOrd="0" presId="urn:microsoft.com/office/officeart/2008/layout/VerticalCurvedList"/>
    <dgm:cxn modelId="{585F3B9B-C947-4B99-BAC8-B82C0F6DDC7A}" srcId="{C3E48134-0F2F-45FA-8961-5E30510E247E}" destId="{1FD0A262-2ED5-43E5-819D-9FCDCCEEEBB8}" srcOrd="5" destOrd="0" parTransId="{77094370-90E9-482E-BE3D-FF7DDBC75358}" sibTransId="{D67BC381-F89A-4DD3-99AA-F983ACF5C82A}"/>
    <dgm:cxn modelId="{41D463A4-262E-46FA-9F5F-218E69E53F87}" type="presOf" srcId="{0ABABBB5-F943-4777-9427-E06189827352}" destId="{1D04DE70-45C2-41A8-8B79-E94543D880F4}" srcOrd="0" destOrd="0" presId="urn:microsoft.com/office/officeart/2008/layout/VerticalCurvedList"/>
    <dgm:cxn modelId="{71A830A8-D7E4-4D48-98DF-562C1BCEFE1B}" type="presOf" srcId="{A4B28738-627C-45BB-9760-350FF55508B8}" destId="{C4D9B5B4-B242-44C6-82C8-C06B2E9BE47D}" srcOrd="0" destOrd="0" presId="urn:microsoft.com/office/officeart/2008/layout/VerticalCurvedList"/>
    <dgm:cxn modelId="{25BF77D2-4E21-4E1A-9D66-7C93F13382BC}" srcId="{C3E48134-0F2F-45FA-8961-5E30510E247E}" destId="{DE3FBAB5-5865-49DA-A353-F888D2B4F855}" srcOrd="4" destOrd="0" parTransId="{34D327D5-1A96-40AD-B325-4D3E07038A27}" sibTransId="{87C2CFEF-0A56-4D5B-94E1-AAF58877A71B}"/>
    <dgm:cxn modelId="{E9D516D9-F925-4AB5-B7FF-6B4BC5F8B412}" type="presOf" srcId="{F83911F2-D5C0-4953-B144-A8BE6FF99974}" destId="{A15C1589-3274-4784-8EFF-67FD7FDE9226}" srcOrd="0" destOrd="0" presId="urn:microsoft.com/office/officeart/2008/layout/VerticalCurvedList"/>
    <dgm:cxn modelId="{DC6187DD-9C1F-4809-BF5E-8E4E4091ED6F}" srcId="{C3E48134-0F2F-45FA-8961-5E30510E247E}" destId="{F83911F2-D5C0-4953-B144-A8BE6FF99974}" srcOrd="2" destOrd="0" parTransId="{C6F381DE-7EB0-408B-91DF-418859E25811}" sibTransId="{DB50AEBF-8BA7-4F91-BF4D-E634EFDAB58D}"/>
    <dgm:cxn modelId="{A9FB75DE-CE86-46CC-85A6-86686B566473}" type="presOf" srcId="{DE3FBAB5-5865-49DA-A353-F888D2B4F855}" destId="{85DF3E4B-6A03-40E3-A679-6A9ADDF8C234}" srcOrd="0" destOrd="0" presId="urn:microsoft.com/office/officeart/2008/layout/VerticalCurvedList"/>
    <dgm:cxn modelId="{05258DE7-CEFF-4C75-B1D4-741847CC538D}" srcId="{C3E48134-0F2F-45FA-8961-5E30510E247E}" destId="{8A6A004D-BD1E-4DDA-8304-D1BF3694CADC}" srcOrd="6" destOrd="0" parTransId="{77DB5A58-0ACD-45F0-9705-D0FDE06D1B37}" sibTransId="{B0B9ACF2-991A-40E5-8B7A-73CCF9789D96}"/>
    <dgm:cxn modelId="{08566036-F206-4D5C-8001-C6490AC6F633}" type="presParOf" srcId="{1C89E6DA-A452-4C85-88E5-0F5B0C65F9E5}" destId="{D80B760D-DD7A-44A0-9219-D4308F58D840}" srcOrd="0" destOrd="0" presId="urn:microsoft.com/office/officeart/2008/layout/VerticalCurvedList"/>
    <dgm:cxn modelId="{8A8237CD-C068-4716-A3B1-7E3323BEE86E}" type="presParOf" srcId="{D80B760D-DD7A-44A0-9219-D4308F58D840}" destId="{F4F8D30A-8ECF-49CA-B6E7-90CC031650ED}" srcOrd="0" destOrd="0" presId="urn:microsoft.com/office/officeart/2008/layout/VerticalCurvedList"/>
    <dgm:cxn modelId="{1FFE421C-F41C-426D-84F1-4F28AB21812B}" type="presParOf" srcId="{F4F8D30A-8ECF-49CA-B6E7-90CC031650ED}" destId="{37DA76C0-3C5A-4742-8401-CDF6D874430B}" srcOrd="0" destOrd="0" presId="urn:microsoft.com/office/officeart/2008/layout/VerticalCurvedList"/>
    <dgm:cxn modelId="{D2E24BC3-A7B6-46CD-A538-4C1ACB36C85F}" type="presParOf" srcId="{F4F8D30A-8ECF-49CA-B6E7-90CC031650ED}" destId="{49337E09-A171-4E14-B68D-50DFA21C531F}" srcOrd="1" destOrd="0" presId="urn:microsoft.com/office/officeart/2008/layout/VerticalCurvedList"/>
    <dgm:cxn modelId="{73DC36D8-A290-403F-87FF-D9B823149786}" type="presParOf" srcId="{F4F8D30A-8ECF-49CA-B6E7-90CC031650ED}" destId="{7AB2AAAD-B602-4616-84EB-82AA8F30AD70}" srcOrd="2" destOrd="0" presId="urn:microsoft.com/office/officeart/2008/layout/VerticalCurvedList"/>
    <dgm:cxn modelId="{4D499BA9-7C7E-4494-A47C-687F0F6B4878}" type="presParOf" srcId="{F4F8D30A-8ECF-49CA-B6E7-90CC031650ED}" destId="{7E279DA3-17B0-49CC-A632-B0B7E6A2FF02}" srcOrd="3" destOrd="0" presId="urn:microsoft.com/office/officeart/2008/layout/VerticalCurvedList"/>
    <dgm:cxn modelId="{A441A810-D0B9-45A5-9CFE-22D005C26AA3}" type="presParOf" srcId="{D80B760D-DD7A-44A0-9219-D4308F58D840}" destId="{1D04DE70-45C2-41A8-8B79-E94543D880F4}" srcOrd="1" destOrd="0" presId="urn:microsoft.com/office/officeart/2008/layout/VerticalCurvedList"/>
    <dgm:cxn modelId="{DC84DBE2-F87F-44D0-85D2-2249EABF41EA}" type="presParOf" srcId="{D80B760D-DD7A-44A0-9219-D4308F58D840}" destId="{80054620-755E-4A57-AEBE-48C04F1772C0}" srcOrd="2" destOrd="0" presId="urn:microsoft.com/office/officeart/2008/layout/VerticalCurvedList"/>
    <dgm:cxn modelId="{38364BB3-B662-427E-A161-B425C8D5118E}" type="presParOf" srcId="{80054620-755E-4A57-AEBE-48C04F1772C0}" destId="{3B98825E-D6F4-4EA6-B8D5-6CF5A10E05C0}" srcOrd="0" destOrd="0" presId="urn:microsoft.com/office/officeart/2008/layout/VerticalCurvedList"/>
    <dgm:cxn modelId="{23F05DAE-83E0-438C-93D3-3BA082E8FFAB}" type="presParOf" srcId="{D80B760D-DD7A-44A0-9219-D4308F58D840}" destId="{C4D9B5B4-B242-44C6-82C8-C06B2E9BE47D}" srcOrd="3" destOrd="0" presId="urn:microsoft.com/office/officeart/2008/layout/VerticalCurvedList"/>
    <dgm:cxn modelId="{D59E9E7A-6467-4FFC-9B15-3DFE34005B75}" type="presParOf" srcId="{D80B760D-DD7A-44A0-9219-D4308F58D840}" destId="{EC67FE18-3618-46CD-B481-6D82F4938F69}" srcOrd="4" destOrd="0" presId="urn:microsoft.com/office/officeart/2008/layout/VerticalCurvedList"/>
    <dgm:cxn modelId="{68107EFE-B69E-4A5C-A154-C7A0DC25CEA3}" type="presParOf" srcId="{EC67FE18-3618-46CD-B481-6D82F4938F69}" destId="{DC19B562-578D-4918-B778-04C24F4D85F6}" srcOrd="0" destOrd="0" presId="urn:microsoft.com/office/officeart/2008/layout/VerticalCurvedList"/>
    <dgm:cxn modelId="{BEF4A046-907D-468F-A501-4005C1A96202}" type="presParOf" srcId="{D80B760D-DD7A-44A0-9219-D4308F58D840}" destId="{A15C1589-3274-4784-8EFF-67FD7FDE9226}" srcOrd="5" destOrd="0" presId="urn:microsoft.com/office/officeart/2008/layout/VerticalCurvedList"/>
    <dgm:cxn modelId="{7CA702C6-0AFD-4590-B70F-3AF9E0219120}" type="presParOf" srcId="{D80B760D-DD7A-44A0-9219-D4308F58D840}" destId="{A7645F01-EAE3-4F5C-86B4-5B7EDBF1728A}" srcOrd="6" destOrd="0" presId="urn:microsoft.com/office/officeart/2008/layout/VerticalCurvedList"/>
    <dgm:cxn modelId="{04123787-81BF-48E6-AF32-ED76C1F00A49}" type="presParOf" srcId="{A7645F01-EAE3-4F5C-86B4-5B7EDBF1728A}" destId="{3E57EC30-9AF8-487F-81A0-E6F9C75EAEFF}" srcOrd="0" destOrd="0" presId="urn:microsoft.com/office/officeart/2008/layout/VerticalCurvedList"/>
    <dgm:cxn modelId="{1E98AF5B-3D3B-4BFF-AD6E-5592C70520C2}" type="presParOf" srcId="{D80B760D-DD7A-44A0-9219-D4308F58D840}" destId="{6047825F-2372-4A10-B48A-7FDDD960BEA7}" srcOrd="7" destOrd="0" presId="urn:microsoft.com/office/officeart/2008/layout/VerticalCurvedList"/>
    <dgm:cxn modelId="{12BAD2E2-5130-4FF0-9C49-03DDD9DB55FE}" type="presParOf" srcId="{D80B760D-DD7A-44A0-9219-D4308F58D840}" destId="{078E1A2D-CB0A-4617-8C13-83808E7DE7AD}" srcOrd="8" destOrd="0" presId="urn:microsoft.com/office/officeart/2008/layout/VerticalCurvedList"/>
    <dgm:cxn modelId="{FDB48F0D-A27A-4530-ACA6-EB9C77A4F05B}" type="presParOf" srcId="{078E1A2D-CB0A-4617-8C13-83808E7DE7AD}" destId="{EFD859F1-E24A-4234-A6A8-6E46D88BF1D6}" srcOrd="0" destOrd="0" presId="urn:microsoft.com/office/officeart/2008/layout/VerticalCurvedList"/>
    <dgm:cxn modelId="{8AE71B6B-4A58-4A5A-BE07-21B2604BD7AA}" type="presParOf" srcId="{D80B760D-DD7A-44A0-9219-D4308F58D840}" destId="{85DF3E4B-6A03-40E3-A679-6A9ADDF8C234}" srcOrd="9" destOrd="0" presId="urn:microsoft.com/office/officeart/2008/layout/VerticalCurvedList"/>
    <dgm:cxn modelId="{66782F91-39FC-4648-ACAB-41D2D2A8E8D1}" type="presParOf" srcId="{D80B760D-DD7A-44A0-9219-D4308F58D840}" destId="{803EA015-791A-4A20-B0D5-439942024A2B}" srcOrd="10" destOrd="0" presId="urn:microsoft.com/office/officeart/2008/layout/VerticalCurvedList"/>
    <dgm:cxn modelId="{937F5E30-652C-4DEE-BA19-F53B12A827F5}" type="presParOf" srcId="{803EA015-791A-4A20-B0D5-439942024A2B}" destId="{8DE61567-8404-465D-A1CE-996591C1B2D3}" srcOrd="0" destOrd="0" presId="urn:microsoft.com/office/officeart/2008/layout/VerticalCurvedList"/>
    <dgm:cxn modelId="{C075DC6C-0526-4D0B-9E85-DA792123C000}" type="presParOf" srcId="{D80B760D-DD7A-44A0-9219-D4308F58D840}" destId="{A1BCB675-D074-4E0A-978E-0D5E9D5E7122}" srcOrd="11" destOrd="0" presId="urn:microsoft.com/office/officeart/2008/layout/VerticalCurvedList"/>
    <dgm:cxn modelId="{89F19CDF-BBDA-4B36-8FD8-6F492803F7F0}" type="presParOf" srcId="{D80B760D-DD7A-44A0-9219-D4308F58D840}" destId="{F435A71E-E0D9-4293-9BA7-E3B853152510}" srcOrd="12" destOrd="0" presId="urn:microsoft.com/office/officeart/2008/layout/VerticalCurvedList"/>
    <dgm:cxn modelId="{FEE0CB54-75EB-4699-9350-1C54CB98D921}" type="presParOf" srcId="{F435A71E-E0D9-4293-9BA7-E3B853152510}" destId="{D0AA3BB3-716F-4A20-8640-5D20C9F4C160}" srcOrd="0" destOrd="0" presId="urn:microsoft.com/office/officeart/2008/layout/VerticalCurvedList"/>
    <dgm:cxn modelId="{721FEE2A-7543-4683-AE33-F65023ABF711}" type="presParOf" srcId="{D80B760D-DD7A-44A0-9219-D4308F58D840}" destId="{9BE86209-17B6-491C-9530-69CC0949AD09}" srcOrd="13" destOrd="0" presId="urn:microsoft.com/office/officeart/2008/layout/VerticalCurvedList"/>
    <dgm:cxn modelId="{8D92EF47-9BCB-4F11-B939-F93394FA1963}" type="presParOf" srcId="{D80B760D-DD7A-44A0-9219-D4308F58D840}" destId="{284A5860-D183-4645-885C-1912B2A3FB29}" srcOrd="14" destOrd="0" presId="urn:microsoft.com/office/officeart/2008/layout/VerticalCurvedList"/>
    <dgm:cxn modelId="{4DBD0D2F-13C4-45A5-A4C2-99A4838C389D}" type="presParOf" srcId="{284A5860-D183-4645-885C-1912B2A3FB29}" destId="{A0FB172A-8058-49B7-8828-DC3EB789357D}"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337E09-A171-4E14-B68D-50DFA21C531F}">
      <dsp:nvSpPr>
        <dsp:cNvPr id="0" name=""/>
        <dsp:cNvSpPr/>
      </dsp:nvSpPr>
      <dsp:spPr>
        <a:xfrm>
          <a:off x="-10092636" y="-1542246"/>
          <a:ext cx="12019649" cy="12019649"/>
        </a:xfrm>
        <a:prstGeom prst="blockArc">
          <a:avLst>
            <a:gd name="adj1" fmla="val 18900000"/>
            <a:gd name="adj2" fmla="val 2700000"/>
            <a:gd name="adj3" fmla="val 18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D04DE70-45C2-41A8-8B79-E94543D880F4}">
      <dsp:nvSpPr>
        <dsp:cNvPr id="0" name=""/>
        <dsp:cNvSpPr/>
      </dsp:nvSpPr>
      <dsp:spPr>
        <a:xfrm>
          <a:off x="626801" y="406192"/>
          <a:ext cx="9755347" cy="81202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4546" tIns="104140" rIns="104140" bIns="104140" numCol="1" spcCol="1270" anchor="ctr" anchorCtr="0">
          <a:noAutofit/>
        </a:bodyPr>
        <a:lstStyle/>
        <a:p>
          <a:pPr marL="0" lvl="0" indent="0" algn="l" defTabSz="1822450">
            <a:lnSpc>
              <a:spcPct val="90000"/>
            </a:lnSpc>
            <a:spcBef>
              <a:spcPct val="0"/>
            </a:spcBef>
            <a:spcAft>
              <a:spcPct val="35000"/>
            </a:spcAft>
            <a:buFont typeface="Wingdings" panose="05000000000000000000" pitchFamily="2" charset="2"/>
            <a:buNone/>
          </a:pPr>
          <a:r>
            <a:rPr lang="en-IN" sz="4100" b="1" i="0" kern="1200" dirty="0">
              <a:effectLst/>
              <a:latin typeface="Calibri" panose="020F0502020204030204" pitchFamily="34" charset="0"/>
              <a:ea typeface="Calibri" panose="020F0502020204030204" pitchFamily="34" charset="0"/>
              <a:cs typeface="Calibri" panose="020F0502020204030204" pitchFamily="34" charset="0"/>
            </a:rPr>
            <a:t>Enhanced Traction Control</a:t>
          </a:r>
          <a:endParaRPr lang="en-IN" sz="4100" kern="1200" dirty="0"/>
        </a:p>
      </dsp:txBody>
      <dsp:txXfrm>
        <a:off x="626801" y="406192"/>
        <a:ext cx="9755347" cy="812026"/>
      </dsp:txXfrm>
    </dsp:sp>
    <dsp:sp modelId="{3B98825E-D6F4-4EA6-B8D5-6CF5A10E05C0}">
      <dsp:nvSpPr>
        <dsp:cNvPr id="0" name=""/>
        <dsp:cNvSpPr/>
      </dsp:nvSpPr>
      <dsp:spPr>
        <a:xfrm>
          <a:off x="119284" y="304688"/>
          <a:ext cx="1015033" cy="1015033"/>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4D9B5B4-B242-44C6-82C8-C06B2E9BE47D}">
      <dsp:nvSpPr>
        <dsp:cNvPr id="0" name=""/>
        <dsp:cNvSpPr/>
      </dsp:nvSpPr>
      <dsp:spPr>
        <a:xfrm>
          <a:off x="1362164" y="1624947"/>
          <a:ext cx="9019984" cy="81202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4546" tIns="104140" rIns="104140" bIns="104140" numCol="1" spcCol="1270" anchor="ctr" anchorCtr="0">
          <a:noAutofit/>
        </a:bodyPr>
        <a:lstStyle/>
        <a:p>
          <a:pPr marL="0" lvl="0" indent="0" algn="l" defTabSz="1822450">
            <a:lnSpc>
              <a:spcPct val="90000"/>
            </a:lnSpc>
            <a:spcBef>
              <a:spcPct val="0"/>
            </a:spcBef>
            <a:spcAft>
              <a:spcPct val="35000"/>
            </a:spcAft>
            <a:buNone/>
          </a:pPr>
          <a:r>
            <a:rPr lang="en-IN" sz="4100" b="1" i="0" kern="1200">
              <a:effectLst/>
              <a:latin typeface="Calibri" panose="020F0502020204030204" pitchFamily="34" charset="0"/>
              <a:ea typeface="Calibri" panose="020F0502020204030204" pitchFamily="34" charset="0"/>
              <a:cs typeface="Calibri" panose="020F0502020204030204" pitchFamily="34" charset="0"/>
            </a:rPr>
            <a:t>Precise Torque Distribution</a:t>
          </a:r>
          <a:endParaRPr lang="en-IN" sz="4100" b="1" kern="1200" dirty="0">
            <a:latin typeface="Calibri" panose="020F0502020204030204" pitchFamily="34" charset="0"/>
            <a:ea typeface="Calibri" panose="020F0502020204030204" pitchFamily="34" charset="0"/>
            <a:cs typeface="Calibri" panose="020F0502020204030204" pitchFamily="34" charset="0"/>
          </a:endParaRPr>
        </a:p>
      </dsp:txBody>
      <dsp:txXfrm>
        <a:off x="1362164" y="1624947"/>
        <a:ext cx="9019984" cy="812026"/>
      </dsp:txXfrm>
    </dsp:sp>
    <dsp:sp modelId="{DC19B562-578D-4918-B778-04C24F4D85F6}">
      <dsp:nvSpPr>
        <dsp:cNvPr id="0" name=""/>
        <dsp:cNvSpPr/>
      </dsp:nvSpPr>
      <dsp:spPr>
        <a:xfrm>
          <a:off x="854647" y="1523444"/>
          <a:ext cx="1015033" cy="1015033"/>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15C1589-3274-4784-8EFF-67FD7FDE9226}">
      <dsp:nvSpPr>
        <dsp:cNvPr id="0" name=""/>
        <dsp:cNvSpPr/>
      </dsp:nvSpPr>
      <dsp:spPr>
        <a:xfrm>
          <a:off x="1765140" y="2842809"/>
          <a:ext cx="8617008" cy="81202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4546" tIns="104140" rIns="104140" bIns="104140" numCol="1" spcCol="1270" anchor="ctr" anchorCtr="0">
          <a:noAutofit/>
        </a:bodyPr>
        <a:lstStyle/>
        <a:p>
          <a:pPr marL="0" lvl="0" indent="0" algn="l" defTabSz="1822450">
            <a:lnSpc>
              <a:spcPct val="90000"/>
            </a:lnSpc>
            <a:spcBef>
              <a:spcPct val="0"/>
            </a:spcBef>
            <a:spcAft>
              <a:spcPct val="35000"/>
            </a:spcAft>
            <a:buNone/>
          </a:pPr>
          <a:r>
            <a:rPr lang="en-IN" sz="4100" b="1" i="0" kern="1200">
              <a:effectLst/>
              <a:latin typeface="Calibri" panose="020F0502020204030204" pitchFamily="34" charset="0"/>
              <a:ea typeface="Calibri" panose="020F0502020204030204" pitchFamily="34" charset="0"/>
              <a:cs typeface="Calibri" panose="020F0502020204030204" pitchFamily="34" charset="0"/>
            </a:rPr>
            <a:t>Dynamic Adaptability</a:t>
          </a:r>
          <a:endParaRPr lang="en-IN" sz="4100" b="1" i="0" kern="1200" dirty="0">
            <a:effectLst/>
            <a:latin typeface="Calibri" panose="020F0502020204030204" pitchFamily="34" charset="0"/>
            <a:ea typeface="Calibri" panose="020F0502020204030204" pitchFamily="34" charset="0"/>
            <a:cs typeface="Calibri" panose="020F0502020204030204" pitchFamily="34" charset="0"/>
          </a:endParaRPr>
        </a:p>
      </dsp:txBody>
      <dsp:txXfrm>
        <a:off x="1765140" y="2842809"/>
        <a:ext cx="8617008" cy="812026"/>
      </dsp:txXfrm>
    </dsp:sp>
    <dsp:sp modelId="{3E57EC30-9AF8-487F-81A0-E6F9C75EAEFF}">
      <dsp:nvSpPr>
        <dsp:cNvPr id="0" name=""/>
        <dsp:cNvSpPr/>
      </dsp:nvSpPr>
      <dsp:spPr>
        <a:xfrm>
          <a:off x="1257623" y="2741305"/>
          <a:ext cx="1015033" cy="1015033"/>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047825F-2372-4A10-B48A-7FDDD960BEA7}">
      <dsp:nvSpPr>
        <dsp:cNvPr id="0" name=""/>
        <dsp:cNvSpPr/>
      </dsp:nvSpPr>
      <dsp:spPr>
        <a:xfrm>
          <a:off x="1893806" y="4061564"/>
          <a:ext cx="8488342" cy="81202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4546" tIns="104140" rIns="104140" bIns="104140" numCol="1" spcCol="1270" anchor="ctr" anchorCtr="0">
          <a:noAutofit/>
        </a:bodyPr>
        <a:lstStyle/>
        <a:p>
          <a:pPr marL="0" lvl="0" indent="0" algn="l" defTabSz="1822450">
            <a:lnSpc>
              <a:spcPct val="90000"/>
            </a:lnSpc>
            <a:spcBef>
              <a:spcPct val="0"/>
            </a:spcBef>
            <a:spcAft>
              <a:spcPct val="35000"/>
            </a:spcAft>
            <a:buNone/>
          </a:pPr>
          <a:r>
            <a:rPr lang="en-IN" sz="4100" b="1" i="0" kern="1200" dirty="0">
              <a:effectLst/>
              <a:latin typeface="Calibri" panose="020F0502020204030204" pitchFamily="34" charset="0"/>
              <a:ea typeface="Calibri" panose="020F0502020204030204" pitchFamily="34" charset="0"/>
              <a:cs typeface="Calibri" panose="020F0502020204030204" pitchFamily="34" charset="0"/>
            </a:rPr>
            <a:t>Reduced Understeer and Oversteer</a:t>
          </a:r>
        </a:p>
      </dsp:txBody>
      <dsp:txXfrm>
        <a:off x="1893806" y="4061564"/>
        <a:ext cx="8488342" cy="812026"/>
      </dsp:txXfrm>
    </dsp:sp>
    <dsp:sp modelId="{EFD859F1-E24A-4234-A6A8-6E46D88BF1D6}">
      <dsp:nvSpPr>
        <dsp:cNvPr id="0" name=""/>
        <dsp:cNvSpPr/>
      </dsp:nvSpPr>
      <dsp:spPr>
        <a:xfrm>
          <a:off x="1386289" y="3960061"/>
          <a:ext cx="1015033" cy="1015033"/>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5DF3E4B-6A03-40E3-A679-6A9ADDF8C234}">
      <dsp:nvSpPr>
        <dsp:cNvPr id="0" name=""/>
        <dsp:cNvSpPr/>
      </dsp:nvSpPr>
      <dsp:spPr>
        <a:xfrm>
          <a:off x="1765140" y="5280319"/>
          <a:ext cx="8617008" cy="81202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4546" tIns="104140" rIns="104140" bIns="104140" numCol="1" spcCol="1270" anchor="ctr" anchorCtr="0">
          <a:noAutofit/>
        </a:bodyPr>
        <a:lstStyle/>
        <a:p>
          <a:pPr marL="0" lvl="0" indent="0" algn="l" defTabSz="1822450">
            <a:lnSpc>
              <a:spcPct val="90000"/>
            </a:lnSpc>
            <a:spcBef>
              <a:spcPct val="0"/>
            </a:spcBef>
            <a:spcAft>
              <a:spcPct val="35000"/>
            </a:spcAft>
            <a:buNone/>
          </a:pPr>
          <a:r>
            <a:rPr lang="en-IN" sz="4100" b="1" i="0" kern="1200">
              <a:effectLst/>
              <a:latin typeface="Calibri" panose="020F0502020204030204" pitchFamily="34" charset="0"/>
              <a:ea typeface="Calibri" panose="020F0502020204030204" pitchFamily="34" charset="0"/>
              <a:cs typeface="Calibri" panose="020F0502020204030204" pitchFamily="34" charset="0"/>
            </a:rPr>
            <a:t>Customizable Driving Modes</a:t>
          </a:r>
          <a:endParaRPr lang="en-IN" sz="4100" b="1" kern="1200" dirty="0">
            <a:latin typeface="Calibri" panose="020F0502020204030204" pitchFamily="34" charset="0"/>
            <a:ea typeface="Calibri" panose="020F0502020204030204" pitchFamily="34" charset="0"/>
            <a:cs typeface="Calibri" panose="020F0502020204030204" pitchFamily="34" charset="0"/>
          </a:endParaRPr>
        </a:p>
      </dsp:txBody>
      <dsp:txXfrm>
        <a:off x="1765140" y="5280319"/>
        <a:ext cx="8617008" cy="812026"/>
      </dsp:txXfrm>
    </dsp:sp>
    <dsp:sp modelId="{8DE61567-8404-465D-A1CE-996591C1B2D3}">
      <dsp:nvSpPr>
        <dsp:cNvPr id="0" name=""/>
        <dsp:cNvSpPr/>
      </dsp:nvSpPr>
      <dsp:spPr>
        <a:xfrm>
          <a:off x="1257623" y="5178816"/>
          <a:ext cx="1015033" cy="1015033"/>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1BCB675-D074-4E0A-978E-0D5E9D5E7122}">
      <dsp:nvSpPr>
        <dsp:cNvPr id="0" name=""/>
        <dsp:cNvSpPr/>
      </dsp:nvSpPr>
      <dsp:spPr>
        <a:xfrm>
          <a:off x="1362164" y="6498181"/>
          <a:ext cx="9019984" cy="81202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4546" tIns="104140" rIns="104140" bIns="104140" numCol="1" spcCol="1270" anchor="ctr" anchorCtr="0">
          <a:noAutofit/>
        </a:bodyPr>
        <a:lstStyle/>
        <a:p>
          <a:pPr marL="0" lvl="0" indent="0" algn="l" defTabSz="1822450">
            <a:lnSpc>
              <a:spcPct val="90000"/>
            </a:lnSpc>
            <a:spcBef>
              <a:spcPct val="0"/>
            </a:spcBef>
            <a:spcAft>
              <a:spcPct val="35000"/>
            </a:spcAft>
            <a:buNone/>
          </a:pPr>
          <a:r>
            <a:rPr lang="en-IN" sz="4100" b="1" i="0" kern="1200">
              <a:effectLst/>
              <a:latin typeface="Calibri" panose="020F0502020204030204" pitchFamily="34" charset="0"/>
              <a:ea typeface="Calibri" panose="020F0502020204030204" pitchFamily="34" charset="0"/>
              <a:cs typeface="Calibri" panose="020F0502020204030204" pitchFamily="34" charset="0"/>
            </a:rPr>
            <a:t>Compatibility with ADAS</a:t>
          </a:r>
          <a:endParaRPr lang="en-IN" sz="4100" b="1" i="0" kern="1200" dirty="0">
            <a:effectLst/>
            <a:latin typeface="Calibri" panose="020F0502020204030204" pitchFamily="34" charset="0"/>
            <a:ea typeface="Calibri" panose="020F0502020204030204" pitchFamily="34" charset="0"/>
            <a:cs typeface="Calibri" panose="020F0502020204030204" pitchFamily="34" charset="0"/>
          </a:endParaRPr>
        </a:p>
      </dsp:txBody>
      <dsp:txXfrm>
        <a:off x="1362164" y="6498181"/>
        <a:ext cx="9019984" cy="812026"/>
      </dsp:txXfrm>
    </dsp:sp>
    <dsp:sp modelId="{D0AA3BB3-716F-4A20-8640-5D20C9F4C160}">
      <dsp:nvSpPr>
        <dsp:cNvPr id="0" name=""/>
        <dsp:cNvSpPr/>
      </dsp:nvSpPr>
      <dsp:spPr>
        <a:xfrm>
          <a:off x="854647" y="6396678"/>
          <a:ext cx="1015033" cy="1015033"/>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BE86209-17B6-491C-9530-69CC0949AD09}">
      <dsp:nvSpPr>
        <dsp:cNvPr id="0" name=""/>
        <dsp:cNvSpPr/>
      </dsp:nvSpPr>
      <dsp:spPr>
        <a:xfrm>
          <a:off x="626801" y="7716936"/>
          <a:ext cx="9755347" cy="81202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4546" tIns="104140" rIns="104140" bIns="104140" numCol="1" spcCol="1270" anchor="ctr" anchorCtr="0">
          <a:noAutofit/>
        </a:bodyPr>
        <a:lstStyle/>
        <a:p>
          <a:pPr marL="0" lvl="0" indent="0" algn="l" defTabSz="1822450">
            <a:lnSpc>
              <a:spcPct val="90000"/>
            </a:lnSpc>
            <a:spcBef>
              <a:spcPct val="0"/>
            </a:spcBef>
            <a:spcAft>
              <a:spcPct val="35000"/>
            </a:spcAft>
            <a:buNone/>
          </a:pPr>
          <a:r>
            <a:rPr lang="en-IN" sz="4100" b="1" i="0" kern="1200" dirty="0">
              <a:effectLst/>
              <a:latin typeface="Calibri" panose="020F0502020204030204" pitchFamily="34" charset="0"/>
              <a:ea typeface="Calibri" panose="020F0502020204030204" pitchFamily="34" charset="0"/>
              <a:cs typeface="Calibri" panose="020F0502020204030204" pitchFamily="34" charset="0"/>
            </a:rPr>
            <a:t>Optimized EV Performance</a:t>
          </a:r>
        </a:p>
      </dsp:txBody>
      <dsp:txXfrm>
        <a:off x="626801" y="7716936"/>
        <a:ext cx="9755347" cy="812026"/>
      </dsp:txXfrm>
    </dsp:sp>
    <dsp:sp modelId="{A0FB172A-8058-49B7-8828-DC3EB789357D}">
      <dsp:nvSpPr>
        <dsp:cNvPr id="0" name=""/>
        <dsp:cNvSpPr/>
      </dsp:nvSpPr>
      <dsp:spPr>
        <a:xfrm>
          <a:off x="119284" y="7615433"/>
          <a:ext cx="1015033" cy="1015033"/>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8712200" cy="566737"/>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11387137" y="0"/>
            <a:ext cx="8712200" cy="566737"/>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6659562" y="1414462"/>
            <a:ext cx="6784975" cy="38163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2009775" y="5441950"/>
            <a:ext cx="16084549" cy="4454525"/>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10742612"/>
            <a:ext cx="8712200" cy="56673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11387137" y="10742612"/>
            <a:ext cx="8712200" cy="56673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Calibri"/>
                <a:buNone/>
              </a:pPr>
              <a:t>‹#›</a:t>
            </a:fld>
            <a:endParaRPr dirty="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p1: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 name="Google Shape;33;p1: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4: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 name="Google Shape;82;p4: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86766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4: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 name="Google Shape;82;p4: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20297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4: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 name="Google Shape;82;p4: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04903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4: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2" name="Google Shape;82;p4: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4: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2" name="Google Shape;82;p4: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72630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4: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2" name="Google Shape;82;p4: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42843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4: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2" name="Google Shape;82;p4: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08328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4: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2" name="Google Shape;82;p4: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05798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4: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2" name="Google Shape;82;p4: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54870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4: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2" name="Google Shape;82;p4: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655789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4: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2" name="Google Shape;82;p4: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793160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4: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2" name="Google Shape;82;p4: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84334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4: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 name="Google Shape;82;p4: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59477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4: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 name="Google Shape;82;p4: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661708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4: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2" name="Google Shape;82;p4: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93569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4: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 name="Google Shape;82;p4: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03823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5: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5: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5: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5: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11903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6: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6: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7: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7: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4: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 name="Google Shape;82;p4: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479615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4: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2" name="Google Shape;82;p4: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3260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4: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2" name="Google Shape;82;p4: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03691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4: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2" name="Google Shape;82;p4: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02320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4: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2" name="Google Shape;82;p4: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06089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9: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2" name="Google Shape;162;p19: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5: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8" name="Google Shape;98;p5: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9: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2" name="Google Shape;162;p19: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861771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9: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2" name="Google Shape;162;p19: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8998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9: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2" name="Google Shape;162;p19: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264295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9: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2" name="Google Shape;162;p19: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76978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9:notes"/>
          <p:cNvSpPr txBox="1">
            <a:spLocks noGrp="1"/>
          </p:cNvSpPr>
          <p:nvPr>
            <p:ph type="body" idx="1"/>
          </p:nvPr>
        </p:nvSpPr>
        <p:spPr>
          <a:xfrm>
            <a:off x="2009775" y="5441950"/>
            <a:ext cx="16084549"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2" name="Google Shape;162;p19: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78430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Blank" type="obj">
  <p:cSld name="OBJECT">
    <p:spTree>
      <p:nvGrpSpPr>
        <p:cNvPr id="1" name="Shape 15"/>
        <p:cNvGrpSpPr/>
        <p:nvPr/>
      </p:nvGrpSpPr>
      <p:grpSpPr>
        <a:xfrm>
          <a:off x="0" y="0"/>
          <a:ext cx="0" cy="0"/>
          <a:chOff x="0" y="0"/>
          <a:chExt cx="0" cy="0"/>
        </a:xfrm>
      </p:grpSpPr>
      <p:sp>
        <p:nvSpPr>
          <p:cNvPr id="16" name="Google Shape;16;p21"/>
          <p:cNvSpPr txBox="1">
            <a:spLocks noGrp="1"/>
          </p:cNvSpPr>
          <p:nvPr>
            <p:ph type="ftr" idx="11"/>
          </p:nvPr>
        </p:nvSpPr>
        <p:spPr>
          <a:xfrm>
            <a:off x="6835775" y="10517187"/>
            <a:ext cx="6432550" cy="566737"/>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7" name="Google Shape;17;p21"/>
          <p:cNvSpPr txBox="1">
            <a:spLocks noGrp="1"/>
          </p:cNvSpPr>
          <p:nvPr>
            <p:ph type="dt" idx="10"/>
          </p:nvPr>
        </p:nvSpPr>
        <p:spPr>
          <a:xfrm>
            <a:off x="1004887" y="10517187"/>
            <a:ext cx="4624387" cy="56673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21"/>
          <p:cNvSpPr txBox="1">
            <a:spLocks noGrp="1"/>
          </p:cNvSpPr>
          <p:nvPr>
            <p:ph type="sldNum" idx="12"/>
          </p:nvPr>
        </p:nvSpPr>
        <p:spPr>
          <a:xfrm>
            <a:off x="14474825" y="10517187"/>
            <a:ext cx="4624387" cy="566737"/>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23"/>
          <p:cNvSpPr txBox="1">
            <a:spLocks noGrp="1"/>
          </p:cNvSpPr>
          <p:nvPr>
            <p:ph type="title"/>
          </p:nvPr>
        </p:nvSpPr>
        <p:spPr>
          <a:xfrm>
            <a:off x="581025" y="407987"/>
            <a:ext cx="18942050" cy="484187"/>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3000" b="0" i="1">
                <a:solidFill>
                  <a:srgbClr val="422C75"/>
                </a:solidFill>
                <a:latin typeface="Playfair Display"/>
                <a:ea typeface="Playfair Display"/>
                <a:cs typeface="Playfair Display"/>
                <a:sym typeface="Playfair Display"/>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7" name="Google Shape;27;p23"/>
          <p:cNvSpPr txBox="1">
            <a:spLocks noGrp="1"/>
          </p:cNvSpPr>
          <p:nvPr>
            <p:ph type="body" idx="1"/>
          </p:nvPr>
        </p:nvSpPr>
        <p:spPr>
          <a:xfrm>
            <a:off x="2746375" y="2613025"/>
            <a:ext cx="14611350" cy="2271712"/>
          </a:xfrm>
          <a:prstGeom prst="rect">
            <a:avLst/>
          </a:prstGeom>
          <a:noFill/>
          <a:ln>
            <a:noFill/>
          </a:ln>
        </p:spPr>
        <p:txBody>
          <a:bodyPr spcFirstLastPara="1" wrap="square" lIns="0" tIns="0" rIns="0" bIns="0" anchor="t" anchorCtr="0">
            <a:spAutoFit/>
          </a:bodyPr>
          <a:lstStyle>
            <a:lvl1pPr marL="457200" lvl="0" indent="-228600" algn="l">
              <a:spcBef>
                <a:spcPts val="360"/>
              </a:spcBef>
              <a:spcAft>
                <a:spcPts val="0"/>
              </a:spcAft>
              <a:buSzPts val="1400"/>
              <a:buNone/>
              <a:defRPr b="0" i="0">
                <a:solidFill>
                  <a:schemeClr val="dk1"/>
                </a:solidFill>
              </a:defRPr>
            </a:lvl1pPr>
            <a:lvl2pPr marL="914400" lvl="1" indent="-228600" algn="l">
              <a:spcBef>
                <a:spcPts val="360"/>
              </a:spcBef>
              <a:spcAft>
                <a:spcPts val="0"/>
              </a:spcAft>
              <a:buSzPts val="1400"/>
              <a:buNone/>
              <a:defRPr/>
            </a:lvl2pPr>
            <a:lvl3pPr marL="1371600" lvl="2" indent="-228600" algn="l">
              <a:spcBef>
                <a:spcPts val="360"/>
              </a:spcBef>
              <a:spcAft>
                <a:spcPts val="0"/>
              </a:spcAft>
              <a:buSzPts val="1400"/>
              <a:buNone/>
              <a:defRPr/>
            </a:lvl3pPr>
            <a:lvl4pPr marL="1828800" lvl="3" indent="-228600" algn="l">
              <a:spcBef>
                <a:spcPts val="360"/>
              </a:spcBef>
              <a:spcAft>
                <a:spcPts val="0"/>
              </a:spcAft>
              <a:buSzPts val="1400"/>
              <a:buNone/>
              <a:defRPr/>
            </a:lvl4pPr>
            <a:lvl5pPr marL="2286000" lvl="4" indent="-228600" algn="l">
              <a:spcBef>
                <a:spcPts val="36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8" name="Google Shape;28;p23"/>
          <p:cNvSpPr txBox="1">
            <a:spLocks noGrp="1"/>
          </p:cNvSpPr>
          <p:nvPr>
            <p:ph type="ftr" idx="11"/>
          </p:nvPr>
        </p:nvSpPr>
        <p:spPr>
          <a:xfrm>
            <a:off x="6835775" y="10517187"/>
            <a:ext cx="6432550" cy="566737"/>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9" name="Google Shape;29;p23"/>
          <p:cNvSpPr txBox="1">
            <a:spLocks noGrp="1"/>
          </p:cNvSpPr>
          <p:nvPr>
            <p:ph type="dt" idx="10"/>
          </p:nvPr>
        </p:nvSpPr>
        <p:spPr>
          <a:xfrm>
            <a:off x="1004887" y="10517187"/>
            <a:ext cx="4624387" cy="56673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0" name="Google Shape;30;p23"/>
          <p:cNvSpPr txBox="1">
            <a:spLocks noGrp="1"/>
          </p:cNvSpPr>
          <p:nvPr>
            <p:ph type="sldNum" idx="12"/>
          </p:nvPr>
        </p:nvSpPr>
        <p:spPr>
          <a:xfrm>
            <a:off x="14474825" y="10517187"/>
            <a:ext cx="4624387" cy="566737"/>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0"/>
          <p:cNvSpPr txBox="1">
            <a:spLocks noGrp="1"/>
          </p:cNvSpPr>
          <p:nvPr>
            <p:ph type="title"/>
          </p:nvPr>
        </p:nvSpPr>
        <p:spPr>
          <a:xfrm>
            <a:off x="581025" y="407987"/>
            <a:ext cx="18942050" cy="484187"/>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1400"/>
              <a:buNone/>
              <a:defRPr sz="1800" b="0" i="0" u="none" strike="noStrike" cap="none">
                <a:solidFill>
                  <a:schemeClr val="dk2"/>
                </a:solidFill>
                <a:latin typeface="Calibri"/>
                <a:ea typeface="Calibri"/>
                <a:cs typeface="Calibri"/>
                <a:sym typeface="Calibri"/>
              </a:defRPr>
            </a:lvl1pPr>
            <a:lvl2pPr marR="0" lvl="1" algn="ctr" rtl="0">
              <a:spcBef>
                <a:spcPts val="0"/>
              </a:spcBef>
              <a:spcAft>
                <a:spcPts val="0"/>
              </a:spcAft>
              <a:buSzPts val="1400"/>
              <a:buNone/>
              <a:defRPr sz="1800" b="0" i="0" u="none" strike="noStrike" cap="none">
                <a:solidFill>
                  <a:schemeClr val="dk2"/>
                </a:solidFill>
                <a:latin typeface="Calibri"/>
                <a:ea typeface="Calibri"/>
                <a:cs typeface="Calibri"/>
                <a:sym typeface="Calibri"/>
              </a:defRPr>
            </a:lvl2pPr>
            <a:lvl3pPr marR="0" lvl="2" algn="ctr" rtl="0">
              <a:spcBef>
                <a:spcPts val="0"/>
              </a:spcBef>
              <a:spcAft>
                <a:spcPts val="0"/>
              </a:spcAft>
              <a:buSzPts val="1400"/>
              <a:buNone/>
              <a:defRPr sz="1800" b="0" i="0" u="none" strike="noStrike" cap="none">
                <a:solidFill>
                  <a:schemeClr val="dk2"/>
                </a:solidFill>
                <a:latin typeface="Calibri"/>
                <a:ea typeface="Calibri"/>
                <a:cs typeface="Calibri"/>
                <a:sym typeface="Calibri"/>
              </a:defRPr>
            </a:lvl3pPr>
            <a:lvl4pPr marR="0" lvl="3" algn="ctr" rtl="0">
              <a:spcBef>
                <a:spcPts val="0"/>
              </a:spcBef>
              <a:spcAft>
                <a:spcPts val="0"/>
              </a:spcAft>
              <a:buSzPts val="1400"/>
              <a:buNone/>
              <a:defRPr sz="1800" b="0" i="0" u="none" strike="noStrike" cap="none">
                <a:solidFill>
                  <a:schemeClr val="dk2"/>
                </a:solidFill>
                <a:latin typeface="Calibri"/>
                <a:ea typeface="Calibri"/>
                <a:cs typeface="Calibri"/>
                <a:sym typeface="Calibri"/>
              </a:defRPr>
            </a:lvl4pPr>
            <a:lvl5pPr marR="0" lvl="4" algn="ctr" rtl="0">
              <a:spcBef>
                <a:spcPts val="0"/>
              </a:spcBef>
              <a:spcAft>
                <a:spcPts val="0"/>
              </a:spcAft>
              <a:buSzPts val="1400"/>
              <a:buNone/>
              <a:defRPr sz="1800" b="0" i="0" u="none" strike="noStrike" cap="none">
                <a:solidFill>
                  <a:schemeClr val="dk2"/>
                </a:solidFill>
                <a:latin typeface="Calibri"/>
                <a:ea typeface="Calibri"/>
                <a:cs typeface="Calibri"/>
                <a:sym typeface="Calibri"/>
              </a:defRPr>
            </a:lvl5pPr>
            <a:lvl6pPr marR="0" lvl="5" algn="ctr" rtl="0">
              <a:spcBef>
                <a:spcPts val="0"/>
              </a:spcBef>
              <a:spcAft>
                <a:spcPts val="0"/>
              </a:spcAft>
              <a:buSzPts val="1400"/>
              <a:buNone/>
              <a:defRPr sz="1800" b="0" i="0" u="none" strike="noStrike" cap="none">
                <a:solidFill>
                  <a:schemeClr val="dk2"/>
                </a:solidFill>
                <a:latin typeface="Calibri"/>
                <a:ea typeface="Calibri"/>
                <a:cs typeface="Calibri"/>
                <a:sym typeface="Calibri"/>
              </a:defRPr>
            </a:lvl6pPr>
            <a:lvl7pPr marR="0" lvl="6" algn="ctr" rtl="0">
              <a:spcBef>
                <a:spcPts val="0"/>
              </a:spcBef>
              <a:spcAft>
                <a:spcPts val="0"/>
              </a:spcAft>
              <a:buSzPts val="1400"/>
              <a:buNone/>
              <a:defRPr sz="1800" b="0" i="0" u="none" strike="noStrike" cap="none">
                <a:solidFill>
                  <a:schemeClr val="dk2"/>
                </a:solidFill>
                <a:latin typeface="Calibri"/>
                <a:ea typeface="Calibri"/>
                <a:cs typeface="Calibri"/>
                <a:sym typeface="Calibri"/>
              </a:defRPr>
            </a:lvl7pPr>
            <a:lvl8pPr marR="0" lvl="7" algn="ctr" rtl="0">
              <a:spcBef>
                <a:spcPts val="0"/>
              </a:spcBef>
              <a:spcAft>
                <a:spcPts val="0"/>
              </a:spcAft>
              <a:buSzPts val="1400"/>
              <a:buNone/>
              <a:defRPr sz="1800" b="0" i="0" u="none" strike="noStrike" cap="none">
                <a:solidFill>
                  <a:schemeClr val="dk2"/>
                </a:solidFill>
                <a:latin typeface="Calibri"/>
                <a:ea typeface="Calibri"/>
                <a:cs typeface="Calibri"/>
                <a:sym typeface="Calibri"/>
              </a:defRPr>
            </a:lvl8pPr>
            <a:lvl9pPr marR="0" lvl="8" algn="ctr" rtl="0">
              <a:spcBef>
                <a:spcPts val="0"/>
              </a:spcBef>
              <a:spcAft>
                <a:spcPts val="0"/>
              </a:spcAft>
              <a:buSzPts val="1400"/>
              <a:buNone/>
              <a:defRPr sz="1800" b="0" i="0" u="none" strike="noStrike" cap="none">
                <a:solidFill>
                  <a:schemeClr val="dk2"/>
                </a:solidFill>
                <a:latin typeface="Calibri"/>
                <a:ea typeface="Calibri"/>
                <a:cs typeface="Calibri"/>
                <a:sym typeface="Calibri"/>
              </a:defRPr>
            </a:lvl9pPr>
          </a:lstStyle>
          <a:p>
            <a:endParaRPr/>
          </a:p>
        </p:txBody>
      </p:sp>
      <p:sp>
        <p:nvSpPr>
          <p:cNvPr id="11" name="Google Shape;11;p20"/>
          <p:cNvSpPr txBox="1">
            <a:spLocks noGrp="1"/>
          </p:cNvSpPr>
          <p:nvPr>
            <p:ph type="body" idx="1"/>
          </p:nvPr>
        </p:nvSpPr>
        <p:spPr>
          <a:xfrm>
            <a:off x="2746375" y="2613025"/>
            <a:ext cx="14611350" cy="2271712"/>
          </a:xfrm>
          <a:prstGeom prst="rect">
            <a:avLst/>
          </a:prstGeom>
          <a:noFill/>
          <a:ln>
            <a:noFill/>
          </a:ln>
        </p:spPr>
        <p:txBody>
          <a:bodyPr spcFirstLastPara="1" wrap="square" lIns="0" tIns="0" rIns="0" bIns="0" anchor="t" anchorCtr="0">
            <a:spAutoFit/>
          </a:bodyPr>
          <a:lstStyle>
            <a:lvl1pPr marL="457200" marR="0" lvl="0" indent="-228600" algn="l" rtl="0">
              <a:spcBef>
                <a:spcPts val="360"/>
              </a:spcBef>
              <a:spcAft>
                <a:spcPts val="0"/>
              </a:spcAft>
              <a:buSzPts val="1400"/>
              <a:buNone/>
              <a:defRPr sz="18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8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8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8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8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2" name="Google Shape;12;p20"/>
          <p:cNvSpPr txBox="1">
            <a:spLocks noGrp="1"/>
          </p:cNvSpPr>
          <p:nvPr>
            <p:ph type="ftr" idx="11"/>
          </p:nvPr>
        </p:nvSpPr>
        <p:spPr>
          <a:xfrm>
            <a:off x="6835775" y="10517187"/>
            <a:ext cx="6432550" cy="566737"/>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SzPts val="1400"/>
              <a:buNone/>
              <a:defRPr sz="18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13" name="Google Shape;13;p20"/>
          <p:cNvSpPr txBox="1">
            <a:spLocks noGrp="1"/>
          </p:cNvSpPr>
          <p:nvPr>
            <p:ph type="dt" idx="10"/>
          </p:nvPr>
        </p:nvSpPr>
        <p:spPr>
          <a:xfrm>
            <a:off x="1004887" y="10517187"/>
            <a:ext cx="4624387" cy="566737"/>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SzPts val="1400"/>
              <a:buNone/>
              <a:defRPr sz="18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14" name="Google Shape;14;p20"/>
          <p:cNvSpPr txBox="1">
            <a:spLocks noGrp="1"/>
          </p:cNvSpPr>
          <p:nvPr>
            <p:ph type="sldNum" idx="12"/>
          </p:nvPr>
        </p:nvSpPr>
        <p:spPr>
          <a:xfrm>
            <a:off x="14474825" y="10517187"/>
            <a:ext cx="4624387" cy="566737"/>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sz="1400" dirty="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
        <p:cNvGrpSpPr/>
        <p:nvPr/>
      </p:nvGrpSpPr>
      <p:grpSpPr>
        <a:xfrm>
          <a:off x="0" y="0"/>
          <a:ext cx="0" cy="0"/>
          <a:chOff x="0" y="0"/>
          <a:chExt cx="0" cy="0"/>
        </a:xfrm>
      </p:grpSpPr>
      <p:sp>
        <p:nvSpPr>
          <p:cNvPr id="20" name="Google Shape;20;p22"/>
          <p:cNvSpPr txBox="1">
            <a:spLocks noGrp="1"/>
          </p:cNvSpPr>
          <p:nvPr>
            <p:ph type="title"/>
          </p:nvPr>
        </p:nvSpPr>
        <p:spPr>
          <a:xfrm>
            <a:off x="581025" y="407987"/>
            <a:ext cx="18942050" cy="484187"/>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1400"/>
              <a:buNone/>
              <a:defRPr sz="1800" b="0" i="0" u="none" strike="noStrike" cap="none">
                <a:solidFill>
                  <a:schemeClr val="dk2"/>
                </a:solidFill>
                <a:latin typeface="Calibri"/>
                <a:ea typeface="Calibri"/>
                <a:cs typeface="Calibri"/>
                <a:sym typeface="Calibri"/>
              </a:defRPr>
            </a:lvl1pPr>
            <a:lvl2pPr marR="0" lvl="1" algn="ctr" rtl="0">
              <a:spcBef>
                <a:spcPts val="0"/>
              </a:spcBef>
              <a:spcAft>
                <a:spcPts val="0"/>
              </a:spcAft>
              <a:buSzPts val="1400"/>
              <a:buNone/>
              <a:defRPr sz="1800" b="0" i="0" u="none" strike="noStrike" cap="none">
                <a:solidFill>
                  <a:schemeClr val="dk2"/>
                </a:solidFill>
                <a:latin typeface="Calibri"/>
                <a:ea typeface="Calibri"/>
                <a:cs typeface="Calibri"/>
                <a:sym typeface="Calibri"/>
              </a:defRPr>
            </a:lvl2pPr>
            <a:lvl3pPr marR="0" lvl="2" algn="ctr" rtl="0">
              <a:spcBef>
                <a:spcPts val="0"/>
              </a:spcBef>
              <a:spcAft>
                <a:spcPts val="0"/>
              </a:spcAft>
              <a:buSzPts val="1400"/>
              <a:buNone/>
              <a:defRPr sz="1800" b="0" i="0" u="none" strike="noStrike" cap="none">
                <a:solidFill>
                  <a:schemeClr val="dk2"/>
                </a:solidFill>
                <a:latin typeface="Calibri"/>
                <a:ea typeface="Calibri"/>
                <a:cs typeface="Calibri"/>
                <a:sym typeface="Calibri"/>
              </a:defRPr>
            </a:lvl3pPr>
            <a:lvl4pPr marR="0" lvl="3" algn="ctr" rtl="0">
              <a:spcBef>
                <a:spcPts val="0"/>
              </a:spcBef>
              <a:spcAft>
                <a:spcPts val="0"/>
              </a:spcAft>
              <a:buSzPts val="1400"/>
              <a:buNone/>
              <a:defRPr sz="1800" b="0" i="0" u="none" strike="noStrike" cap="none">
                <a:solidFill>
                  <a:schemeClr val="dk2"/>
                </a:solidFill>
                <a:latin typeface="Calibri"/>
                <a:ea typeface="Calibri"/>
                <a:cs typeface="Calibri"/>
                <a:sym typeface="Calibri"/>
              </a:defRPr>
            </a:lvl4pPr>
            <a:lvl5pPr marR="0" lvl="4" algn="ctr" rtl="0">
              <a:spcBef>
                <a:spcPts val="0"/>
              </a:spcBef>
              <a:spcAft>
                <a:spcPts val="0"/>
              </a:spcAft>
              <a:buSzPts val="1400"/>
              <a:buNone/>
              <a:defRPr sz="1800" b="0" i="0" u="none" strike="noStrike" cap="none">
                <a:solidFill>
                  <a:schemeClr val="dk2"/>
                </a:solidFill>
                <a:latin typeface="Calibri"/>
                <a:ea typeface="Calibri"/>
                <a:cs typeface="Calibri"/>
                <a:sym typeface="Calibri"/>
              </a:defRPr>
            </a:lvl5pPr>
            <a:lvl6pPr marR="0" lvl="5" algn="ctr" rtl="0">
              <a:spcBef>
                <a:spcPts val="0"/>
              </a:spcBef>
              <a:spcAft>
                <a:spcPts val="0"/>
              </a:spcAft>
              <a:buSzPts val="1400"/>
              <a:buNone/>
              <a:defRPr sz="1800" b="0" i="0" u="none" strike="noStrike" cap="none">
                <a:solidFill>
                  <a:schemeClr val="dk2"/>
                </a:solidFill>
                <a:latin typeface="Calibri"/>
                <a:ea typeface="Calibri"/>
                <a:cs typeface="Calibri"/>
                <a:sym typeface="Calibri"/>
              </a:defRPr>
            </a:lvl6pPr>
            <a:lvl7pPr marR="0" lvl="6" algn="ctr" rtl="0">
              <a:spcBef>
                <a:spcPts val="0"/>
              </a:spcBef>
              <a:spcAft>
                <a:spcPts val="0"/>
              </a:spcAft>
              <a:buSzPts val="1400"/>
              <a:buNone/>
              <a:defRPr sz="1800" b="0" i="0" u="none" strike="noStrike" cap="none">
                <a:solidFill>
                  <a:schemeClr val="dk2"/>
                </a:solidFill>
                <a:latin typeface="Calibri"/>
                <a:ea typeface="Calibri"/>
                <a:cs typeface="Calibri"/>
                <a:sym typeface="Calibri"/>
              </a:defRPr>
            </a:lvl7pPr>
            <a:lvl8pPr marR="0" lvl="7" algn="ctr" rtl="0">
              <a:spcBef>
                <a:spcPts val="0"/>
              </a:spcBef>
              <a:spcAft>
                <a:spcPts val="0"/>
              </a:spcAft>
              <a:buSzPts val="1400"/>
              <a:buNone/>
              <a:defRPr sz="1800" b="0" i="0" u="none" strike="noStrike" cap="none">
                <a:solidFill>
                  <a:schemeClr val="dk2"/>
                </a:solidFill>
                <a:latin typeface="Calibri"/>
                <a:ea typeface="Calibri"/>
                <a:cs typeface="Calibri"/>
                <a:sym typeface="Calibri"/>
              </a:defRPr>
            </a:lvl8pPr>
            <a:lvl9pPr marR="0" lvl="8" algn="ctr" rtl="0">
              <a:spcBef>
                <a:spcPts val="0"/>
              </a:spcBef>
              <a:spcAft>
                <a:spcPts val="0"/>
              </a:spcAft>
              <a:buSzPts val="1400"/>
              <a:buNone/>
              <a:defRPr sz="1800" b="0" i="0" u="none" strike="noStrike" cap="none">
                <a:solidFill>
                  <a:schemeClr val="dk2"/>
                </a:solidFill>
                <a:latin typeface="Calibri"/>
                <a:ea typeface="Calibri"/>
                <a:cs typeface="Calibri"/>
                <a:sym typeface="Calibri"/>
              </a:defRPr>
            </a:lvl9pPr>
          </a:lstStyle>
          <a:p>
            <a:endParaRPr/>
          </a:p>
        </p:txBody>
      </p:sp>
      <p:sp>
        <p:nvSpPr>
          <p:cNvPr id="21" name="Google Shape;21;p22"/>
          <p:cNvSpPr txBox="1">
            <a:spLocks noGrp="1"/>
          </p:cNvSpPr>
          <p:nvPr>
            <p:ph type="body" idx="1"/>
          </p:nvPr>
        </p:nvSpPr>
        <p:spPr>
          <a:xfrm>
            <a:off x="2746375" y="2613025"/>
            <a:ext cx="14611350" cy="2271712"/>
          </a:xfrm>
          <a:prstGeom prst="rect">
            <a:avLst/>
          </a:prstGeom>
          <a:noFill/>
          <a:ln>
            <a:noFill/>
          </a:ln>
        </p:spPr>
        <p:txBody>
          <a:bodyPr spcFirstLastPara="1" wrap="square" lIns="0" tIns="0" rIns="0" bIns="0" anchor="t" anchorCtr="0">
            <a:spAutoFit/>
          </a:bodyPr>
          <a:lstStyle>
            <a:lvl1pPr marL="457200" marR="0" lvl="0" indent="-228600" algn="l" rtl="0">
              <a:spcBef>
                <a:spcPts val="360"/>
              </a:spcBef>
              <a:spcAft>
                <a:spcPts val="0"/>
              </a:spcAft>
              <a:buSzPts val="1400"/>
              <a:buNone/>
              <a:defRPr sz="18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8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8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8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8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22" name="Google Shape;22;p22"/>
          <p:cNvSpPr txBox="1">
            <a:spLocks noGrp="1"/>
          </p:cNvSpPr>
          <p:nvPr>
            <p:ph type="ftr" idx="11"/>
          </p:nvPr>
        </p:nvSpPr>
        <p:spPr>
          <a:xfrm>
            <a:off x="6835775" y="10517187"/>
            <a:ext cx="6432550" cy="566737"/>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SzPts val="1400"/>
              <a:buNone/>
              <a:defRPr sz="1800" b="0" i="0" u="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23" name="Google Shape;23;p22"/>
          <p:cNvSpPr txBox="1">
            <a:spLocks noGrp="1"/>
          </p:cNvSpPr>
          <p:nvPr>
            <p:ph type="dt" idx="10"/>
          </p:nvPr>
        </p:nvSpPr>
        <p:spPr>
          <a:xfrm>
            <a:off x="1004887" y="10517187"/>
            <a:ext cx="4624387" cy="566737"/>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SzPts val="1400"/>
              <a:buNone/>
              <a:defRPr sz="1800" b="0" i="0" u="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24" name="Google Shape;24;p22"/>
          <p:cNvSpPr txBox="1">
            <a:spLocks noGrp="1"/>
          </p:cNvSpPr>
          <p:nvPr>
            <p:ph type="sldNum" idx="12"/>
          </p:nvPr>
        </p:nvSpPr>
        <p:spPr>
          <a:xfrm>
            <a:off x="14474825" y="10517187"/>
            <a:ext cx="4624387" cy="566737"/>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800"/>
              <a:buFont typeface="Calibri"/>
              <a:buNone/>
              <a:defRPr sz="18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sz="1400" dirty="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2.gif"/><Relationship Id="rId4" Type="http://schemas.openxmlformats.org/officeDocument/2006/relationships/image" Target="../media/image21.gif"/></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5.jpg"/><Relationship Id="rId4" Type="http://schemas.openxmlformats.org/officeDocument/2006/relationships/image" Target="../media/image24.jp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6.jp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gif"/></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6.jp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9.jp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34"/>
        <p:cNvGrpSpPr/>
        <p:nvPr/>
      </p:nvGrpSpPr>
      <p:grpSpPr>
        <a:xfrm>
          <a:off x="0" y="0"/>
          <a:ext cx="0" cy="0"/>
          <a:chOff x="0" y="0"/>
          <a:chExt cx="0" cy="0"/>
        </a:xfrm>
      </p:grpSpPr>
      <p:sp>
        <p:nvSpPr>
          <p:cNvPr id="35" name="Google Shape;35;p1"/>
          <p:cNvSpPr txBox="1"/>
          <p:nvPr/>
        </p:nvSpPr>
        <p:spPr>
          <a:xfrm>
            <a:off x="-11454" y="-16329"/>
            <a:ext cx="20104101" cy="11309350"/>
          </a:xfrm>
          <a:prstGeom prst="rect">
            <a:avLst/>
          </a:prstGeom>
          <a:solidFill>
            <a:schemeClr val="lt1">
              <a:alpha val="98431"/>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36" name="Google Shape;36;p1"/>
          <p:cNvSpPr txBox="1"/>
          <p:nvPr/>
        </p:nvSpPr>
        <p:spPr>
          <a:xfrm>
            <a:off x="5437575" y="2603500"/>
            <a:ext cx="14696700" cy="1981307"/>
          </a:xfrm>
          <a:prstGeom prst="rect">
            <a:avLst/>
          </a:prstGeom>
          <a:noFill/>
          <a:ln>
            <a:noFill/>
          </a:ln>
        </p:spPr>
        <p:txBody>
          <a:bodyPr spcFirstLastPara="1" wrap="square" lIns="0" tIns="11425" rIns="0" bIns="0" anchor="t" anchorCtr="0">
            <a:spAutoFit/>
          </a:bodyPr>
          <a:lstStyle/>
          <a:p>
            <a:pPr marL="12700" marR="0" lvl="0" indent="0" algn="ctr" rtl="0">
              <a:lnSpc>
                <a:spcPct val="100000"/>
              </a:lnSpc>
              <a:spcBef>
                <a:spcPts val="0"/>
              </a:spcBef>
              <a:spcAft>
                <a:spcPts val="0"/>
              </a:spcAft>
              <a:buClr>
                <a:schemeClr val="dk1"/>
              </a:buClr>
              <a:buSzPts val="8000"/>
              <a:buFont typeface="Calibri"/>
              <a:buNone/>
            </a:pPr>
            <a:r>
              <a:rPr lang="en-US" sz="6400" b="0" i="0" u="none" dirty="0">
                <a:solidFill>
                  <a:schemeClr val="dk1"/>
                </a:solidFill>
                <a:latin typeface="Calibri"/>
                <a:ea typeface="Calibri"/>
                <a:cs typeface="Calibri"/>
                <a:sym typeface="Calibri"/>
              </a:rPr>
              <a:t>ELECTRONIC DIFFERENTIAL FOR ELECTRIC VEHICLES</a:t>
            </a:r>
            <a:endParaRPr sz="6400" dirty="0"/>
          </a:p>
        </p:txBody>
      </p:sp>
      <p:sp>
        <p:nvSpPr>
          <p:cNvPr id="37" name="Google Shape;37;p1"/>
          <p:cNvSpPr/>
          <p:nvPr/>
        </p:nvSpPr>
        <p:spPr>
          <a:xfrm>
            <a:off x="11453" y="-65314"/>
            <a:ext cx="9377362" cy="6477000"/>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38" name="Google Shape;38;p1"/>
          <p:cNvSpPr txBox="1"/>
          <p:nvPr/>
        </p:nvSpPr>
        <p:spPr>
          <a:xfrm>
            <a:off x="471487" y="415925"/>
            <a:ext cx="1846262" cy="18415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39" name="Google Shape;39;p1"/>
          <p:cNvSpPr txBox="1"/>
          <p:nvPr/>
        </p:nvSpPr>
        <p:spPr>
          <a:xfrm>
            <a:off x="5603875" y="1336675"/>
            <a:ext cx="146050" cy="147637"/>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40" name="Google Shape;40;p1"/>
          <p:cNvSpPr txBox="1"/>
          <p:nvPr/>
        </p:nvSpPr>
        <p:spPr>
          <a:xfrm>
            <a:off x="2508250" y="720725"/>
            <a:ext cx="3810000" cy="1680835"/>
          </a:xfrm>
          <a:prstGeom prst="rect">
            <a:avLst/>
          </a:prstGeom>
          <a:noFill/>
          <a:ln>
            <a:noFill/>
          </a:ln>
        </p:spPr>
        <p:txBody>
          <a:bodyPr spcFirstLastPara="1" wrap="square" lIns="0" tIns="13325" rIns="0" bIns="0" anchor="t" anchorCtr="0">
            <a:spAutoFit/>
          </a:bodyPr>
          <a:lstStyle/>
          <a:p>
            <a:pPr marL="12700" marR="0" lvl="0" indent="0" algn="l" rtl="0">
              <a:lnSpc>
                <a:spcPct val="111904"/>
              </a:lnSpc>
              <a:spcBef>
                <a:spcPts val="0"/>
              </a:spcBef>
              <a:spcAft>
                <a:spcPts val="0"/>
              </a:spcAft>
              <a:buClr>
                <a:srgbClr val="FFFFFF"/>
              </a:buClr>
              <a:buSzPts val="4200"/>
              <a:buFont typeface="Helvetica Neue"/>
              <a:buNone/>
            </a:pPr>
            <a:r>
              <a:rPr lang="en-US" sz="4800" b="1" i="0" u="none" dirty="0">
                <a:solidFill>
                  <a:srgbClr val="FFFFFF"/>
                </a:solidFill>
                <a:latin typeface="Calibri" panose="020F0502020204030204" pitchFamily="34" charset="0"/>
                <a:ea typeface="Calibri" panose="020F0502020204030204" pitchFamily="34" charset="0"/>
                <a:cs typeface="Calibri" panose="020F0502020204030204" pitchFamily="34" charset="0"/>
                <a:sym typeface="Helvetica Neue"/>
              </a:rPr>
              <a:t>RV College of </a:t>
            </a:r>
            <a:endParaRPr sz="4800" dirty="0">
              <a:latin typeface="Calibri" panose="020F0502020204030204" pitchFamily="34" charset="0"/>
              <a:ea typeface="Calibri" panose="020F0502020204030204" pitchFamily="34" charset="0"/>
              <a:cs typeface="Calibri" panose="020F0502020204030204" pitchFamily="34" charset="0"/>
            </a:endParaRPr>
          </a:p>
          <a:p>
            <a:pPr marL="12700" marR="0" lvl="0" indent="0" algn="l" rtl="0">
              <a:lnSpc>
                <a:spcPct val="111904"/>
              </a:lnSpc>
              <a:spcBef>
                <a:spcPts val="100"/>
              </a:spcBef>
              <a:spcAft>
                <a:spcPts val="0"/>
              </a:spcAft>
              <a:buClr>
                <a:srgbClr val="FFFFFF"/>
              </a:buClr>
              <a:buSzPts val="4200"/>
              <a:buFont typeface="Helvetica Neue"/>
              <a:buNone/>
            </a:pPr>
            <a:r>
              <a:rPr lang="en-US" sz="4800" b="1" i="0" u="none" dirty="0">
                <a:solidFill>
                  <a:srgbClr val="FFFFFF"/>
                </a:solidFill>
                <a:latin typeface="Calibri" panose="020F0502020204030204" pitchFamily="34" charset="0"/>
                <a:ea typeface="Calibri" panose="020F0502020204030204" pitchFamily="34" charset="0"/>
                <a:cs typeface="Calibri" panose="020F0502020204030204" pitchFamily="34" charset="0"/>
                <a:sym typeface="Helvetica Neue"/>
              </a:rPr>
              <a:t>Engineering</a:t>
            </a:r>
            <a:endParaRPr sz="4800" dirty="0">
              <a:latin typeface="Calibri" panose="020F0502020204030204" pitchFamily="34" charset="0"/>
              <a:ea typeface="Calibri" panose="020F0502020204030204" pitchFamily="34" charset="0"/>
              <a:cs typeface="Calibri" panose="020F0502020204030204" pitchFamily="34" charset="0"/>
            </a:endParaRPr>
          </a:p>
        </p:txBody>
      </p:sp>
      <p:sp>
        <p:nvSpPr>
          <p:cNvPr id="41" name="Google Shape;41;p1"/>
          <p:cNvSpPr txBox="1"/>
          <p:nvPr/>
        </p:nvSpPr>
        <p:spPr>
          <a:xfrm>
            <a:off x="16117888" y="407987"/>
            <a:ext cx="3405187" cy="484187"/>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422C75"/>
              </a:buClr>
              <a:buSzPts val="3000"/>
              <a:buFont typeface="Playfair Display"/>
              <a:buNone/>
            </a:pPr>
            <a:r>
              <a:rPr lang="en-US" sz="3000" b="0" i="1" u="none" dirty="0">
                <a:solidFill>
                  <a:srgbClr val="422C75"/>
                </a:solidFill>
                <a:latin typeface="Playfair Display"/>
                <a:ea typeface="Playfair Display"/>
                <a:cs typeface="Playfair Display"/>
                <a:sym typeface="Playfair Display"/>
              </a:rPr>
              <a:t>Go, change the world</a:t>
            </a:r>
            <a:endParaRPr dirty="0"/>
          </a:p>
        </p:txBody>
      </p:sp>
      <p:sp>
        <p:nvSpPr>
          <p:cNvPr id="42" name="Google Shape;42;p1"/>
          <p:cNvSpPr txBox="1"/>
          <p:nvPr/>
        </p:nvSpPr>
        <p:spPr>
          <a:xfrm>
            <a:off x="6527799" y="4572507"/>
            <a:ext cx="10610850" cy="74612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33CC"/>
              </a:buClr>
              <a:buSzPts val="4000"/>
              <a:buFont typeface="Calibri"/>
              <a:buNone/>
            </a:pPr>
            <a:r>
              <a:rPr lang="en-US" sz="4000" b="1" i="0" u="none" dirty="0">
                <a:solidFill>
                  <a:srgbClr val="0033CC"/>
                </a:solidFill>
                <a:latin typeface="Calibri"/>
                <a:ea typeface="Calibri"/>
                <a:cs typeface="Calibri"/>
                <a:sym typeface="Calibri"/>
              </a:rPr>
              <a:t>DTL Phase I Presentation</a:t>
            </a:r>
            <a:endParaRPr dirty="0"/>
          </a:p>
          <a:p>
            <a:pPr marL="0" marR="0" lvl="0" indent="0" algn="l" rtl="0">
              <a:lnSpc>
                <a:spcPct val="100000"/>
              </a:lnSpc>
              <a:spcBef>
                <a:spcPts val="640"/>
              </a:spcBef>
              <a:spcAft>
                <a:spcPts val="0"/>
              </a:spcAft>
              <a:buClr>
                <a:schemeClr val="dk1"/>
              </a:buClr>
              <a:buSzPts val="3200"/>
              <a:buFont typeface="Calibri"/>
              <a:buNone/>
            </a:pPr>
            <a:endParaRPr sz="3200" b="1" i="0" u="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3200" b="1" i="0" u="none" dirty="0">
              <a:solidFill>
                <a:schemeClr val="dk1"/>
              </a:solidFill>
              <a:latin typeface="Calibri"/>
              <a:ea typeface="Calibri"/>
              <a:cs typeface="Calibri"/>
              <a:sym typeface="Calibri"/>
            </a:endParaRPr>
          </a:p>
        </p:txBody>
      </p:sp>
      <p:sp>
        <p:nvSpPr>
          <p:cNvPr id="43" name="Google Shape;43;p1"/>
          <p:cNvSpPr txBox="1"/>
          <p:nvPr/>
        </p:nvSpPr>
        <p:spPr>
          <a:xfrm>
            <a:off x="6318250" y="5402262"/>
            <a:ext cx="4698093" cy="25545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Calibri"/>
              <a:buNone/>
            </a:pPr>
            <a:r>
              <a:rPr lang="en-US" sz="3200" b="1" dirty="0">
                <a:solidFill>
                  <a:schemeClr val="dk1"/>
                </a:solidFill>
                <a:latin typeface="Calibri"/>
                <a:ea typeface="Calibri"/>
                <a:cs typeface="Calibri"/>
                <a:sym typeface="Calibri"/>
              </a:rPr>
              <a:t>Chetan</a:t>
            </a:r>
          </a:p>
          <a:p>
            <a:pPr marL="0" marR="0" lvl="0" indent="0" algn="l" rtl="0">
              <a:lnSpc>
                <a:spcPct val="100000"/>
              </a:lnSpc>
              <a:spcBef>
                <a:spcPts val="0"/>
              </a:spcBef>
              <a:spcAft>
                <a:spcPts val="0"/>
              </a:spcAft>
              <a:buClr>
                <a:schemeClr val="dk1"/>
              </a:buClr>
              <a:buSzPts val="3200"/>
              <a:buFont typeface="Calibri"/>
              <a:buNone/>
            </a:pPr>
            <a:r>
              <a:rPr lang="en-US" sz="3200" b="1" dirty="0">
                <a:solidFill>
                  <a:schemeClr val="dk1"/>
                </a:solidFill>
                <a:latin typeface="Calibri"/>
                <a:ea typeface="Calibri"/>
                <a:cs typeface="Calibri"/>
                <a:sym typeface="Calibri"/>
              </a:rPr>
              <a:t>Mallikarjun A L</a:t>
            </a:r>
          </a:p>
          <a:p>
            <a:pPr marL="0" marR="0" lvl="0" indent="0" algn="l" rtl="0">
              <a:lnSpc>
                <a:spcPct val="100000"/>
              </a:lnSpc>
              <a:spcBef>
                <a:spcPts val="0"/>
              </a:spcBef>
              <a:spcAft>
                <a:spcPts val="0"/>
              </a:spcAft>
              <a:buClr>
                <a:schemeClr val="dk1"/>
              </a:buClr>
              <a:buSzPts val="3200"/>
              <a:buFont typeface="Calibri"/>
              <a:buNone/>
            </a:pPr>
            <a:r>
              <a:rPr lang="en-US" sz="3200" b="1" i="0" u="none" dirty="0">
                <a:solidFill>
                  <a:schemeClr val="dk1"/>
                </a:solidFill>
                <a:latin typeface="Calibri"/>
                <a:ea typeface="Calibri"/>
                <a:cs typeface="Calibri"/>
                <a:sym typeface="Calibri"/>
              </a:rPr>
              <a:t>Karthik</a:t>
            </a:r>
            <a:r>
              <a:rPr lang="en-US" sz="3200" b="1" dirty="0">
                <a:solidFill>
                  <a:schemeClr val="dk1"/>
                </a:solidFill>
                <a:latin typeface="Calibri"/>
                <a:ea typeface="Calibri"/>
                <a:cs typeface="Calibri"/>
                <a:sym typeface="Calibri"/>
              </a:rPr>
              <a:t>  P Shetty</a:t>
            </a:r>
          </a:p>
          <a:p>
            <a:pPr marL="0" marR="0" lvl="0" indent="0" algn="l" rtl="0">
              <a:lnSpc>
                <a:spcPct val="100000"/>
              </a:lnSpc>
              <a:spcBef>
                <a:spcPts val="0"/>
              </a:spcBef>
              <a:spcAft>
                <a:spcPts val="0"/>
              </a:spcAft>
              <a:buClr>
                <a:schemeClr val="dk1"/>
              </a:buClr>
              <a:buSzPts val="3200"/>
              <a:buFont typeface="Calibri"/>
              <a:buNone/>
            </a:pPr>
            <a:r>
              <a:rPr lang="en-US" sz="3200" b="1" dirty="0">
                <a:solidFill>
                  <a:schemeClr val="dk1"/>
                </a:solidFill>
                <a:latin typeface="Calibri"/>
                <a:ea typeface="Calibri"/>
                <a:cs typeface="Calibri"/>
                <a:sym typeface="Calibri"/>
              </a:rPr>
              <a:t>Channaveeragouda MP</a:t>
            </a:r>
            <a:endParaRPr dirty="0"/>
          </a:p>
          <a:p>
            <a:pPr marL="0" marR="0" lvl="0" indent="0" algn="l" rtl="0">
              <a:lnSpc>
                <a:spcPct val="100000"/>
              </a:lnSpc>
              <a:spcBef>
                <a:spcPts val="0"/>
              </a:spcBef>
              <a:spcAft>
                <a:spcPts val="0"/>
              </a:spcAft>
              <a:buNone/>
            </a:pPr>
            <a:endParaRPr sz="3200" b="1" i="0" u="none" dirty="0">
              <a:solidFill>
                <a:schemeClr val="dk1"/>
              </a:solidFill>
              <a:latin typeface="Calibri"/>
              <a:ea typeface="Calibri"/>
              <a:cs typeface="Calibri"/>
              <a:sym typeface="Calibri"/>
            </a:endParaRPr>
          </a:p>
        </p:txBody>
      </p:sp>
      <p:sp>
        <p:nvSpPr>
          <p:cNvPr id="44" name="Google Shape;44;p1"/>
          <p:cNvSpPr txBox="1"/>
          <p:nvPr/>
        </p:nvSpPr>
        <p:spPr>
          <a:xfrm>
            <a:off x="6132512" y="7772400"/>
            <a:ext cx="11006137" cy="15700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Calibri"/>
              <a:buNone/>
            </a:pPr>
            <a:r>
              <a:rPr lang="en-US" sz="3200" b="1" dirty="0">
                <a:solidFill>
                  <a:schemeClr val="dk1"/>
                </a:solidFill>
                <a:latin typeface="Calibri"/>
                <a:ea typeface="Calibri"/>
                <a:cs typeface="Calibri"/>
                <a:sym typeface="Calibri"/>
              </a:rPr>
              <a:t>Mentor </a:t>
            </a:r>
            <a:r>
              <a:rPr lang="en-US" sz="3200" b="1" i="0" u="none" dirty="0">
                <a:solidFill>
                  <a:schemeClr val="dk1"/>
                </a:solidFill>
                <a:latin typeface="Calibri"/>
                <a:ea typeface="Calibri"/>
                <a:cs typeface="Calibri"/>
                <a:sym typeface="Calibri"/>
              </a:rPr>
              <a:t>: Anusha A L</a:t>
            </a:r>
            <a:endParaRPr dirty="0"/>
          </a:p>
          <a:p>
            <a:pPr marL="0" marR="0" lvl="0" indent="0" algn="l" rtl="0">
              <a:lnSpc>
                <a:spcPct val="100000"/>
              </a:lnSpc>
              <a:spcBef>
                <a:spcPts val="0"/>
              </a:spcBef>
              <a:spcAft>
                <a:spcPts val="0"/>
              </a:spcAft>
              <a:buClr>
                <a:schemeClr val="dk1"/>
              </a:buClr>
              <a:buSzPts val="3200"/>
              <a:buFont typeface="Calibri"/>
              <a:buNone/>
            </a:pPr>
            <a:r>
              <a:rPr lang="en-US" sz="3200" b="1" i="0" u="none" dirty="0">
                <a:solidFill>
                  <a:schemeClr val="dk1"/>
                </a:solidFill>
                <a:latin typeface="Calibri"/>
                <a:ea typeface="Calibri"/>
                <a:cs typeface="Calibri"/>
                <a:sym typeface="Calibri"/>
              </a:rPr>
              <a:t>Designation : Associate Professor </a:t>
            </a:r>
            <a:endParaRPr dirty="0"/>
          </a:p>
          <a:p>
            <a:pPr marL="0" marR="0" lvl="0" indent="0" algn="l" rtl="0">
              <a:lnSpc>
                <a:spcPct val="100000"/>
              </a:lnSpc>
              <a:spcBef>
                <a:spcPts val="0"/>
              </a:spcBef>
              <a:spcAft>
                <a:spcPts val="0"/>
              </a:spcAft>
              <a:buClr>
                <a:schemeClr val="dk1"/>
              </a:buClr>
              <a:buSzPts val="3200"/>
              <a:buFont typeface="Calibri"/>
              <a:buNone/>
            </a:pPr>
            <a:r>
              <a:rPr lang="en-US" sz="3200" b="1" i="0" u="none" dirty="0">
                <a:solidFill>
                  <a:schemeClr val="dk1"/>
                </a:solidFill>
                <a:latin typeface="Calibri"/>
                <a:ea typeface="Calibri"/>
                <a:cs typeface="Calibri"/>
                <a:sym typeface="Calibri"/>
              </a:rPr>
              <a:t>Department of Electronics and Communication Engineering</a:t>
            </a:r>
            <a:endParaRPr dirty="0"/>
          </a:p>
        </p:txBody>
      </p:sp>
      <p:sp>
        <p:nvSpPr>
          <p:cNvPr id="45" name="Google Shape;45;p1"/>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a:solidFill>
                  <a:srgbClr val="898989"/>
                </a:solidFill>
                <a:latin typeface="Calibri"/>
                <a:ea typeface="Calibri"/>
                <a:cs typeface="Calibri"/>
                <a:sym typeface="Calibri"/>
              </a:rPr>
              <a:t>*</a:t>
            </a:r>
            <a:endParaRPr/>
          </a:p>
        </p:txBody>
      </p:sp>
      <p:sp>
        <p:nvSpPr>
          <p:cNvPr id="46" name="Google Shape;46;p1"/>
          <p:cNvSpPr txBox="1"/>
          <p:nvPr/>
        </p:nvSpPr>
        <p:spPr>
          <a:xfrm>
            <a:off x="6835775" y="10517187"/>
            <a:ext cx="6432550" cy="36988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2400"/>
              <a:buFont typeface="Calibri"/>
              <a:buNone/>
            </a:pPr>
            <a:r>
              <a:rPr lang="en-US" sz="2400" b="0" i="0" u="none">
                <a:solidFill>
                  <a:srgbClr val="898989"/>
                </a:solidFill>
                <a:latin typeface="Calibri"/>
                <a:ea typeface="Calibri"/>
                <a:cs typeface="Calibri"/>
                <a:sym typeface="Calibri"/>
              </a:rPr>
              <a:t>Department of ECE</a:t>
            </a:r>
            <a:endParaRPr/>
          </a:p>
        </p:txBody>
      </p:sp>
      <p:sp>
        <p:nvSpPr>
          <p:cNvPr id="47" name="Google Shape;47;p1"/>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1</a:t>
            </a:fld>
            <a:endParaRPr/>
          </a:p>
        </p:txBody>
      </p:sp>
      <p:sp>
        <p:nvSpPr>
          <p:cNvPr id="2" name="TextBox 1">
            <a:extLst>
              <a:ext uri="{FF2B5EF4-FFF2-40B4-BE49-F238E27FC236}">
                <a16:creationId xmlns:a16="http://schemas.microsoft.com/office/drawing/2014/main" id="{DD74EEC5-3C91-F9FC-D484-42B303BC2D84}"/>
              </a:ext>
            </a:extLst>
          </p:cNvPr>
          <p:cNvSpPr txBox="1"/>
          <p:nvPr/>
        </p:nvSpPr>
        <p:spPr>
          <a:xfrm>
            <a:off x="12246428" y="5498193"/>
            <a:ext cx="3091544" cy="2062103"/>
          </a:xfrm>
          <a:prstGeom prst="rect">
            <a:avLst/>
          </a:prstGeom>
          <a:noFill/>
        </p:spPr>
        <p:txBody>
          <a:bodyPr wrap="square" rtlCol="0">
            <a:spAutoFit/>
          </a:bodyPr>
          <a:lstStyle/>
          <a:p>
            <a:r>
              <a:rPr lang="en-US" sz="3200" b="1" dirty="0">
                <a:latin typeface="Calibri" panose="020F0502020204030204" pitchFamily="34" charset="0"/>
                <a:ea typeface="Calibri" panose="020F0502020204030204" pitchFamily="34" charset="0"/>
                <a:cs typeface="Calibri" panose="020F0502020204030204" pitchFamily="34" charset="0"/>
              </a:rPr>
              <a:t>1RV21EC050</a:t>
            </a:r>
          </a:p>
          <a:p>
            <a:r>
              <a:rPr lang="en-US" sz="3200" b="1" dirty="0">
                <a:latin typeface="Calibri" panose="020F0502020204030204" pitchFamily="34" charset="0"/>
                <a:ea typeface="Calibri" panose="020F0502020204030204" pitchFamily="34" charset="0"/>
                <a:cs typeface="Calibri" panose="020F0502020204030204" pitchFamily="34" charset="0"/>
              </a:rPr>
              <a:t>1RV21EC091</a:t>
            </a:r>
          </a:p>
          <a:p>
            <a:r>
              <a:rPr lang="en-US" sz="3200" b="1" dirty="0">
                <a:latin typeface="Calibri" panose="020F0502020204030204" pitchFamily="34" charset="0"/>
                <a:ea typeface="Calibri" panose="020F0502020204030204" pitchFamily="34" charset="0"/>
                <a:cs typeface="Calibri" panose="020F0502020204030204" pitchFamily="34" charset="0"/>
              </a:rPr>
              <a:t>1RV21EC077</a:t>
            </a:r>
          </a:p>
          <a:p>
            <a:r>
              <a:rPr lang="en-US" sz="3200" b="1" dirty="0">
                <a:latin typeface="Calibri" panose="020F0502020204030204" pitchFamily="34" charset="0"/>
                <a:ea typeface="Calibri" panose="020F0502020204030204" pitchFamily="34" charset="0"/>
                <a:cs typeface="Calibri" panose="020F0502020204030204" pitchFamily="34" charset="0"/>
              </a:rPr>
              <a:t>1RV21EC048</a:t>
            </a:r>
            <a:endParaRPr lang="en-IN" sz="3200" b="1"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4"/>
          <p:cNvSpPr txBox="1"/>
          <p:nvPr/>
        </p:nvSpPr>
        <p:spPr>
          <a:xfrm>
            <a:off x="0" y="0"/>
            <a:ext cx="20104101" cy="11309350"/>
          </a:xfrm>
          <a:prstGeom prst="rect">
            <a:avLst/>
          </a:prstGeom>
          <a:solidFill>
            <a:schemeClr val="lt1">
              <a:alpha val="98431"/>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5" name="Google Shape;85;p4"/>
          <p:cNvSpPr txBox="1"/>
          <p:nvPr/>
        </p:nvSpPr>
        <p:spPr>
          <a:xfrm>
            <a:off x="2479675" y="3687762"/>
            <a:ext cx="15497100" cy="227700"/>
          </a:xfrm>
          <a:prstGeom prst="rect">
            <a:avLst/>
          </a:prstGeom>
          <a:noFill/>
          <a:ln>
            <a:noFill/>
          </a:ln>
        </p:spPr>
        <p:txBody>
          <a:bodyPr spcFirstLastPara="1" wrap="square" lIns="0" tIns="12050" rIns="0" bIns="0" anchor="t" anchorCtr="0">
            <a:spAutoFit/>
          </a:bodyPr>
          <a:lstStyle/>
          <a:p>
            <a:pPr marL="457200" marR="0" lvl="0" indent="0" algn="just" rtl="0">
              <a:lnSpc>
                <a:spcPct val="101000"/>
              </a:lnSpc>
              <a:spcBef>
                <a:spcPts val="0"/>
              </a:spcBef>
              <a:spcAft>
                <a:spcPts val="0"/>
              </a:spcAft>
              <a:buNone/>
            </a:pPr>
            <a:endParaRPr/>
          </a:p>
        </p:txBody>
      </p:sp>
      <p:sp>
        <p:nvSpPr>
          <p:cNvPr id="86" name="Google Shape;86;p4"/>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7" name="Google Shape;87;p4"/>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8" name="Google Shape;88;p4"/>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9" name="Google Shape;89;p4"/>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90" name="Google Shape;90;p4"/>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a:solidFill>
                  <a:srgbClr val="231F20"/>
                </a:solidFill>
                <a:latin typeface="Helvetica Neue"/>
                <a:ea typeface="Helvetica Neue"/>
                <a:cs typeface="Helvetica Neue"/>
                <a:sym typeface="Helvetica Neue"/>
              </a:rPr>
              <a:t>RV College of</a:t>
            </a:r>
            <a:endParaRPr/>
          </a:p>
          <a:p>
            <a:pPr marL="12700" marR="0" lvl="0" indent="0" algn="l" rtl="0">
              <a:lnSpc>
                <a:spcPct val="106250"/>
              </a:lnSpc>
              <a:spcBef>
                <a:spcPts val="100"/>
              </a:spcBef>
              <a:spcAft>
                <a:spcPts val="0"/>
              </a:spcAft>
              <a:buClr>
                <a:srgbClr val="231F20"/>
              </a:buClr>
              <a:buSzPts val="1600"/>
              <a:buFont typeface="Helvetica Neue"/>
              <a:buNone/>
            </a:pPr>
            <a:r>
              <a:rPr lang="en-US" sz="1600" b="1" i="0" u="none">
                <a:solidFill>
                  <a:srgbClr val="231F20"/>
                </a:solidFill>
                <a:latin typeface="Helvetica Neue"/>
                <a:ea typeface="Helvetica Neue"/>
                <a:cs typeface="Helvetica Neue"/>
                <a:sym typeface="Helvetica Neue"/>
              </a:rPr>
              <a:t>Engineering </a:t>
            </a:r>
            <a:endParaRPr/>
          </a:p>
        </p:txBody>
      </p:sp>
      <p:sp>
        <p:nvSpPr>
          <p:cNvPr id="92" name="Google Shape;92;p4"/>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a:solidFill>
                  <a:srgbClr val="422C75"/>
                </a:solidFill>
                <a:latin typeface="Playfair Display"/>
                <a:ea typeface="Playfair Display"/>
                <a:cs typeface="Playfair Display"/>
                <a:sym typeface="Playfair Display"/>
              </a:rPr>
              <a:t>Go, change the world</a:t>
            </a:r>
            <a:endParaRPr/>
          </a:p>
        </p:txBody>
      </p:sp>
      <p:sp>
        <p:nvSpPr>
          <p:cNvPr id="93" name="Google Shape;93;p4"/>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a:solidFill>
                  <a:srgbClr val="898989"/>
                </a:solidFill>
                <a:latin typeface="Calibri"/>
                <a:ea typeface="Calibri"/>
                <a:cs typeface="Calibri"/>
                <a:sym typeface="Calibri"/>
              </a:rPr>
              <a:t>*</a:t>
            </a:r>
            <a:endParaRPr/>
          </a:p>
        </p:txBody>
      </p:sp>
      <p:sp>
        <p:nvSpPr>
          <p:cNvPr id="94" name="Google Shape;94;p4"/>
          <p:cNvSpPr txBox="1"/>
          <p:nvPr/>
        </p:nvSpPr>
        <p:spPr>
          <a:xfrm>
            <a:off x="6835775" y="10517187"/>
            <a:ext cx="6432550" cy="56673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a:solidFill>
                  <a:srgbClr val="898989"/>
                </a:solidFill>
                <a:latin typeface="Calibri"/>
                <a:ea typeface="Calibri"/>
                <a:cs typeface="Calibri"/>
                <a:sym typeface="Calibri"/>
              </a:rPr>
              <a:t>Department of ECE</a:t>
            </a:r>
            <a:endParaRPr/>
          </a:p>
        </p:txBody>
      </p:sp>
      <p:sp>
        <p:nvSpPr>
          <p:cNvPr id="95" name="Google Shape;95;p4"/>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2</a:t>
            </a:fld>
            <a:endParaRPr/>
          </a:p>
        </p:txBody>
      </p:sp>
      <p:sp>
        <p:nvSpPr>
          <p:cNvPr id="2" name="TextBox 1">
            <a:extLst>
              <a:ext uri="{FF2B5EF4-FFF2-40B4-BE49-F238E27FC236}">
                <a16:creationId xmlns:a16="http://schemas.microsoft.com/office/drawing/2014/main" id="{2BFAE2B0-AF20-220C-C459-F339D80BD846}"/>
              </a:ext>
            </a:extLst>
          </p:cNvPr>
          <p:cNvSpPr txBox="1"/>
          <p:nvPr/>
        </p:nvSpPr>
        <p:spPr>
          <a:xfrm>
            <a:off x="3776436" y="2206507"/>
            <a:ext cx="12551228" cy="1569660"/>
          </a:xfrm>
          <a:prstGeom prst="rect">
            <a:avLst/>
          </a:prstGeom>
          <a:noFill/>
        </p:spPr>
        <p:txBody>
          <a:bodyPr wrap="square" rtlCol="0">
            <a:spAutoFit/>
          </a:bodyPr>
          <a:lstStyle/>
          <a:p>
            <a:pPr algn="ctr"/>
            <a:r>
              <a:rPr lang="en-US" sz="9600" dirty="0">
                <a:latin typeface="Arial Black" panose="020B0A04020102020204" pitchFamily="34" charset="0"/>
              </a:rPr>
              <a:t>EMPATHY  PHASE</a:t>
            </a:r>
            <a:endParaRPr lang="en-IN" sz="9600" dirty="0">
              <a:latin typeface="Arial Black" panose="020B0A04020102020204" pitchFamily="34" charset="0"/>
            </a:endParaRPr>
          </a:p>
        </p:txBody>
      </p:sp>
      <p:pic>
        <p:nvPicPr>
          <p:cNvPr id="6" name="Picture 5">
            <a:extLst>
              <a:ext uri="{FF2B5EF4-FFF2-40B4-BE49-F238E27FC236}">
                <a16:creationId xmlns:a16="http://schemas.microsoft.com/office/drawing/2014/main" id="{7F80C51F-3E2B-7F7A-8F21-FCB5D00CBB3B}"/>
              </a:ext>
            </a:extLst>
          </p:cNvPr>
          <p:cNvPicPr>
            <a:picLocks noChangeAspect="1"/>
          </p:cNvPicPr>
          <p:nvPr/>
        </p:nvPicPr>
        <p:blipFill>
          <a:blip r:embed="rId4"/>
          <a:stretch>
            <a:fillRect/>
          </a:stretch>
        </p:blipFill>
        <p:spPr>
          <a:xfrm>
            <a:off x="6817746" y="4583408"/>
            <a:ext cx="6820958" cy="4987242"/>
          </a:xfrm>
          <a:prstGeom prst="rect">
            <a:avLst/>
          </a:prstGeom>
        </p:spPr>
      </p:pic>
    </p:spTree>
    <p:extLst>
      <p:ext uri="{BB962C8B-B14F-4D97-AF65-F5344CB8AC3E}">
        <p14:creationId xmlns:p14="http://schemas.microsoft.com/office/powerpoint/2010/main" val="28053680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4"/>
          <p:cNvSpPr txBox="1"/>
          <p:nvPr/>
        </p:nvSpPr>
        <p:spPr>
          <a:xfrm>
            <a:off x="1" y="-87085"/>
            <a:ext cx="20104100" cy="11374663"/>
          </a:xfrm>
          <a:prstGeom prst="rect">
            <a:avLst/>
          </a:prstGeom>
          <a:solidFill>
            <a:schemeClr val="lt1">
              <a:alpha val="98431"/>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5" name="Google Shape;85;p4"/>
          <p:cNvSpPr txBox="1"/>
          <p:nvPr/>
        </p:nvSpPr>
        <p:spPr>
          <a:xfrm>
            <a:off x="2479675" y="3687762"/>
            <a:ext cx="15497100" cy="227700"/>
          </a:xfrm>
          <a:prstGeom prst="rect">
            <a:avLst/>
          </a:prstGeom>
          <a:noFill/>
          <a:ln>
            <a:noFill/>
          </a:ln>
        </p:spPr>
        <p:txBody>
          <a:bodyPr spcFirstLastPara="1" wrap="square" lIns="0" tIns="12050" rIns="0" bIns="0" anchor="t" anchorCtr="0">
            <a:spAutoFit/>
          </a:bodyPr>
          <a:lstStyle/>
          <a:p>
            <a:pPr marL="457200" marR="0" lvl="0" indent="0" algn="just" rtl="0">
              <a:lnSpc>
                <a:spcPct val="101000"/>
              </a:lnSpc>
              <a:spcBef>
                <a:spcPts val="0"/>
              </a:spcBef>
              <a:spcAft>
                <a:spcPts val="0"/>
              </a:spcAft>
              <a:buNone/>
            </a:pPr>
            <a:endParaRPr/>
          </a:p>
        </p:txBody>
      </p:sp>
      <p:sp>
        <p:nvSpPr>
          <p:cNvPr id="86" name="Google Shape;86;p4"/>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7" name="Google Shape;87;p4"/>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8" name="Google Shape;88;p4"/>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9" name="Google Shape;89;p4"/>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90" name="Google Shape;90;p4"/>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a:solidFill>
                  <a:srgbClr val="231F20"/>
                </a:solidFill>
                <a:latin typeface="Helvetica Neue"/>
                <a:ea typeface="Helvetica Neue"/>
                <a:cs typeface="Helvetica Neue"/>
                <a:sym typeface="Helvetica Neue"/>
              </a:rPr>
              <a:t>RV College of</a:t>
            </a:r>
            <a:endParaRPr/>
          </a:p>
          <a:p>
            <a:pPr marL="12700" marR="0" lvl="0" indent="0" algn="l" rtl="0">
              <a:lnSpc>
                <a:spcPct val="106250"/>
              </a:lnSpc>
              <a:spcBef>
                <a:spcPts val="100"/>
              </a:spcBef>
              <a:spcAft>
                <a:spcPts val="0"/>
              </a:spcAft>
              <a:buClr>
                <a:srgbClr val="231F20"/>
              </a:buClr>
              <a:buSzPts val="1600"/>
              <a:buFont typeface="Helvetica Neue"/>
              <a:buNone/>
            </a:pPr>
            <a:r>
              <a:rPr lang="en-US" sz="1600" b="1" i="0" u="none">
                <a:solidFill>
                  <a:srgbClr val="231F20"/>
                </a:solidFill>
                <a:latin typeface="Helvetica Neue"/>
                <a:ea typeface="Helvetica Neue"/>
                <a:cs typeface="Helvetica Neue"/>
                <a:sym typeface="Helvetica Neue"/>
              </a:rPr>
              <a:t>Engineering </a:t>
            </a:r>
            <a:endParaRPr/>
          </a:p>
        </p:txBody>
      </p:sp>
      <p:sp>
        <p:nvSpPr>
          <p:cNvPr id="92" name="Google Shape;92;p4"/>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a:solidFill>
                  <a:srgbClr val="422C75"/>
                </a:solidFill>
                <a:latin typeface="Playfair Display"/>
                <a:ea typeface="Playfair Display"/>
                <a:cs typeface="Playfair Display"/>
                <a:sym typeface="Playfair Display"/>
              </a:rPr>
              <a:t>Go, change the world</a:t>
            </a:r>
            <a:endParaRPr/>
          </a:p>
        </p:txBody>
      </p:sp>
      <p:sp>
        <p:nvSpPr>
          <p:cNvPr id="93" name="Google Shape;93;p4"/>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a:solidFill>
                  <a:srgbClr val="898989"/>
                </a:solidFill>
                <a:latin typeface="Calibri"/>
                <a:ea typeface="Calibri"/>
                <a:cs typeface="Calibri"/>
                <a:sym typeface="Calibri"/>
              </a:rPr>
              <a:t>*</a:t>
            </a:r>
            <a:endParaRPr/>
          </a:p>
        </p:txBody>
      </p:sp>
      <p:sp>
        <p:nvSpPr>
          <p:cNvPr id="94" name="Google Shape;94;p4"/>
          <p:cNvSpPr txBox="1"/>
          <p:nvPr/>
        </p:nvSpPr>
        <p:spPr>
          <a:xfrm>
            <a:off x="6835775" y="10517187"/>
            <a:ext cx="6432550" cy="56673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a:solidFill>
                  <a:srgbClr val="898989"/>
                </a:solidFill>
                <a:latin typeface="Calibri"/>
                <a:ea typeface="Calibri"/>
                <a:cs typeface="Calibri"/>
                <a:sym typeface="Calibri"/>
              </a:rPr>
              <a:t>Department of ECE</a:t>
            </a:r>
            <a:endParaRPr/>
          </a:p>
        </p:txBody>
      </p:sp>
      <p:sp>
        <p:nvSpPr>
          <p:cNvPr id="95" name="Google Shape;95;p4"/>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3</a:t>
            </a:fld>
            <a:endParaRPr/>
          </a:p>
        </p:txBody>
      </p:sp>
      <p:sp>
        <p:nvSpPr>
          <p:cNvPr id="3" name="TextBox 2">
            <a:extLst>
              <a:ext uri="{FF2B5EF4-FFF2-40B4-BE49-F238E27FC236}">
                <a16:creationId xmlns:a16="http://schemas.microsoft.com/office/drawing/2014/main" id="{8C7DE130-ABC3-0A5F-FA62-CE9DF7386CB6}"/>
              </a:ext>
            </a:extLst>
          </p:cNvPr>
          <p:cNvSpPr txBox="1"/>
          <p:nvPr/>
        </p:nvSpPr>
        <p:spPr>
          <a:xfrm>
            <a:off x="3194050" y="2590980"/>
            <a:ext cx="14476050" cy="584775"/>
          </a:xfrm>
          <a:prstGeom prst="rect">
            <a:avLst/>
          </a:prstGeom>
          <a:noFill/>
        </p:spPr>
        <p:txBody>
          <a:bodyPr wrap="square" lIns="91440" tIns="45720" rIns="91440" bIns="45720" rtlCol="0" anchor="t">
            <a:spAutoFit/>
          </a:bodyPr>
          <a:lstStyle/>
          <a:p>
            <a:pPr marL="685800" indent="-685800" algn="just">
              <a:buFont typeface="Wingdings" panose="05000000000000000000" pitchFamily="2" charset="2"/>
              <a:buChar char="Ø"/>
            </a:pPr>
            <a:endParaRPr lang="en-US" sz="3200" i="0" dirty="0">
              <a:solidFill>
                <a:schemeClr val="tx1"/>
              </a:solidFill>
              <a:effectLst/>
              <a:latin typeface="Calibri"/>
              <a:ea typeface="Calibri" panose="020F0502020204030204" pitchFamily="34" charset="0"/>
              <a:cs typeface="Calibri"/>
            </a:endParaRPr>
          </a:p>
        </p:txBody>
      </p:sp>
      <p:sp>
        <p:nvSpPr>
          <p:cNvPr id="7" name="TextBox 6">
            <a:extLst>
              <a:ext uri="{FF2B5EF4-FFF2-40B4-BE49-F238E27FC236}">
                <a16:creationId xmlns:a16="http://schemas.microsoft.com/office/drawing/2014/main" id="{8B11528D-54AC-BCA3-57E8-CBF160623D82}"/>
              </a:ext>
            </a:extLst>
          </p:cNvPr>
          <p:cNvSpPr txBox="1"/>
          <p:nvPr/>
        </p:nvSpPr>
        <p:spPr>
          <a:xfrm>
            <a:off x="1895082" y="1463333"/>
            <a:ext cx="3211285" cy="769441"/>
          </a:xfrm>
          <a:prstGeom prst="rect">
            <a:avLst/>
          </a:prstGeom>
          <a:noFill/>
        </p:spPr>
        <p:txBody>
          <a:bodyPr wrap="square" lIns="91440" tIns="45720" rIns="91440" bIns="45720" rtlCol="0" anchor="t">
            <a:spAutoFit/>
          </a:bodyPr>
          <a:lstStyle/>
          <a:p>
            <a:r>
              <a:rPr lang="en-US" sz="4400" b="1" u="sng">
                <a:latin typeface="Calibri"/>
                <a:ea typeface="Calibri" panose="020F0502020204030204" pitchFamily="34" charset="0"/>
                <a:cs typeface="Calibri"/>
              </a:rPr>
              <a:t>Introduction</a:t>
            </a:r>
            <a:endParaRPr lang="en-IN" sz="4400" b="1" u="sng">
              <a:latin typeface="Calibri"/>
              <a:ea typeface="Calibri" panose="020F0502020204030204" pitchFamily="34" charset="0"/>
              <a:cs typeface="Calibri"/>
            </a:endParaRPr>
          </a:p>
        </p:txBody>
      </p:sp>
      <p:sp>
        <p:nvSpPr>
          <p:cNvPr id="2" name="TextBox 1">
            <a:extLst>
              <a:ext uri="{FF2B5EF4-FFF2-40B4-BE49-F238E27FC236}">
                <a16:creationId xmlns:a16="http://schemas.microsoft.com/office/drawing/2014/main" id="{E7C1B161-44D2-B723-4A43-B8FF3AC198EE}"/>
              </a:ext>
            </a:extLst>
          </p:cNvPr>
          <p:cNvSpPr txBox="1"/>
          <p:nvPr/>
        </p:nvSpPr>
        <p:spPr>
          <a:xfrm>
            <a:off x="2982912" y="2590980"/>
            <a:ext cx="14183859" cy="5201424"/>
          </a:xfrm>
          <a:prstGeom prst="rect">
            <a:avLst/>
          </a:prstGeom>
          <a:noFill/>
        </p:spPr>
        <p:txBody>
          <a:bodyPr wrap="square" rtlCol="0">
            <a:spAutoFit/>
          </a:bodyPr>
          <a:lstStyle/>
          <a:p>
            <a:pPr algn="just"/>
            <a:r>
              <a:rPr lang="en-US" sz="4400" b="1"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An Electronic </a:t>
            </a:r>
            <a:r>
              <a:rPr lang="en-US" sz="4400" b="1" dirty="0">
                <a:solidFill>
                  <a:schemeClr val="tx1"/>
                </a:solidFill>
                <a:latin typeface="Calibri" panose="020F0502020204030204" pitchFamily="34" charset="0"/>
                <a:ea typeface="Calibri" panose="020F0502020204030204" pitchFamily="34" charset="0"/>
                <a:cs typeface="Calibri" panose="020F0502020204030204" pitchFamily="34" charset="0"/>
              </a:rPr>
              <a:t>D</a:t>
            </a:r>
            <a:r>
              <a:rPr lang="en-US" sz="4400" b="1"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ifferential</a:t>
            </a:r>
            <a:r>
              <a:rPr lang="en-US" sz="3600" b="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also known as an electronic limited-slip differential (e-LSD) or electronic differential control, is an advanced automotive technology designed to optimize the distribution of torque (rotational force) between a vehicle's wheels, particularly in situations where traction might be compromised. Unlike traditional mechanical differentials, which use purely mechanical components to manage torque distribution, electronic differentials integrate sensors, computers, and actuators to achieve more precise control over wheel spin and power delivery.</a:t>
            </a:r>
            <a:endParaRPr lang="en-IN" sz="3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98055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4"/>
          <p:cNvSpPr txBox="1"/>
          <p:nvPr/>
        </p:nvSpPr>
        <p:spPr>
          <a:xfrm>
            <a:off x="-581025" y="-65313"/>
            <a:ext cx="20104100" cy="11374663"/>
          </a:xfrm>
          <a:prstGeom prst="rect">
            <a:avLst/>
          </a:prstGeom>
          <a:solidFill>
            <a:schemeClr val="lt1">
              <a:alpha val="98431"/>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5" name="Google Shape;85;p4"/>
          <p:cNvSpPr txBox="1"/>
          <p:nvPr/>
        </p:nvSpPr>
        <p:spPr>
          <a:xfrm>
            <a:off x="2479675" y="3687762"/>
            <a:ext cx="15497100" cy="227700"/>
          </a:xfrm>
          <a:prstGeom prst="rect">
            <a:avLst/>
          </a:prstGeom>
          <a:noFill/>
          <a:ln>
            <a:noFill/>
          </a:ln>
        </p:spPr>
        <p:txBody>
          <a:bodyPr spcFirstLastPara="1" wrap="square" lIns="0" tIns="12050" rIns="0" bIns="0" anchor="t" anchorCtr="0">
            <a:spAutoFit/>
          </a:bodyPr>
          <a:lstStyle/>
          <a:p>
            <a:pPr marL="457200" marR="0" lvl="0" indent="0" algn="just" rtl="0">
              <a:lnSpc>
                <a:spcPct val="101000"/>
              </a:lnSpc>
              <a:spcBef>
                <a:spcPts val="0"/>
              </a:spcBef>
              <a:spcAft>
                <a:spcPts val="0"/>
              </a:spcAft>
              <a:buNone/>
            </a:pPr>
            <a:endParaRPr/>
          </a:p>
        </p:txBody>
      </p:sp>
      <p:sp>
        <p:nvSpPr>
          <p:cNvPr id="86" name="Google Shape;86;p4"/>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7" name="Google Shape;87;p4"/>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8" name="Google Shape;88;p4"/>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9" name="Google Shape;89;p4"/>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90" name="Google Shape;90;p4"/>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a:solidFill>
                  <a:srgbClr val="231F20"/>
                </a:solidFill>
                <a:latin typeface="Helvetica Neue"/>
                <a:ea typeface="Helvetica Neue"/>
                <a:cs typeface="Helvetica Neue"/>
                <a:sym typeface="Helvetica Neue"/>
              </a:rPr>
              <a:t>RV College of</a:t>
            </a:r>
            <a:endParaRPr/>
          </a:p>
          <a:p>
            <a:pPr marL="12700" marR="0" lvl="0" indent="0" algn="l" rtl="0">
              <a:lnSpc>
                <a:spcPct val="106250"/>
              </a:lnSpc>
              <a:spcBef>
                <a:spcPts val="100"/>
              </a:spcBef>
              <a:spcAft>
                <a:spcPts val="0"/>
              </a:spcAft>
              <a:buClr>
                <a:srgbClr val="231F20"/>
              </a:buClr>
              <a:buSzPts val="1600"/>
              <a:buFont typeface="Helvetica Neue"/>
              <a:buNone/>
            </a:pPr>
            <a:r>
              <a:rPr lang="en-US" sz="1600" b="1" i="0" u="none">
                <a:solidFill>
                  <a:srgbClr val="231F20"/>
                </a:solidFill>
                <a:latin typeface="Helvetica Neue"/>
                <a:ea typeface="Helvetica Neue"/>
                <a:cs typeface="Helvetica Neue"/>
                <a:sym typeface="Helvetica Neue"/>
              </a:rPr>
              <a:t>Engineering </a:t>
            </a:r>
            <a:endParaRPr/>
          </a:p>
        </p:txBody>
      </p:sp>
      <p:sp>
        <p:nvSpPr>
          <p:cNvPr id="92" name="Google Shape;92;p4"/>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a:solidFill>
                  <a:srgbClr val="422C75"/>
                </a:solidFill>
                <a:latin typeface="Playfair Display"/>
                <a:ea typeface="Playfair Display"/>
                <a:cs typeface="Playfair Display"/>
                <a:sym typeface="Playfair Display"/>
              </a:rPr>
              <a:t>Go, change the world</a:t>
            </a:r>
            <a:endParaRPr/>
          </a:p>
        </p:txBody>
      </p:sp>
      <p:sp>
        <p:nvSpPr>
          <p:cNvPr id="93" name="Google Shape;93;p4"/>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a:solidFill>
                  <a:srgbClr val="898989"/>
                </a:solidFill>
                <a:latin typeface="Calibri"/>
                <a:ea typeface="Calibri"/>
                <a:cs typeface="Calibri"/>
                <a:sym typeface="Calibri"/>
              </a:rPr>
              <a:t>*</a:t>
            </a:r>
            <a:endParaRPr/>
          </a:p>
        </p:txBody>
      </p:sp>
      <p:sp>
        <p:nvSpPr>
          <p:cNvPr id="94" name="Google Shape;94;p4"/>
          <p:cNvSpPr txBox="1"/>
          <p:nvPr/>
        </p:nvSpPr>
        <p:spPr>
          <a:xfrm>
            <a:off x="6835775" y="10517187"/>
            <a:ext cx="6432550" cy="56673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a:solidFill>
                  <a:srgbClr val="898989"/>
                </a:solidFill>
                <a:latin typeface="Calibri"/>
                <a:ea typeface="Calibri"/>
                <a:cs typeface="Calibri"/>
                <a:sym typeface="Calibri"/>
              </a:rPr>
              <a:t>Department of ECE</a:t>
            </a:r>
            <a:endParaRPr/>
          </a:p>
        </p:txBody>
      </p:sp>
      <p:sp>
        <p:nvSpPr>
          <p:cNvPr id="95" name="Google Shape;95;p4"/>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4</a:t>
            </a:fld>
            <a:endParaRPr/>
          </a:p>
        </p:txBody>
      </p:sp>
      <p:sp>
        <p:nvSpPr>
          <p:cNvPr id="3" name="TextBox 2">
            <a:extLst>
              <a:ext uri="{FF2B5EF4-FFF2-40B4-BE49-F238E27FC236}">
                <a16:creationId xmlns:a16="http://schemas.microsoft.com/office/drawing/2014/main" id="{8C7DE130-ABC3-0A5F-FA62-CE9DF7386CB6}"/>
              </a:ext>
            </a:extLst>
          </p:cNvPr>
          <p:cNvSpPr txBox="1"/>
          <p:nvPr/>
        </p:nvSpPr>
        <p:spPr>
          <a:xfrm>
            <a:off x="3194050" y="2590980"/>
            <a:ext cx="14476050" cy="584775"/>
          </a:xfrm>
          <a:prstGeom prst="rect">
            <a:avLst/>
          </a:prstGeom>
          <a:noFill/>
        </p:spPr>
        <p:txBody>
          <a:bodyPr wrap="square" lIns="91440" tIns="45720" rIns="91440" bIns="45720" rtlCol="0" anchor="t">
            <a:spAutoFit/>
          </a:bodyPr>
          <a:lstStyle/>
          <a:p>
            <a:pPr marL="685800" indent="-685800" algn="just">
              <a:buFont typeface="Wingdings" panose="05000000000000000000" pitchFamily="2" charset="2"/>
              <a:buChar char="Ø"/>
            </a:pPr>
            <a:endParaRPr lang="en-US" sz="3200" i="0" dirty="0">
              <a:solidFill>
                <a:schemeClr val="tx1"/>
              </a:solidFill>
              <a:effectLst/>
              <a:latin typeface="Calibri"/>
              <a:ea typeface="Calibri" panose="020F0502020204030204" pitchFamily="34" charset="0"/>
              <a:cs typeface="Calibri"/>
            </a:endParaRPr>
          </a:p>
        </p:txBody>
      </p:sp>
      <p:sp>
        <p:nvSpPr>
          <p:cNvPr id="7" name="TextBox 6">
            <a:extLst>
              <a:ext uri="{FF2B5EF4-FFF2-40B4-BE49-F238E27FC236}">
                <a16:creationId xmlns:a16="http://schemas.microsoft.com/office/drawing/2014/main" id="{8B11528D-54AC-BCA3-57E8-CBF160623D82}"/>
              </a:ext>
            </a:extLst>
          </p:cNvPr>
          <p:cNvSpPr txBox="1"/>
          <p:nvPr/>
        </p:nvSpPr>
        <p:spPr>
          <a:xfrm>
            <a:off x="1430565" y="4615052"/>
            <a:ext cx="7103836" cy="2123658"/>
          </a:xfrm>
          <a:prstGeom prst="rect">
            <a:avLst/>
          </a:prstGeom>
          <a:noFill/>
        </p:spPr>
        <p:txBody>
          <a:bodyPr wrap="square" lIns="91440" tIns="45720" rIns="91440" bIns="45720" rtlCol="0" anchor="t">
            <a:spAutoFit/>
          </a:bodyPr>
          <a:lstStyle/>
          <a:p>
            <a:pPr algn="ctr"/>
            <a:r>
              <a:rPr lang="en-US" sz="4400" b="1" dirty="0">
                <a:latin typeface="Calibri"/>
                <a:ea typeface="Calibri" panose="020F0502020204030204" pitchFamily="34" charset="0"/>
                <a:cs typeface="Calibri"/>
              </a:rPr>
              <a:t>Advantages </a:t>
            </a:r>
          </a:p>
          <a:p>
            <a:pPr algn="ctr"/>
            <a:r>
              <a:rPr lang="en-US" sz="4400" b="1" dirty="0">
                <a:latin typeface="Calibri"/>
                <a:ea typeface="Calibri" panose="020F0502020204030204" pitchFamily="34" charset="0"/>
                <a:cs typeface="Calibri"/>
              </a:rPr>
              <a:t>of E-differential </a:t>
            </a:r>
          </a:p>
          <a:p>
            <a:pPr algn="ctr"/>
            <a:r>
              <a:rPr lang="en-US" sz="4400" b="1" dirty="0">
                <a:latin typeface="Calibri"/>
                <a:ea typeface="Calibri" panose="020F0502020204030204" pitchFamily="34" charset="0"/>
                <a:cs typeface="Calibri"/>
              </a:rPr>
              <a:t>over mechanical differential</a:t>
            </a:r>
            <a:endParaRPr lang="en-IN" sz="4400" b="1" dirty="0">
              <a:latin typeface="Calibri"/>
              <a:ea typeface="Calibri" panose="020F0502020204030204" pitchFamily="34" charset="0"/>
              <a:cs typeface="Calibri"/>
            </a:endParaRPr>
          </a:p>
        </p:txBody>
      </p:sp>
      <p:graphicFrame>
        <p:nvGraphicFramePr>
          <p:cNvPr id="4" name="Diagram 3">
            <a:extLst>
              <a:ext uri="{FF2B5EF4-FFF2-40B4-BE49-F238E27FC236}">
                <a16:creationId xmlns:a16="http://schemas.microsoft.com/office/drawing/2014/main" id="{5790B9C5-99CE-61CD-1560-236FD2C6A60C}"/>
              </a:ext>
            </a:extLst>
          </p:cNvPr>
          <p:cNvGraphicFramePr/>
          <p:nvPr>
            <p:extLst>
              <p:ext uri="{D42A27DB-BD31-4B8C-83A1-F6EECF244321}">
                <p14:modId xmlns:p14="http://schemas.microsoft.com/office/powerpoint/2010/main" val="1024873310"/>
              </p:ext>
            </p:extLst>
          </p:nvPr>
        </p:nvGraphicFramePr>
        <p:xfrm>
          <a:off x="8248492" y="1582031"/>
          <a:ext cx="10501433" cy="893515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37670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4"/>
          <p:cNvSpPr txBox="1"/>
          <p:nvPr/>
        </p:nvSpPr>
        <p:spPr>
          <a:xfrm>
            <a:off x="-1" y="31751"/>
            <a:ext cx="20104101" cy="11309350"/>
          </a:xfrm>
          <a:prstGeom prst="rect">
            <a:avLst/>
          </a:prstGeom>
          <a:solidFill>
            <a:schemeClr val="lt1">
              <a:alpha val="98431"/>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5" name="Google Shape;85;p4"/>
          <p:cNvSpPr txBox="1"/>
          <p:nvPr/>
        </p:nvSpPr>
        <p:spPr>
          <a:xfrm>
            <a:off x="2479675" y="3687762"/>
            <a:ext cx="15497100" cy="227700"/>
          </a:xfrm>
          <a:prstGeom prst="rect">
            <a:avLst/>
          </a:prstGeom>
          <a:noFill/>
          <a:ln>
            <a:noFill/>
          </a:ln>
        </p:spPr>
        <p:txBody>
          <a:bodyPr spcFirstLastPara="1" wrap="square" lIns="0" tIns="12050" rIns="0" bIns="0" anchor="t" anchorCtr="0">
            <a:spAutoFit/>
          </a:bodyPr>
          <a:lstStyle/>
          <a:p>
            <a:pPr marL="457200" marR="0" lvl="0" indent="0" algn="just" rtl="0">
              <a:lnSpc>
                <a:spcPct val="101000"/>
              </a:lnSpc>
              <a:spcBef>
                <a:spcPts val="0"/>
              </a:spcBef>
              <a:spcAft>
                <a:spcPts val="0"/>
              </a:spcAft>
              <a:buNone/>
            </a:pPr>
            <a:endParaRPr/>
          </a:p>
        </p:txBody>
      </p:sp>
      <p:sp>
        <p:nvSpPr>
          <p:cNvPr id="86" name="Google Shape;86;p4"/>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7" name="Google Shape;87;p4"/>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8" name="Google Shape;88;p4"/>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9" name="Google Shape;89;p4"/>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90" name="Google Shape;90;p4"/>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a:solidFill>
                  <a:srgbClr val="231F20"/>
                </a:solidFill>
                <a:latin typeface="Helvetica Neue"/>
                <a:ea typeface="Helvetica Neue"/>
                <a:cs typeface="Helvetica Neue"/>
                <a:sym typeface="Helvetica Neue"/>
              </a:rPr>
              <a:t>RV College of</a:t>
            </a:r>
            <a:endParaRPr/>
          </a:p>
          <a:p>
            <a:pPr marL="12700" marR="0" lvl="0" indent="0" algn="l" rtl="0">
              <a:lnSpc>
                <a:spcPct val="106250"/>
              </a:lnSpc>
              <a:spcBef>
                <a:spcPts val="100"/>
              </a:spcBef>
              <a:spcAft>
                <a:spcPts val="0"/>
              </a:spcAft>
              <a:buClr>
                <a:srgbClr val="231F20"/>
              </a:buClr>
              <a:buSzPts val="1600"/>
              <a:buFont typeface="Helvetica Neue"/>
              <a:buNone/>
            </a:pPr>
            <a:r>
              <a:rPr lang="en-US" sz="1600" b="1" i="0" u="none">
                <a:solidFill>
                  <a:srgbClr val="231F20"/>
                </a:solidFill>
                <a:latin typeface="Helvetica Neue"/>
                <a:ea typeface="Helvetica Neue"/>
                <a:cs typeface="Helvetica Neue"/>
                <a:sym typeface="Helvetica Neue"/>
              </a:rPr>
              <a:t>Engineering </a:t>
            </a:r>
            <a:endParaRPr/>
          </a:p>
        </p:txBody>
      </p:sp>
      <p:sp>
        <p:nvSpPr>
          <p:cNvPr id="92" name="Google Shape;92;p4"/>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a:solidFill>
                  <a:srgbClr val="422C75"/>
                </a:solidFill>
                <a:latin typeface="Playfair Display"/>
                <a:ea typeface="Playfair Display"/>
                <a:cs typeface="Playfair Display"/>
                <a:sym typeface="Playfair Display"/>
              </a:rPr>
              <a:t>Go, change the world</a:t>
            </a:r>
            <a:endParaRPr/>
          </a:p>
        </p:txBody>
      </p:sp>
      <p:sp>
        <p:nvSpPr>
          <p:cNvPr id="93" name="Google Shape;93;p4"/>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a:solidFill>
                  <a:srgbClr val="898989"/>
                </a:solidFill>
                <a:latin typeface="Calibri"/>
                <a:ea typeface="Calibri"/>
                <a:cs typeface="Calibri"/>
                <a:sym typeface="Calibri"/>
              </a:rPr>
              <a:t>*</a:t>
            </a:r>
            <a:endParaRPr/>
          </a:p>
        </p:txBody>
      </p:sp>
      <p:sp>
        <p:nvSpPr>
          <p:cNvPr id="94" name="Google Shape;94;p4"/>
          <p:cNvSpPr txBox="1"/>
          <p:nvPr/>
        </p:nvSpPr>
        <p:spPr>
          <a:xfrm>
            <a:off x="6835775" y="10517187"/>
            <a:ext cx="6432550" cy="56673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a:solidFill>
                  <a:srgbClr val="898989"/>
                </a:solidFill>
                <a:latin typeface="Calibri"/>
                <a:ea typeface="Calibri"/>
                <a:cs typeface="Calibri"/>
                <a:sym typeface="Calibri"/>
              </a:rPr>
              <a:t>Department of ECE</a:t>
            </a:r>
            <a:endParaRPr/>
          </a:p>
        </p:txBody>
      </p:sp>
      <p:sp>
        <p:nvSpPr>
          <p:cNvPr id="95" name="Google Shape;95;p4"/>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5</a:t>
            </a:fld>
            <a:endParaRPr/>
          </a:p>
        </p:txBody>
      </p:sp>
      <p:pic>
        <p:nvPicPr>
          <p:cNvPr id="1028" name="Picture 4" descr="Forms response chart. Question title: Profession. Number of responses: 164 responses.">
            <a:extLst>
              <a:ext uri="{FF2B5EF4-FFF2-40B4-BE49-F238E27FC236}">
                <a16:creationId xmlns:a16="http://schemas.microsoft.com/office/drawing/2014/main" id="{BE8D72EE-BA47-6590-B5FE-35DF44016B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9334" y="2181528"/>
            <a:ext cx="12985633" cy="512249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0FC66C1-67F8-A49A-2B91-DFA8D89AF364}"/>
              </a:ext>
            </a:extLst>
          </p:cNvPr>
          <p:cNvSpPr txBox="1"/>
          <p:nvPr/>
        </p:nvSpPr>
        <p:spPr>
          <a:xfrm>
            <a:off x="1209334" y="1385551"/>
            <a:ext cx="10394838" cy="646331"/>
          </a:xfrm>
          <a:prstGeom prst="rect">
            <a:avLst/>
          </a:prstGeom>
          <a:noFill/>
        </p:spPr>
        <p:txBody>
          <a:bodyPr wrap="square" lIns="91440" tIns="45720" rIns="91440" bIns="45720" rtlCol="0" anchor="t">
            <a:spAutoFit/>
          </a:bodyPr>
          <a:lstStyle/>
          <a:p>
            <a:r>
              <a:rPr lang="en-US" sz="3600" b="1" u="sng">
                <a:latin typeface="Calibri"/>
                <a:ea typeface="Calibri" panose="020F0502020204030204" pitchFamily="34" charset="0"/>
                <a:cs typeface="Calibri"/>
              </a:rPr>
              <a:t>People’s responses and suggestions  on our project</a:t>
            </a:r>
            <a:endParaRPr lang="en-IN" sz="3600" b="1" u="sng">
              <a:latin typeface="Calibri"/>
              <a:ea typeface="Calibri" panose="020F0502020204030204" pitchFamily="34" charset="0"/>
              <a:cs typeface="Calibri"/>
            </a:endParaRPr>
          </a:p>
        </p:txBody>
      </p:sp>
      <p:pic>
        <p:nvPicPr>
          <p:cNvPr id="4" name="Picture 4" descr="Forms response chart. Question title: What is your level of familiarity with automotive technology and vehicle systems?. Number of responses: 164 responses.">
            <a:extLst>
              <a:ext uri="{FF2B5EF4-FFF2-40B4-BE49-F238E27FC236}">
                <a16:creationId xmlns:a16="http://schemas.microsoft.com/office/drawing/2014/main" id="{F25F32A5-EF56-0A68-BCEF-C0CD3DEC472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941" t="-588" r="19140" b="588"/>
          <a:stretch/>
        </p:blipFill>
        <p:spPr bwMode="auto">
          <a:xfrm>
            <a:off x="8068848" y="5880170"/>
            <a:ext cx="10896476" cy="53025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4"/>
          <p:cNvSpPr txBox="1"/>
          <p:nvPr/>
        </p:nvSpPr>
        <p:spPr>
          <a:xfrm>
            <a:off x="0" y="0"/>
            <a:ext cx="20104101" cy="11309350"/>
          </a:xfrm>
          <a:prstGeom prst="rect">
            <a:avLst/>
          </a:prstGeom>
          <a:solidFill>
            <a:schemeClr val="lt1">
              <a:alpha val="98431"/>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5" name="Google Shape;85;p4"/>
          <p:cNvSpPr txBox="1"/>
          <p:nvPr/>
        </p:nvSpPr>
        <p:spPr>
          <a:xfrm>
            <a:off x="2479675" y="3687762"/>
            <a:ext cx="15497100" cy="227700"/>
          </a:xfrm>
          <a:prstGeom prst="rect">
            <a:avLst/>
          </a:prstGeom>
          <a:noFill/>
          <a:ln>
            <a:noFill/>
          </a:ln>
        </p:spPr>
        <p:txBody>
          <a:bodyPr spcFirstLastPara="1" wrap="square" lIns="0" tIns="12050" rIns="0" bIns="0" anchor="t" anchorCtr="0">
            <a:spAutoFit/>
          </a:bodyPr>
          <a:lstStyle/>
          <a:p>
            <a:pPr marL="457200" marR="0" lvl="0" indent="0" algn="just" rtl="0">
              <a:lnSpc>
                <a:spcPct val="101000"/>
              </a:lnSpc>
              <a:spcBef>
                <a:spcPts val="0"/>
              </a:spcBef>
              <a:spcAft>
                <a:spcPts val="0"/>
              </a:spcAft>
              <a:buNone/>
            </a:pPr>
            <a:endParaRPr dirty="0"/>
          </a:p>
        </p:txBody>
      </p:sp>
      <p:sp>
        <p:nvSpPr>
          <p:cNvPr id="86" name="Google Shape;86;p4"/>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7" name="Google Shape;87;p4"/>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8" name="Google Shape;88;p4"/>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9" name="Google Shape;89;p4"/>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90" name="Google Shape;90;p4"/>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RV College of</a:t>
            </a:r>
            <a:endParaRPr dirty="0"/>
          </a:p>
          <a:p>
            <a:pPr marL="12700" marR="0" lvl="0" indent="0" algn="l" rtl="0">
              <a:lnSpc>
                <a:spcPct val="106250"/>
              </a:lnSpc>
              <a:spcBef>
                <a:spcPts val="10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Engineering </a:t>
            </a:r>
            <a:endParaRPr dirty="0"/>
          </a:p>
        </p:txBody>
      </p:sp>
      <p:sp>
        <p:nvSpPr>
          <p:cNvPr id="92" name="Google Shape;92;p4"/>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dirty="0">
                <a:solidFill>
                  <a:srgbClr val="422C75"/>
                </a:solidFill>
                <a:latin typeface="Playfair Display"/>
                <a:ea typeface="Playfair Display"/>
                <a:cs typeface="Playfair Display"/>
                <a:sym typeface="Playfair Display"/>
              </a:rPr>
              <a:t>Go, change the world</a:t>
            </a:r>
            <a:endParaRPr dirty="0"/>
          </a:p>
        </p:txBody>
      </p:sp>
      <p:sp>
        <p:nvSpPr>
          <p:cNvPr id="93" name="Google Shape;93;p4"/>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a:t>
            </a:r>
            <a:endParaRPr dirty="0"/>
          </a:p>
        </p:txBody>
      </p:sp>
      <p:sp>
        <p:nvSpPr>
          <p:cNvPr id="94" name="Google Shape;94;p4"/>
          <p:cNvSpPr txBox="1"/>
          <p:nvPr/>
        </p:nvSpPr>
        <p:spPr>
          <a:xfrm>
            <a:off x="6835775" y="10517187"/>
            <a:ext cx="6432550" cy="56673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Department of ECE</a:t>
            </a:r>
            <a:endParaRPr dirty="0"/>
          </a:p>
        </p:txBody>
      </p:sp>
      <p:sp>
        <p:nvSpPr>
          <p:cNvPr id="95" name="Google Shape;95;p4"/>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6</a:t>
            </a:fld>
            <a:endParaRPr dirty="0"/>
          </a:p>
        </p:txBody>
      </p:sp>
      <p:pic>
        <p:nvPicPr>
          <p:cNvPr id="6146" name="Picture 2" descr="Forms response chart. Question title: What in your opinion, needs to be improved in current E-vehicles?. Number of responses: 164 responses.">
            <a:extLst>
              <a:ext uri="{FF2B5EF4-FFF2-40B4-BE49-F238E27FC236}">
                <a16:creationId xmlns:a16="http://schemas.microsoft.com/office/drawing/2014/main" id="{2802B3FD-23BD-E5CF-A516-D0853DD687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887" y="1449387"/>
            <a:ext cx="12003824" cy="505119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Forms response chart. Question title: Have you   heard of Electronic Differential before?. Number of responses: 164 responses.">
            <a:extLst>
              <a:ext uri="{FF2B5EF4-FFF2-40B4-BE49-F238E27FC236}">
                <a16:creationId xmlns:a16="http://schemas.microsoft.com/office/drawing/2014/main" id="{BFCB8E97-EF2A-93BE-123D-F85EA5818F3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15770"/>
          <a:stretch/>
        </p:blipFill>
        <p:spPr bwMode="auto">
          <a:xfrm>
            <a:off x="9264891" y="5144988"/>
            <a:ext cx="10601537" cy="52963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6910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4"/>
          <p:cNvSpPr txBox="1"/>
          <p:nvPr/>
        </p:nvSpPr>
        <p:spPr>
          <a:xfrm>
            <a:off x="0" y="0"/>
            <a:ext cx="20104101" cy="11309350"/>
          </a:xfrm>
          <a:prstGeom prst="rect">
            <a:avLst/>
          </a:prstGeom>
          <a:solidFill>
            <a:schemeClr val="lt1">
              <a:alpha val="98431"/>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5" name="Google Shape;85;p4"/>
          <p:cNvSpPr txBox="1"/>
          <p:nvPr/>
        </p:nvSpPr>
        <p:spPr>
          <a:xfrm>
            <a:off x="2479675" y="3687762"/>
            <a:ext cx="15497100" cy="227700"/>
          </a:xfrm>
          <a:prstGeom prst="rect">
            <a:avLst/>
          </a:prstGeom>
          <a:noFill/>
          <a:ln>
            <a:noFill/>
          </a:ln>
        </p:spPr>
        <p:txBody>
          <a:bodyPr spcFirstLastPara="1" wrap="square" lIns="0" tIns="12050" rIns="0" bIns="0" anchor="t" anchorCtr="0">
            <a:spAutoFit/>
          </a:bodyPr>
          <a:lstStyle/>
          <a:p>
            <a:pPr marL="457200" marR="0" lvl="0" indent="0" algn="just" rtl="0">
              <a:lnSpc>
                <a:spcPct val="101000"/>
              </a:lnSpc>
              <a:spcBef>
                <a:spcPts val="0"/>
              </a:spcBef>
              <a:spcAft>
                <a:spcPts val="0"/>
              </a:spcAft>
              <a:buNone/>
            </a:pPr>
            <a:endParaRPr dirty="0"/>
          </a:p>
        </p:txBody>
      </p:sp>
      <p:sp>
        <p:nvSpPr>
          <p:cNvPr id="86" name="Google Shape;86;p4"/>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7" name="Google Shape;87;p4"/>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8" name="Google Shape;88;p4"/>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9" name="Google Shape;89;p4"/>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90" name="Google Shape;90;p4"/>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RV College of</a:t>
            </a:r>
            <a:endParaRPr dirty="0"/>
          </a:p>
          <a:p>
            <a:pPr marL="12700" marR="0" lvl="0" indent="0" algn="l" rtl="0">
              <a:lnSpc>
                <a:spcPct val="106250"/>
              </a:lnSpc>
              <a:spcBef>
                <a:spcPts val="10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Engineering </a:t>
            </a:r>
            <a:endParaRPr dirty="0"/>
          </a:p>
        </p:txBody>
      </p:sp>
      <p:sp>
        <p:nvSpPr>
          <p:cNvPr id="92" name="Google Shape;92;p4"/>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dirty="0">
                <a:solidFill>
                  <a:srgbClr val="422C75"/>
                </a:solidFill>
                <a:latin typeface="Playfair Display"/>
                <a:ea typeface="Playfair Display"/>
                <a:cs typeface="Playfair Display"/>
                <a:sym typeface="Playfair Display"/>
              </a:rPr>
              <a:t>Go, change the world</a:t>
            </a:r>
            <a:endParaRPr dirty="0"/>
          </a:p>
        </p:txBody>
      </p:sp>
      <p:sp>
        <p:nvSpPr>
          <p:cNvPr id="93" name="Google Shape;93;p4"/>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a:t>
            </a:r>
            <a:endParaRPr dirty="0"/>
          </a:p>
        </p:txBody>
      </p:sp>
      <p:sp>
        <p:nvSpPr>
          <p:cNvPr id="94" name="Google Shape;94;p4"/>
          <p:cNvSpPr txBox="1"/>
          <p:nvPr/>
        </p:nvSpPr>
        <p:spPr>
          <a:xfrm>
            <a:off x="6835775" y="10517187"/>
            <a:ext cx="6432550" cy="56673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Department of ECE</a:t>
            </a:r>
            <a:endParaRPr dirty="0"/>
          </a:p>
        </p:txBody>
      </p:sp>
      <p:sp>
        <p:nvSpPr>
          <p:cNvPr id="95" name="Google Shape;95;p4"/>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7</a:t>
            </a:fld>
            <a:endParaRPr dirty="0"/>
          </a:p>
        </p:txBody>
      </p:sp>
      <p:pic>
        <p:nvPicPr>
          <p:cNvPr id="4098" name="Picture 2" descr="Forms response chart. Question title: How often have you experienced traction related related problems in your vehicle?. Number of responses: 164 responses.">
            <a:extLst>
              <a:ext uri="{FF2B5EF4-FFF2-40B4-BE49-F238E27FC236}">
                <a16:creationId xmlns:a16="http://schemas.microsoft.com/office/drawing/2014/main" id="{79D47B18-8521-A8E5-1359-F00DB974AE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887" y="1449387"/>
            <a:ext cx="13858842" cy="583178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Forms response chart. Question title: Do you think better traction and balance is required for off-roading/challenging terrain?. Number of responses: 164 responses.">
            <a:extLst>
              <a:ext uri="{FF2B5EF4-FFF2-40B4-BE49-F238E27FC236}">
                <a16:creationId xmlns:a16="http://schemas.microsoft.com/office/drawing/2014/main" id="{1EF67A43-A2FF-A845-5F3C-0AE5DFF94BB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10941"/>
          <a:stretch/>
        </p:blipFill>
        <p:spPr bwMode="auto">
          <a:xfrm>
            <a:off x="9032064" y="5297569"/>
            <a:ext cx="10885522" cy="51433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6136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4"/>
          <p:cNvSpPr txBox="1"/>
          <p:nvPr/>
        </p:nvSpPr>
        <p:spPr>
          <a:xfrm>
            <a:off x="0" y="0"/>
            <a:ext cx="20104101" cy="11309350"/>
          </a:xfrm>
          <a:prstGeom prst="rect">
            <a:avLst/>
          </a:prstGeom>
          <a:solidFill>
            <a:schemeClr val="lt1">
              <a:alpha val="98431"/>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5" name="Google Shape;85;p4"/>
          <p:cNvSpPr txBox="1"/>
          <p:nvPr/>
        </p:nvSpPr>
        <p:spPr>
          <a:xfrm>
            <a:off x="2479675" y="3687762"/>
            <a:ext cx="15497100" cy="227700"/>
          </a:xfrm>
          <a:prstGeom prst="rect">
            <a:avLst/>
          </a:prstGeom>
          <a:noFill/>
          <a:ln>
            <a:noFill/>
          </a:ln>
        </p:spPr>
        <p:txBody>
          <a:bodyPr spcFirstLastPara="1" wrap="square" lIns="0" tIns="12050" rIns="0" bIns="0" anchor="t" anchorCtr="0">
            <a:spAutoFit/>
          </a:bodyPr>
          <a:lstStyle/>
          <a:p>
            <a:pPr marL="457200" marR="0" lvl="0" indent="0" algn="just" rtl="0">
              <a:lnSpc>
                <a:spcPct val="101000"/>
              </a:lnSpc>
              <a:spcBef>
                <a:spcPts val="0"/>
              </a:spcBef>
              <a:spcAft>
                <a:spcPts val="0"/>
              </a:spcAft>
              <a:buNone/>
            </a:pPr>
            <a:endParaRPr dirty="0"/>
          </a:p>
        </p:txBody>
      </p:sp>
      <p:sp>
        <p:nvSpPr>
          <p:cNvPr id="86" name="Google Shape;86;p4"/>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7" name="Google Shape;87;p4"/>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8" name="Google Shape;88;p4"/>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9" name="Google Shape;89;p4"/>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90" name="Google Shape;90;p4"/>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RV College of</a:t>
            </a:r>
            <a:endParaRPr dirty="0"/>
          </a:p>
          <a:p>
            <a:pPr marL="12700" marR="0" lvl="0" indent="0" algn="l" rtl="0">
              <a:lnSpc>
                <a:spcPct val="106250"/>
              </a:lnSpc>
              <a:spcBef>
                <a:spcPts val="10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Engineering </a:t>
            </a:r>
            <a:endParaRPr dirty="0"/>
          </a:p>
        </p:txBody>
      </p:sp>
      <p:sp>
        <p:nvSpPr>
          <p:cNvPr id="92" name="Google Shape;92;p4"/>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dirty="0">
                <a:solidFill>
                  <a:srgbClr val="422C75"/>
                </a:solidFill>
                <a:latin typeface="Playfair Display"/>
                <a:ea typeface="Playfair Display"/>
                <a:cs typeface="Playfair Display"/>
                <a:sym typeface="Playfair Display"/>
              </a:rPr>
              <a:t>Go, change the world</a:t>
            </a:r>
            <a:endParaRPr dirty="0"/>
          </a:p>
        </p:txBody>
      </p:sp>
      <p:sp>
        <p:nvSpPr>
          <p:cNvPr id="93" name="Google Shape;93;p4"/>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a:t>
            </a:r>
            <a:endParaRPr dirty="0"/>
          </a:p>
        </p:txBody>
      </p:sp>
      <p:sp>
        <p:nvSpPr>
          <p:cNvPr id="94" name="Google Shape;94;p4"/>
          <p:cNvSpPr txBox="1"/>
          <p:nvPr/>
        </p:nvSpPr>
        <p:spPr>
          <a:xfrm>
            <a:off x="6835775" y="10517187"/>
            <a:ext cx="6432550" cy="56673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Department of ECE</a:t>
            </a:r>
            <a:endParaRPr dirty="0"/>
          </a:p>
        </p:txBody>
      </p:sp>
      <p:sp>
        <p:nvSpPr>
          <p:cNvPr id="95" name="Google Shape;95;p4"/>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8</a:t>
            </a:fld>
            <a:endParaRPr dirty="0"/>
          </a:p>
        </p:txBody>
      </p:sp>
      <p:pic>
        <p:nvPicPr>
          <p:cNvPr id="7170" name="Picture 2" descr="Forms response chart. Question title: Do you think E-differential will revolutionize automotive industry?. Number of responses: 164 responses.">
            <a:extLst>
              <a:ext uri="{FF2B5EF4-FFF2-40B4-BE49-F238E27FC236}">
                <a16:creationId xmlns:a16="http://schemas.microsoft.com/office/drawing/2014/main" id="{2C4792FD-3BF1-0181-5639-CEEFFE9C99D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29520"/>
          <a:stretch/>
        </p:blipFill>
        <p:spPr bwMode="auto">
          <a:xfrm>
            <a:off x="4017358" y="1946504"/>
            <a:ext cx="12421734" cy="74163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7349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4"/>
          <p:cNvSpPr txBox="1"/>
          <p:nvPr/>
        </p:nvSpPr>
        <p:spPr>
          <a:xfrm>
            <a:off x="0" y="0"/>
            <a:ext cx="20104101" cy="11309350"/>
          </a:xfrm>
          <a:prstGeom prst="rect">
            <a:avLst/>
          </a:prstGeom>
          <a:solidFill>
            <a:schemeClr val="lt1">
              <a:alpha val="98431"/>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5" name="Google Shape;85;p4"/>
          <p:cNvSpPr txBox="1"/>
          <p:nvPr/>
        </p:nvSpPr>
        <p:spPr>
          <a:xfrm>
            <a:off x="2479675" y="3687762"/>
            <a:ext cx="15497100" cy="227700"/>
          </a:xfrm>
          <a:prstGeom prst="rect">
            <a:avLst/>
          </a:prstGeom>
          <a:noFill/>
          <a:ln>
            <a:noFill/>
          </a:ln>
        </p:spPr>
        <p:txBody>
          <a:bodyPr spcFirstLastPara="1" wrap="square" lIns="0" tIns="12050" rIns="0" bIns="0" anchor="t" anchorCtr="0">
            <a:spAutoFit/>
          </a:bodyPr>
          <a:lstStyle/>
          <a:p>
            <a:pPr marL="457200" marR="0" lvl="0" indent="0" algn="just" rtl="0">
              <a:lnSpc>
                <a:spcPct val="101000"/>
              </a:lnSpc>
              <a:spcBef>
                <a:spcPts val="0"/>
              </a:spcBef>
              <a:spcAft>
                <a:spcPts val="0"/>
              </a:spcAft>
              <a:buNone/>
            </a:pPr>
            <a:endParaRPr dirty="0"/>
          </a:p>
        </p:txBody>
      </p:sp>
      <p:sp>
        <p:nvSpPr>
          <p:cNvPr id="86" name="Google Shape;86;p4"/>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7" name="Google Shape;87;p4"/>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8" name="Google Shape;88;p4"/>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9" name="Google Shape;89;p4"/>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90" name="Google Shape;90;p4"/>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RV College of</a:t>
            </a:r>
            <a:endParaRPr dirty="0"/>
          </a:p>
          <a:p>
            <a:pPr marL="12700" marR="0" lvl="0" indent="0" algn="l" rtl="0">
              <a:lnSpc>
                <a:spcPct val="106250"/>
              </a:lnSpc>
              <a:spcBef>
                <a:spcPts val="10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Engineering </a:t>
            </a:r>
            <a:endParaRPr dirty="0"/>
          </a:p>
        </p:txBody>
      </p:sp>
      <p:sp>
        <p:nvSpPr>
          <p:cNvPr id="92" name="Google Shape;92;p4"/>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dirty="0">
                <a:solidFill>
                  <a:srgbClr val="422C75"/>
                </a:solidFill>
                <a:latin typeface="Playfair Display"/>
                <a:ea typeface="Playfair Display"/>
                <a:cs typeface="Playfair Display"/>
                <a:sym typeface="Playfair Display"/>
              </a:rPr>
              <a:t>Go, change the world</a:t>
            </a:r>
            <a:endParaRPr dirty="0"/>
          </a:p>
        </p:txBody>
      </p:sp>
      <p:sp>
        <p:nvSpPr>
          <p:cNvPr id="93" name="Google Shape;93;p4"/>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a:t>
            </a:r>
            <a:endParaRPr dirty="0"/>
          </a:p>
        </p:txBody>
      </p:sp>
      <p:sp>
        <p:nvSpPr>
          <p:cNvPr id="94" name="Google Shape;94;p4"/>
          <p:cNvSpPr txBox="1"/>
          <p:nvPr/>
        </p:nvSpPr>
        <p:spPr>
          <a:xfrm>
            <a:off x="6835775" y="10517187"/>
            <a:ext cx="6432550" cy="56673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Department of ECE</a:t>
            </a:r>
            <a:endParaRPr dirty="0"/>
          </a:p>
        </p:txBody>
      </p:sp>
      <p:sp>
        <p:nvSpPr>
          <p:cNvPr id="95" name="Google Shape;95;p4"/>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9</a:t>
            </a:fld>
            <a:endParaRPr dirty="0"/>
          </a:p>
        </p:txBody>
      </p:sp>
      <p:sp>
        <p:nvSpPr>
          <p:cNvPr id="2" name="Rectangle 1">
            <a:extLst>
              <a:ext uri="{FF2B5EF4-FFF2-40B4-BE49-F238E27FC236}">
                <a16:creationId xmlns:a16="http://schemas.microsoft.com/office/drawing/2014/main" id="{DD4418B5-28DA-B155-A904-6D3500C653B4}"/>
              </a:ext>
            </a:extLst>
          </p:cNvPr>
          <p:cNvSpPr/>
          <p:nvPr/>
        </p:nvSpPr>
        <p:spPr>
          <a:xfrm>
            <a:off x="1909608" y="2043185"/>
            <a:ext cx="833592" cy="4427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A1221141-A5AF-E4D8-61B5-730CFA128C4D}"/>
              </a:ext>
            </a:extLst>
          </p:cNvPr>
          <p:cNvSpPr txBox="1"/>
          <p:nvPr/>
        </p:nvSpPr>
        <p:spPr>
          <a:xfrm>
            <a:off x="1754432" y="1747744"/>
            <a:ext cx="2539510" cy="646331"/>
          </a:xfrm>
          <a:prstGeom prst="rect">
            <a:avLst/>
          </a:prstGeom>
          <a:noFill/>
        </p:spPr>
        <p:txBody>
          <a:bodyPr wrap="square" rtlCol="0">
            <a:spAutoFit/>
          </a:bodyPr>
          <a:lstStyle/>
          <a:p>
            <a:r>
              <a:rPr lang="en-US" sz="3600" b="1" dirty="0">
                <a:latin typeface="Calibri" panose="020F0502020204030204" pitchFamily="34" charset="0"/>
                <a:ea typeface="Calibri" panose="020F0502020204030204" pitchFamily="34" charset="0"/>
                <a:cs typeface="Calibri" panose="020F0502020204030204" pitchFamily="34" charset="0"/>
              </a:rPr>
              <a:t>Suggestions </a:t>
            </a:r>
            <a:endParaRPr lang="en-IN" sz="3600" b="1" dirty="0">
              <a:latin typeface="Calibri" panose="020F0502020204030204" pitchFamily="34" charset="0"/>
              <a:ea typeface="Calibri" panose="020F0502020204030204" pitchFamily="34" charset="0"/>
              <a:cs typeface="Calibri" panose="020F0502020204030204" pitchFamily="34" charset="0"/>
            </a:endParaRPr>
          </a:p>
        </p:txBody>
      </p:sp>
      <p:sp>
        <p:nvSpPr>
          <p:cNvPr id="10" name="Thought Bubble: Cloud 9">
            <a:extLst>
              <a:ext uri="{FF2B5EF4-FFF2-40B4-BE49-F238E27FC236}">
                <a16:creationId xmlns:a16="http://schemas.microsoft.com/office/drawing/2014/main" id="{144E6D43-32E5-0990-CF29-CE95D1BE11D1}"/>
              </a:ext>
            </a:extLst>
          </p:cNvPr>
          <p:cNvSpPr/>
          <p:nvPr/>
        </p:nvSpPr>
        <p:spPr>
          <a:xfrm>
            <a:off x="9680802" y="1544549"/>
            <a:ext cx="10423298" cy="7418437"/>
          </a:xfrm>
          <a:prstGeom prst="cloudCallout">
            <a:avLst>
              <a:gd name="adj1" fmla="val 47364"/>
              <a:gd name="adj2" fmla="val 7497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800" b="0" i="0" dirty="0">
                <a:solidFill>
                  <a:schemeClr val="bg1"/>
                </a:solidFill>
                <a:effectLst/>
                <a:latin typeface="Roboto" panose="02000000000000000000" pitchFamily="2" charset="0"/>
              </a:rPr>
              <a:t>If my suggestion is actually read, I would be very much interested in contributing to this development. I don't know the means to reach out to you but if you can connect with me through the mail I am pretty much interested in understanding the problems and contributing to find a solution as well. My suggestion would be mostly wasteful until you text me back what are the issues you are facing currently.</a:t>
            </a:r>
            <a:endParaRPr lang="en-IN" sz="2800" dirty="0">
              <a:solidFill>
                <a:schemeClr val="bg1"/>
              </a:solidFill>
            </a:endParaRPr>
          </a:p>
        </p:txBody>
      </p:sp>
      <p:sp>
        <p:nvSpPr>
          <p:cNvPr id="11" name="Speech Bubble: Oval 10">
            <a:extLst>
              <a:ext uri="{FF2B5EF4-FFF2-40B4-BE49-F238E27FC236}">
                <a16:creationId xmlns:a16="http://schemas.microsoft.com/office/drawing/2014/main" id="{7974EC5A-FBF6-953C-7D5C-CAE05C5B8CDC}"/>
              </a:ext>
            </a:extLst>
          </p:cNvPr>
          <p:cNvSpPr/>
          <p:nvPr/>
        </p:nvSpPr>
        <p:spPr>
          <a:xfrm>
            <a:off x="892630" y="2274886"/>
            <a:ext cx="8472486" cy="6331125"/>
          </a:xfrm>
          <a:prstGeom prst="wedgeEllipseCallout">
            <a:avLst>
              <a:gd name="adj1" fmla="val -52169"/>
              <a:gd name="adj2" fmla="val 8561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800" b="0" i="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Making use of e-diff for </a:t>
            </a:r>
            <a:r>
              <a:rPr lang="en-US" sz="2800" b="0" i="0"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carbwalk</a:t>
            </a:r>
            <a:r>
              <a:rPr lang="en-US" sz="2800" b="0" i="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like hummer or sliding motion which could help in easy turning in ghats and sliding on off road vehicles which could help to avoid </a:t>
            </a:r>
            <a:r>
              <a:rPr lang="en-US" sz="2800" b="0" i="0"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obsticals</a:t>
            </a:r>
            <a:r>
              <a:rPr lang="en-US" sz="2800" b="0" i="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just by sliding left or right instead of taking back and struggling to turn . This could also reduce the turning radius of even bigger vehicles .proper </a:t>
            </a:r>
            <a:r>
              <a:rPr lang="en-US" sz="2800" b="0" i="0"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optimisation</a:t>
            </a:r>
            <a:r>
              <a:rPr lang="en-US" sz="2800" b="0" i="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of e diff could help in easy overtaking and use e- diff for braking</a:t>
            </a: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31303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4"/>
          <p:cNvSpPr txBox="1"/>
          <p:nvPr/>
        </p:nvSpPr>
        <p:spPr>
          <a:xfrm>
            <a:off x="0" y="-21771"/>
            <a:ext cx="20104101" cy="11309350"/>
          </a:xfrm>
          <a:prstGeom prst="rect">
            <a:avLst/>
          </a:prstGeom>
          <a:solidFill>
            <a:schemeClr val="lt1">
              <a:alpha val="98431"/>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5" name="Google Shape;85;p4"/>
          <p:cNvSpPr txBox="1"/>
          <p:nvPr/>
        </p:nvSpPr>
        <p:spPr>
          <a:xfrm>
            <a:off x="2479675" y="3687762"/>
            <a:ext cx="15497100" cy="227700"/>
          </a:xfrm>
          <a:prstGeom prst="rect">
            <a:avLst/>
          </a:prstGeom>
          <a:noFill/>
          <a:ln>
            <a:noFill/>
          </a:ln>
        </p:spPr>
        <p:txBody>
          <a:bodyPr spcFirstLastPara="1" wrap="square" lIns="0" tIns="12050" rIns="0" bIns="0" anchor="t" anchorCtr="0">
            <a:spAutoFit/>
          </a:bodyPr>
          <a:lstStyle/>
          <a:p>
            <a:pPr marL="457200" marR="0" lvl="0" indent="0" algn="just" rtl="0">
              <a:lnSpc>
                <a:spcPct val="101000"/>
              </a:lnSpc>
              <a:spcBef>
                <a:spcPts val="0"/>
              </a:spcBef>
              <a:spcAft>
                <a:spcPts val="0"/>
              </a:spcAft>
              <a:buNone/>
            </a:pPr>
            <a:endParaRPr dirty="0"/>
          </a:p>
        </p:txBody>
      </p:sp>
      <p:sp>
        <p:nvSpPr>
          <p:cNvPr id="86" name="Google Shape;86;p4"/>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7" name="Google Shape;87;p4"/>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8" name="Google Shape;88;p4"/>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9" name="Google Shape;89;p4"/>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90" name="Google Shape;90;p4"/>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RV College of</a:t>
            </a:r>
            <a:endParaRPr dirty="0"/>
          </a:p>
          <a:p>
            <a:pPr marL="12700" marR="0" lvl="0" indent="0" algn="l" rtl="0">
              <a:lnSpc>
                <a:spcPct val="106250"/>
              </a:lnSpc>
              <a:spcBef>
                <a:spcPts val="10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Engineering </a:t>
            </a:r>
            <a:endParaRPr dirty="0"/>
          </a:p>
        </p:txBody>
      </p:sp>
      <p:sp>
        <p:nvSpPr>
          <p:cNvPr id="92" name="Google Shape;92;p4"/>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dirty="0">
                <a:solidFill>
                  <a:srgbClr val="422C75"/>
                </a:solidFill>
                <a:latin typeface="Playfair Display"/>
                <a:ea typeface="Playfair Display"/>
                <a:cs typeface="Playfair Display"/>
                <a:sym typeface="Playfair Display"/>
              </a:rPr>
              <a:t>Go, change the world</a:t>
            </a:r>
            <a:endParaRPr dirty="0"/>
          </a:p>
        </p:txBody>
      </p:sp>
      <p:sp>
        <p:nvSpPr>
          <p:cNvPr id="93" name="Google Shape;93;p4"/>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a:t>
            </a:r>
            <a:endParaRPr dirty="0"/>
          </a:p>
        </p:txBody>
      </p:sp>
      <p:sp>
        <p:nvSpPr>
          <p:cNvPr id="94" name="Google Shape;94;p4"/>
          <p:cNvSpPr txBox="1"/>
          <p:nvPr/>
        </p:nvSpPr>
        <p:spPr>
          <a:xfrm>
            <a:off x="6835775" y="10517187"/>
            <a:ext cx="6432550" cy="56673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Department of ECE</a:t>
            </a:r>
            <a:endParaRPr dirty="0"/>
          </a:p>
        </p:txBody>
      </p:sp>
      <p:sp>
        <p:nvSpPr>
          <p:cNvPr id="95" name="Google Shape;95;p4"/>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10</a:t>
            </a:fld>
            <a:endParaRPr dirty="0"/>
          </a:p>
        </p:txBody>
      </p:sp>
      <p:pic>
        <p:nvPicPr>
          <p:cNvPr id="3" name="Picture 2">
            <a:extLst>
              <a:ext uri="{FF2B5EF4-FFF2-40B4-BE49-F238E27FC236}">
                <a16:creationId xmlns:a16="http://schemas.microsoft.com/office/drawing/2014/main" id="{30612C39-32E0-090C-0F6E-A94E1CF2DEF9}"/>
              </a:ext>
            </a:extLst>
          </p:cNvPr>
          <p:cNvPicPr>
            <a:picLocks noChangeAspect="1"/>
          </p:cNvPicPr>
          <p:nvPr/>
        </p:nvPicPr>
        <p:blipFill>
          <a:blip r:embed="rId4"/>
          <a:stretch>
            <a:fillRect/>
          </a:stretch>
        </p:blipFill>
        <p:spPr>
          <a:xfrm>
            <a:off x="949741" y="2021559"/>
            <a:ext cx="13478682" cy="6821729"/>
          </a:xfrm>
          <a:prstGeom prst="rect">
            <a:avLst/>
          </a:prstGeom>
        </p:spPr>
      </p:pic>
      <p:pic>
        <p:nvPicPr>
          <p:cNvPr id="5" name="Picture 4">
            <a:extLst>
              <a:ext uri="{FF2B5EF4-FFF2-40B4-BE49-F238E27FC236}">
                <a16:creationId xmlns:a16="http://schemas.microsoft.com/office/drawing/2014/main" id="{1F208F22-4A5C-9C45-CA54-18DFFDE3391C}"/>
              </a:ext>
            </a:extLst>
          </p:cNvPr>
          <p:cNvPicPr>
            <a:picLocks noChangeAspect="1"/>
          </p:cNvPicPr>
          <p:nvPr/>
        </p:nvPicPr>
        <p:blipFill>
          <a:blip r:embed="rId5"/>
          <a:stretch>
            <a:fillRect/>
          </a:stretch>
        </p:blipFill>
        <p:spPr>
          <a:xfrm>
            <a:off x="11610779" y="5655278"/>
            <a:ext cx="8049551" cy="5344254"/>
          </a:xfrm>
          <a:prstGeom prst="rect">
            <a:avLst/>
          </a:prstGeom>
        </p:spPr>
      </p:pic>
      <p:sp>
        <p:nvSpPr>
          <p:cNvPr id="2" name="TextBox 1">
            <a:extLst>
              <a:ext uri="{FF2B5EF4-FFF2-40B4-BE49-F238E27FC236}">
                <a16:creationId xmlns:a16="http://schemas.microsoft.com/office/drawing/2014/main" id="{03B5321E-8B48-802D-907F-D6EB8068478B}"/>
              </a:ext>
            </a:extLst>
          </p:cNvPr>
          <p:cNvSpPr txBox="1"/>
          <p:nvPr/>
        </p:nvSpPr>
        <p:spPr>
          <a:xfrm>
            <a:off x="1004887" y="1318538"/>
            <a:ext cx="7119257" cy="646331"/>
          </a:xfrm>
          <a:prstGeom prst="rect">
            <a:avLst/>
          </a:prstGeom>
          <a:noFill/>
        </p:spPr>
        <p:txBody>
          <a:bodyPr wrap="square" rtlCol="0">
            <a:spAutoFit/>
          </a:bodyPr>
          <a:lstStyle/>
          <a:p>
            <a:r>
              <a:rPr lang="en-US" sz="3600" b="1" u="sng" dirty="0"/>
              <a:t>Guidance from FSAE experts</a:t>
            </a:r>
            <a:endParaRPr lang="en-IN" sz="3600" b="1" u="sng" dirty="0"/>
          </a:p>
        </p:txBody>
      </p:sp>
    </p:spTree>
    <p:extLst>
      <p:ext uri="{BB962C8B-B14F-4D97-AF65-F5344CB8AC3E}">
        <p14:creationId xmlns:p14="http://schemas.microsoft.com/office/powerpoint/2010/main" val="39495768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4"/>
          <p:cNvSpPr txBox="1"/>
          <p:nvPr/>
        </p:nvSpPr>
        <p:spPr>
          <a:xfrm>
            <a:off x="0" y="0"/>
            <a:ext cx="20104101" cy="11309350"/>
          </a:xfrm>
          <a:prstGeom prst="rect">
            <a:avLst/>
          </a:prstGeom>
          <a:solidFill>
            <a:schemeClr val="lt1">
              <a:alpha val="98431"/>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5" name="Google Shape;85;p4"/>
          <p:cNvSpPr txBox="1"/>
          <p:nvPr/>
        </p:nvSpPr>
        <p:spPr>
          <a:xfrm>
            <a:off x="2479675" y="3687762"/>
            <a:ext cx="15497100" cy="227700"/>
          </a:xfrm>
          <a:prstGeom prst="rect">
            <a:avLst/>
          </a:prstGeom>
          <a:noFill/>
          <a:ln>
            <a:noFill/>
          </a:ln>
        </p:spPr>
        <p:txBody>
          <a:bodyPr spcFirstLastPara="1" wrap="square" lIns="0" tIns="12050" rIns="0" bIns="0" anchor="t" anchorCtr="0">
            <a:spAutoFit/>
          </a:bodyPr>
          <a:lstStyle/>
          <a:p>
            <a:pPr marL="457200" marR="0" lvl="0" indent="0" algn="just" rtl="0">
              <a:lnSpc>
                <a:spcPct val="101000"/>
              </a:lnSpc>
              <a:spcBef>
                <a:spcPts val="0"/>
              </a:spcBef>
              <a:spcAft>
                <a:spcPts val="0"/>
              </a:spcAft>
              <a:buNone/>
            </a:pPr>
            <a:endParaRPr dirty="0"/>
          </a:p>
        </p:txBody>
      </p:sp>
      <p:sp>
        <p:nvSpPr>
          <p:cNvPr id="86" name="Google Shape;86;p4"/>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7" name="Google Shape;87;p4"/>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8" name="Google Shape;88;p4"/>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9" name="Google Shape;89;p4"/>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90" name="Google Shape;90;p4"/>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RV College of</a:t>
            </a:r>
            <a:endParaRPr dirty="0"/>
          </a:p>
          <a:p>
            <a:pPr marL="12700" marR="0" lvl="0" indent="0" algn="l" rtl="0">
              <a:lnSpc>
                <a:spcPct val="106250"/>
              </a:lnSpc>
              <a:spcBef>
                <a:spcPts val="10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Engineering </a:t>
            </a:r>
            <a:endParaRPr dirty="0"/>
          </a:p>
        </p:txBody>
      </p:sp>
      <p:sp>
        <p:nvSpPr>
          <p:cNvPr id="92" name="Google Shape;92;p4"/>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dirty="0">
                <a:solidFill>
                  <a:srgbClr val="422C75"/>
                </a:solidFill>
                <a:latin typeface="Playfair Display"/>
                <a:ea typeface="Playfair Display"/>
                <a:cs typeface="Playfair Display"/>
                <a:sym typeface="Playfair Display"/>
              </a:rPr>
              <a:t>Go, change the world</a:t>
            </a:r>
            <a:endParaRPr dirty="0"/>
          </a:p>
        </p:txBody>
      </p:sp>
      <p:sp>
        <p:nvSpPr>
          <p:cNvPr id="93" name="Google Shape;93;p4"/>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a:t>
            </a:r>
            <a:endParaRPr dirty="0"/>
          </a:p>
        </p:txBody>
      </p:sp>
      <p:sp>
        <p:nvSpPr>
          <p:cNvPr id="94" name="Google Shape;94;p4"/>
          <p:cNvSpPr txBox="1"/>
          <p:nvPr/>
        </p:nvSpPr>
        <p:spPr>
          <a:xfrm>
            <a:off x="6835775" y="10517187"/>
            <a:ext cx="6432550" cy="56673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Department of ECE</a:t>
            </a:r>
            <a:endParaRPr dirty="0"/>
          </a:p>
        </p:txBody>
      </p:sp>
      <p:sp>
        <p:nvSpPr>
          <p:cNvPr id="95" name="Google Shape;95;p4"/>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11</a:t>
            </a:fld>
            <a:endParaRPr dirty="0"/>
          </a:p>
        </p:txBody>
      </p:sp>
      <p:pic>
        <p:nvPicPr>
          <p:cNvPr id="3" name="Picture 2">
            <a:extLst>
              <a:ext uri="{FF2B5EF4-FFF2-40B4-BE49-F238E27FC236}">
                <a16:creationId xmlns:a16="http://schemas.microsoft.com/office/drawing/2014/main" id="{085EB904-90CC-09A7-9015-B50336E582D2}"/>
              </a:ext>
            </a:extLst>
          </p:cNvPr>
          <p:cNvPicPr>
            <a:picLocks noChangeAspect="1"/>
          </p:cNvPicPr>
          <p:nvPr/>
        </p:nvPicPr>
        <p:blipFill>
          <a:blip r:embed="rId4"/>
          <a:stretch>
            <a:fillRect/>
          </a:stretch>
        </p:blipFill>
        <p:spPr>
          <a:xfrm>
            <a:off x="808944" y="1604733"/>
            <a:ext cx="11124005" cy="5169921"/>
          </a:xfrm>
          <a:prstGeom prst="rect">
            <a:avLst/>
          </a:prstGeom>
        </p:spPr>
      </p:pic>
      <p:pic>
        <p:nvPicPr>
          <p:cNvPr id="5" name="Picture 4">
            <a:extLst>
              <a:ext uri="{FF2B5EF4-FFF2-40B4-BE49-F238E27FC236}">
                <a16:creationId xmlns:a16="http://schemas.microsoft.com/office/drawing/2014/main" id="{60DB58B2-6F06-0C30-4480-9F2FE0D0AE7E}"/>
              </a:ext>
            </a:extLst>
          </p:cNvPr>
          <p:cNvPicPr>
            <a:picLocks noChangeAspect="1"/>
          </p:cNvPicPr>
          <p:nvPr/>
        </p:nvPicPr>
        <p:blipFill>
          <a:blip r:embed="rId5"/>
          <a:stretch>
            <a:fillRect/>
          </a:stretch>
        </p:blipFill>
        <p:spPr>
          <a:xfrm>
            <a:off x="8160331" y="4617347"/>
            <a:ext cx="11617604" cy="6351362"/>
          </a:xfrm>
          <a:prstGeom prst="rect">
            <a:avLst/>
          </a:prstGeom>
        </p:spPr>
      </p:pic>
    </p:spTree>
    <p:extLst>
      <p:ext uri="{BB962C8B-B14F-4D97-AF65-F5344CB8AC3E}">
        <p14:creationId xmlns:p14="http://schemas.microsoft.com/office/powerpoint/2010/main" val="184905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4"/>
          <p:cNvSpPr txBox="1"/>
          <p:nvPr/>
        </p:nvSpPr>
        <p:spPr>
          <a:xfrm>
            <a:off x="0" y="0"/>
            <a:ext cx="20104101" cy="11309350"/>
          </a:xfrm>
          <a:prstGeom prst="rect">
            <a:avLst/>
          </a:prstGeom>
          <a:solidFill>
            <a:schemeClr val="lt1">
              <a:alpha val="98431"/>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5" name="Google Shape;85;p4"/>
          <p:cNvSpPr txBox="1"/>
          <p:nvPr/>
        </p:nvSpPr>
        <p:spPr>
          <a:xfrm>
            <a:off x="2479675" y="3687762"/>
            <a:ext cx="15497100" cy="227700"/>
          </a:xfrm>
          <a:prstGeom prst="rect">
            <a:avLst/>
          </a:prstGeom>
          <a:noFill/>
          <a:ln>
            <a:noFill/>
          </a:ln>
        </p:spPr>
        <p:txBody>
          <a:bodyPr spcFirstLastPara="1" wrap="square" lIns="0" tIns="12050" rIns="0" bIns="0" anchor="t" anchorCtr="0">
            <a:spAutoFit/>
          </a:bodyPr>
          <a:lstStyle/>
          <a:p>
            <a:pPr marL="457200" marR="0" lvl="0" indent="0" algn="just" rtl="0">
              <a:lnSpc>
                <a:spcPct val="101000"/>
              </a:lnSpc>
              <a:spcBef>
                <a:spcPts val="0"/>
              </a:spcBef>
              <a:spcAft>
                <a:spcPts val="0"/>
              </a:spcAft>
              <a:buNone/>
            </a:pPr>
            <a:endParaRPr dirty="0"/>
          </a:p>
        </p:txBody>
      </p:sp>
      <p:sp>
        <p:nvSpPr>
          <p:cNvPr id="86" name="Google Shape;86;p4"/>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7" name="Google Shape;87;p4"/>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8" name="Google Shape;88;p4"/>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9" name="Google Shape;89;p4"/>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90" name="Google Shape;90;p4"/>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RV College of</a:t>
            </a:r>
            <a:endParaRPr dirty="0"/>
          </a:p>
          <a:p>
            <a:pPr marL="12700" marR="0" lvl="0" indent="0" algn="l" rtl="0">
              <a:lnSpc>
                <a:spcPct val="106250"/>
              </a:lnSpc>
              <a:spcBef>
                <a:spcPts val="10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Engineering </a:t>
            </a:r>
            <a:endParaRPr dirty="0"/>
          </a:p>
        </p:txBody>
      </p:sp>
      <p:sp>
        <p:nvSpPr>
          <p:cNvPr id="92" name="Google Shape;92;p4"/>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dirty="0">
                <a:solidFill>
                  <a:srgbClr val="422C75"/>
                </a:solidFill>
                <a:latin typeface="Playfair Display"/>
                <a:ea typeface="Playfair Display"/>
                <a:cs typeface="Playfair Display"/>
                <a:sym typeface="Playfair Display"/>
              </a:rPr>
              <a:t>Go, change the world</a:t>
            </a:r>
            <a:endParaRPr dirty="0"/>
          </a:p>
        </p:txBody>
      </p:sp>
      <p:sp>
        <p:nvSpPr>
          <p:cNvPr id="93" name="Google Shape;93;p4"/>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a:t>
            </a:r>
            <a:endParaRPr dirty="0"/>
          </a:p>
        </p:txBody>
      </p:sp>
      <p:sp>
        <p:nvSpPr>
          <p:cNvPr id="94" name="Google Shape;94;p4"/>
          <p:cNvSpPr txBox="1"/>
          <p:nvPr/>
        </p:nvSpPr>
        <p:spPr>
          <a:xfrm>
            <a:off x="6835775" y="10517187"/>
            <a:ext cx="6432550" cy="56673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Department of ECE</a:t>
            </a:r>
            <a:endParaRPr dirty="0"/>
          </a:p>
        </p:txBody>
      </p:sp>
      <p:sp>
        <p:nvSpPr>
          <p:cNvPr id="95" name="Google Shape;95;p4"/>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12</a:t>
            </a:fld>
            <a:endParaRPr dirty="0"/>
          </a:p>
        </p:txBody>
      </p:sp>
      <p:sp>
        <p:nvSpPr>
          <p:cNvPr id="2" name="TextBox 1">
            <a:extLst>
              <a:ext uri="{FF2B5EF4-FFF2-40B4-BE49-F238E27FC236}">
                <a16:creationId xmlns:a16="http://schemas.microsoft.com/office/drawing/2014/main" id="{A12A04FD-140D-B784-A1A8-B326C911CCCE}"/>
              </a:ext>
            </a:extLst>
          </p:cNvPr>
          <p:cNvSpPr txBox="1"/>
          <p:nvPr/>
        </p:nvSpPr>
        <p:spPr>
          <a:xfrm>
            <a:off x="4502263" y="1599595"/>
            <a:ext cx="11099574" cy="1569660"/>
          </a:xfrm>
          <a:prstGeom prst="rect">
            <a:avLst/>
          </a:prstGeom>
          <a:noFill/>
        </p:spPr>
        <p:txBody>
          <a:bodyPr wrap="square" rtlCol="0">
            <a:spAutoFit/>
          </a:bodyPr>
          <a:lstStyle/>
          <a:p>
            <a:r>
              <a:rPr lang="en-US" sz="9600" dirty="0">
                <a:latin typeface="Arial Black" panose="020B0A04020102020204" pitchFamily="34" charset="0"/>
              </a:rPr>
              <a:t>DEFINE PHASE</a:t>
            </a:r>
            <a:endParaRPr lang="en-IN" sz="9600" dirty="0">
              <a:latin typeface="Arial Black" panose="020B0A04020102020204" pitchFamily="34" charset="0"/>
            </a:endParaRPr>
          </a:p>
        </p:txBody>
      </p:sp>
      <p:pic>
        <p:nvPicPr>
          <p:cNvPr id="3" name="Picture 2">
            <a:extLst>
              <a:ext uri="{FF2B5EF4-FFF2-40B4-BE49-F238E27FC236}">
                <a16:creationId xmlns:a16="http://schemas.microsoft.com/office/drawing/2014/main" id="{0A889FA4-D2E4-DA4E-9D06-2D6D738B29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39252" y="3576637"/>
            <a:ext cx="7465332" cy="72735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81914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4"/>
          <p:cNvSpPr txBox="1"/>
          <p:nvPr/>
        </p:nvSpPr>
        <p:spPr>
          <a:xfrm>
            <a:off x="0" y="0"/>
            <a:ext cx="20104101" cy="11309350"/>
          </a:xfrm>
          <a:prstGeom prst="rect">
            <a:avLst/>
          </a:prstGeom>
          <a:solidFill>
            <a:schemeClr val="lt1">
              <a:alpha val="98431"/>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5" name="Google Shape;85;p4"/>
          <p:cNvSpPr txBox="1"/>
          <p:nvPr/>
        </p:nvSpPr>
        <p:spPr>
          <a:xfrm>
            <a:off x="2479675" y="3687762"/>
            <a:ext cx="15497100" cy="227700"/>
          </a:xfrm>
          <a:prstGeom prst="rect">
            <a:avLst/>
          </a:prstGeom>
          <a:noFill/>
          <a:ln>
            <a:noFill/>
          </a:ln>
        </p:spPr>
        <p:txBody>
          <a:bodyPr spcFirstLastPara="1" wrap="square" lIns="0" tIns="12050" rIns="0" bIns="0" anchor="t" anchorCtr="0">
            <a:spAutoFit/>
          </a:bodyPr>
          <a:lstStyle/>
          <a:p>
            <a:pPr marL="457200" marR="0" lvl="0" indent="0" algn="just" rtl="0">
              <a:lnSpc>
                <a:spcPct val="101000"/>
              </a:lnSpc>
              <a:spcBef>
                <a:spcPts val="0"/>
              </a:spcBef>
              <a:spcAft>
                <a:spcPts val="0"/>
              </a:spcAft>
              <a:buNone/>
            </a:pPr>
            <a:endParaRPr dirty="0"/>
          </a:p>
        </p:txBody>
      </p:sp>
      <p:sp>
        <p:nvSpPr>
          <p:cNvPr id="86" name="Google Shape;86;p4"/>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7" name="Google Shape;87;p4"/>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8" name="Google Shape;88;p4"/>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9" name="Google Shape;89;p4"/>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90" name="Google Shape;90;p4"/>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RV College of</a:t>
            </a:r>
            <a:endParaRPr dirty="0"/>
          </a:p>
          <a:p>
            <a:pPr marL="12700" marR="0" lvl="0" indent="0" algn="l" rtl="0">
              <a:lnSpc>
                <a:spcPct val="106250"/>
              </a:lnSpc>
              <a:spcBef>
                <a:spcPts val="10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Engineering </a:t>
            </a:r>
            <a:endParaRPr dirty="0"/>
          </a:p>
        </p:txBody>
      </p:sp>
      <p:sp>
        <p:nvSpPr>
          <p:cNvPr id="92" name="Google Shape;92;p4"/>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dirty="0">
                <a:solidFill>
                  <a:srgbClr val="422C75"/>
                </a:solidFill>
                <a:latin typeface="Playfair Display"/>
                <a:ea typeface="Playfair Display"/>
                <a:cs typeface="Playfair Display"/>
                <a:sym typeface="Playfair Display"/>
              </a:rPr>
              <a:t>Go, change the world</a:t>
            </a:r>
            <a:endParaRPr dirty="0"/>
          </a:p>
        </p:txBody>
      </p:sp>
      <p:sp>
        <p:nvSpPr>
          <p:cNvPr id="93" name="Google Shape;93;p4"/>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a:t>
            </a:r>
            <a:endParaRPr dirty="0"/>
          </a:p>
        </p:txBody>
      </p:sp>
      <p:sp>
        <p:nvSpPr>
          <p:cNvPr id="94" name="Google Shape;94;p4"/>
          <p:cNvSpPr txBox="1"/>
          <p:nvPr/>
        </p:nvSpPr>
        <p:spPr>
          <a:xfrm>
            <a:off x="6835775" y="10517187"/>
            <a:ext cx="6432550" cy="56673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Department of ECE</a:t>
            </a:r>
            <a:endParaRPr dirty="0"/>
          </a:p>
        </p:txBody>
      </p:sp>
      <p:sp>
        <p:nvSpPr>
          <p:cNvPr id="95" name="Google Shape;95;p4"/>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13</a:t>
            </a:fld>
            <a:endParaRPr dirty="0"/>
          </a:p>
        </p:txBody>
      </p:sp>
      <p:pic>
        <p:nvPicPr>
          <p:cNvPr id="4" name="Picture 3" descr="A blue circle with a black background">
            <a:extLst>
              <a:ext uri="{FF2B5EF4-FFF2-40B4-BE49-F238E27FC236}">
                <a16:creationId xmlns:a16="http://schemas.microsoft.com/office/drawing/2014/main" id="{AA3A6208-1AC4-0ACE-63A4-A1E320928569}"/>
              </a:ext>
            </a:extLst>
          </p:cNvPr>
          <p:cNvPicPr>
            <a:picLocks noChangeAspect="1"/>
          </p:cNvPicPr>
          <p:nvPr/>
        </p:nvPicPr>
        <p:blipFill rotWithShape="1">
          <a:blip r:embed="rId4"/>
          <a:srcRect t="6796" r="39773" b="4735"/>
          <a:stretch/>
        </p:blipFill>
        <p:spPr>
          <a:xfrm>
            <a:off x="239315" y="1612901"/>
            <a:ext cx="8382172" cy="7959721"/>
          </a:xfrm>
          <a:prstGeom prst="rect">
            <a:avLst/>
          </a:prstGeom>
        </p:spPr>
      </p:pic>
      <p:sp>
        <p:nvSpPr>
          <p:cNvPr id="2" name="TextBox 1">
            <a:extLst>
              <a:ext uri="{FF2B5EF4-FFF2-40B4-BE49-F238E27FC236}">
                <a16:creationId xmlns:a16="http://schemas.microsoft.com/office/drawing/2014/main" id="{F2266D5F-17A7-B825-0AB8-6E65E008047C}"/>
              </a:ext>
            </a:extLst>
          </p:cNvPr>
          <p:cNvSpPr txBox="1"/>
          <p:nvPr/>
        </p:nvSpPr>
        <p:spPr>
          <a:xfrm>
            <a:off x="8371114" y="4309126"/>
            <a:ext cx="11225894" cy="2800767"/>
          </a:xfrm>
          <a:prstGeom prst="rect">
            <a:avLst/>
          </a:prstGeom>
          <a:noFill/>
        </p:spPr>
        <p:txBody>
          <a:bodyPr wrap="square" rtlCol="0">
            <a:spAutoFit/>
          </a:bodyPr>
          <a:lstStyle/>
          <a:p>
            <a:pPr algn="just"/>
            <a:r>
              <a:rPr lang="en-US" sz="4400" b="1"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“Design an electronic differential system to optimize torque distribution between the wheels of a vehicle, enhancing stability and control during turns.”</a:t>
            </a:r>
            <a:endParaRPr lang="en-IN" sz="36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71674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4"/>
          <p:cNvSpPr txBox="1"/>
          <p:nvPr/>
        </p:nvSpPr>
        <p:spPr>
          <a:xfrm>
            <a:off x="0" y="-98853"/>
            <a:ext cx="20104101" cy="11309350"/>
          </a:xfrm>
          <a:prstGeom prst="rect">
            <a:avLst/>
          </a:prstGeom>
          <a:solidFill>
            <a:schemeClr val="lt1">
              <a:alpha val="98431"/>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5" name="Google Shape;85;p4"/>
          <p:cNvSpPr txBox="1"/>
          <p:nvPr/>
        </p:nvSpPr>
        <p:spPr>
          <a:xfrm>
            <a:off x="1171724" y="1912093"/>
            <a:ext cx="16399584" cy="7677984"/>
          </a:xfrm>
          <a:prstGeom prst="rect">
            <a:avLst/>
          </a:prstGeom>
          <a:noFill/>
          <a:ln>
            <a:noFill/>
          </a:ln>
        </p:spPr>
        <p:txBody>
          <a:bodyPr spcFirstLastPara="1" wrap="square" lIns="0" tIns="12050" rIns="0" bIns="0" anchor="t" anchorCtr="0">
            <a:spAutoFit/>
          </a:bodyPr>
          <a:lstStyle/>
          <a:p>
            <a:pPr algn="just"/>
            <a:r>
              <a:rPr lang="en-US" sz="3600" b="1" u="sng" dirty="0"/>
              <a:t>Objectives</a:t>
            </a:r>
            <a:endParaRPr lang="en-US" sz="1600" b="1" u="sng" dirty="0"/>
          </a:p>
          <a:p>
            <a:pPr algn="just"/>
            <a:endParaRPr lang="en-US" sz="3200" dirty="0"/>
          </a:p>
          <a:p>
            <a:pPr marL="742950" indent="-742950" algn="just">
              <a:buFont typeface="Wingdings" panose="05000000000000000000" pitchFamily="2" charset="2"/>
              <a:buChar char="q"/>
            </a:pPr>
            <a:r>
              <a:rPr lang="en-US" sz="3200" b="1" dirty="0"/>
              <a:t>Derive equations for the angular velocity: </a:t>
            </a:r>
            <a:r>
              <a:rPr lang="en-US" sz="3200" dirty="0"/>
              <a:t>The equations for angular velocity is derived based on the concept of centripetal force. The equations represent angular velocity in terms of throttle and steering angle along with physical parameter of vehicle. </a:t>
            </a:r>
          </a:p>
          <a:p>
            <a:pPr marL="742950" indent="-742950" algn="just">
              <a:buAutoNum type="arabicPeriod"/>
            </a:pPr>
            <a:endParaRPr lang="en-US" sz="3200" dirty="0"/>
          </a:p>
          <a:p>
            <a:pPr marL="742950" indent="-742950" algn="just">
              <a:buFont typeface="Wingdings" panose="05000000000000000000" pitchFamily="2" charset="2"/>
              <a:buChar char="q"/>
            </a:pPr>
            <a:r>
              <a:rPr lang="en-US" sz="3200" b="1" dirty="0"/>
              <a:t>Mathematical Modelling: </a:t>
            </a:r>
            <a:r>
              <a:rPr lang="en-US" sz="3200" dirty="0"/>
              <a:t>Develop a SIMULINK model for the derived equations and simulate the output </a:t>
            </a:r>
            <a:r>
              <a:rPr lang="en-US" sz="3200" dirty="0" err="1"/>
              <a:t>i.e</a:t>
            </a:r>
            <a:r>
              <a:rPr lang="en-US" sz="3200" dirty="0"/>
              <a:t> the speed of each motor at different throttle and steering angle.</a:t>
            </a:r>
          </a:p>
          <a:p>
            <a:pPr algn="just"/>
            <a:r>
              <a:rPr lang="en-US" sz="3200" dirty="0"/>
              <a:t> </a:t>
            </a:r>
          </a:p>
          <a:p>
            <a:pPr marL="742950" indent="-742950" algn="just">
              <a:buFont typeface="Wingdings" panose="05000000000000000000" pitchFamily="2" charset="2"/>
              <a:buChar char="q"/>
            </a:pPr>
            <a:r>
              <a:rPr lang="en-US" sz="3200" b="1" dirty="0"/>
              <a:t>Develop Final Model: </a:t>
            </a:r>
            <a:r>
              <a:rPr lang="en-US" sz="3200" dirty="0"/>
              <a:t>The final model consists of a virtual steering and throttle using Arduino cloud to control the physical model of an E-vehicle. Wheel Encoders are used to verify the speed of each wheel.</a:t>
            </a:r>
          </a:p>
          <a:p>
            <a:pPr algn="just"/>
            <a:endParaRPr lang="en-US" sz="3200" dirty="0"/>
          </a:p>
          <a:p>
            <a:pPr marR="0" lvl="0" indent="0" algn="just">
              <a:spcBef>
                <a:spcPts val="0"/>
              </a:spcBef>
              <a:spcAft>
                <a:spcPts val="0"/>
              </a:spcAft>
              <a:buNone/>
            </a:pPr>
            <a:endParaRPr lang="en-US" sz="3200" dirty="0"/>
          </a:p>
          <a:p>
            <a:pPr algn="just"/>
            <a:endParaRPr lang="en-US" sz="3200" dirty="0"/>
          </a:p>
          <a:p>
            <a:pPr marL="457200" algn="just">
              <a:lnSpc>
                <a:spcPct val="101000"/>
              </a:lnSpc>
            </a:pPr>
            <a:endParaRPr lang="en-US" dirty="0"/>
          </a:p>
        </p:txBody>
      </p:sp>
      <p:sp>
        <p:nvSpPr>
          <p:cNvPr id="86" name="Google Shape;86;p4"/>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7" name="Google Shape;87;p4"/>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8" name="Google Shape;88;p4"/>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9" name="Google Shape;89;p4"/>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90" name="Google Shape;90;p4"/>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a:solidFill>
                  <a:srgbClr val="231F20"/>
                </a:solidFill>
                <a:latin typeface="Helvetica Neue"/>
                <a:ea typeface="Helvetica Neue"/>
                <a:cs typeface="Helvetica Neue"/>
                <a:sym typeface="Helvetica Neue"/>
              </a:rPr>
              <a:t>RV College of</a:t>
            </a:r>
            <a:endParaRPr/>
          </a:p>
          <a:p>
            <a:pPr marL="12700" marR="0" lvl="0" indent="0" algn="l" rtl="0">
              <a:lnSpc>
                <a:spcPct val="106250"/>
              </a:lnSpc>
              <a:spcBef>
                <a:spcPts val="100"/>
              </a:spcBef>
              <a:spcAft>
                <a:spcPts val="0"/>
              </a:spcAft>
              <a:buClr>
                <a:srgbClr val="231F20"/>
              </a:buClr>
              <a:buSzPts val="1600"/>
              <a:buFont typeface="Helvetica Neue"/>
              <a:buNone/>
            </a:pPr>
            <a:r>
              <a:rPr lang="en-US" sz="1600" b="1" i="0" u="none">
                <a:solidFill>
                  <a:srgbClr val="231F20"/>
                </a:solidFill>
                <a:latin typeface="Helvetica Neue"/>
                <a:ea typeface="Helvetica Neue"/>
                <a:cs typeface="Helvetica Neue"/>
                <a:sym typeface="Helvetica Neue"/>
              </a:rPr>
              <a:t>Engineering </a:t>
            </a:r>
            <a:endParaRPr/>
          </a:p>
        </p:txBody>
      </p:sp>
      <p:sp>
        <p:nvSpPr>
          <p:cNvPr id="92" name="Google Shape;92;p4"/>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a:solidFill>
                  <a:srgbClr val="422C75"/>
                </a:solidFill>
                <a:latin typeface="Playfair Display"/>
                <a:ea typeface="Playfair Display"/>
                <a:cs typeface="Playfair Display"/>
                <a:sym typeface="Playfair Display"/>
              </a:rPr>
              <a:t>Go, change the world</a:t>
            </a:r>
            <a:endParaRPr/>
          </a:p>
        </p:txBody>
      </p:sp>
      <p:sp>
        <p:nvSpPr>
          <p:cNvPr id="93" name="Google Shape;93;p4"/>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a:solidFill>
                  <a:srgbClr val="898989"/>
                </a:solidFill>
                <a:latin typeface="Calibri"/>
                <a:ea typeface="Calibri"/>
                <a:cs typeface="Calibri"/>
                <a:sym typeface="Calibri"/>
              </a:rPr>
              <a:t>*</a:t>
            </a:r>
            <a:endParaRPr/>
          </a:p>
        </p:txBody>
      </p:sp>
      <p:sp>
        <p:nvSpPr>
          <p:cNvPr id="94" name="Google Shape;94;p4"/>
          <p:cNvSpPr txBox="1"/>
          <p:nvPr/>
        </p:nvSpPr>
        <p:spPr>
          <a:xfrm>
            <a:off x="6835775" y="10517187"/>
            <a:ext cx="6432550" cy="56673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a:solidFill>
                  <a:srgbClr val="898989"/>
                </a:solidFill>
                <a:latin typeface="Calibri"/>
                <a:ea typeface="Calibri"/>
                <a:cs typeface="Calibri"/>
                <a:sym typeface="Calibri"/>
              </a:rPr>
              <a:t>Department of ECE</a:t>
            </a:r>
            <a:endParaRPr/>
          </a:p>
        </p:txBody>
      </p:sp>
      <p:sp>
        <p:nvSpPr>
          <p:cNvPr id="95" name="Google Shape;95;p4"/>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14</a:t>
            </a:fld>
            <a:endParaRPr/>
          </a:p>
        </p:txBody>
      </p:sp>
    </p:spTree>
    <p:extLst>
      <p:ext uri="{BB962C8B-B14F-4D97-AF65-F5344CB8AC3E}">
        <p14:creationId xmlns:p14="http://schemas.microsoft.com/office/powerpoint/2010/main" val="3978172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4"/>
          <p:cNvSpPr txBox="1"/>
          <p:nvPr/>
        </p:nvSpPr>
        <p:spPr>
          <a:xfrm>
            <a:off x="0" y="0"/>
            <a:ext cx="20104101" cy="11309350"/>
          </a:xfrm>
          <a:prstGeom prst="rect">
            <a:avLst/>
          </a:prstGeom>
          <a:solidFill>
            <a:schemeClr val="lt1">
              <a:alpha val="98431"/>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5" name="Google Shape;85;p4"/>
          <p:cNvSpPr txBox="1"/>
          <p:nvPr/>
        </p:nvSpPr>
        <p:spPr>
          <a:xfrm>
            <a:off x="1171724" y="1912093"/>
            <a:ext cx="17132929" cy="8601314"/>
          </a:xfrm>
          <a:prstGeom prst="rect">
            <a:avLst/>
          </a:prstGeom>
          <a:noFill/>
          <a:ln>
            <a:noFill/>
          </a:ln>
        </p:spPr>
        <p:txBody>
          <a:bodyPr spcFirstLastPara="1" wrap="square" lIns="0" tIns="12050" rIns="0" bIns="0" anchor="t" anchorCtr="0">
            <a:spAutoFit/>
          </a:bodyPr>
          <a:lstStyle/>
          <a:p>
            <a:pPr algn="just"/>
            <a:r>
              <a:rPr lang="en-US" sz="3200" dirty="0"/>
              <a:t>Using an electronic differential in electric vehicles (EVs) instead of a traditional mechanical differential can offer several benefits to Society</a:t>
            </a:r>
            <a:endParaRPr lang="en-US" dirty="0"/>
          </a:p>
          <a:p>
            <a:pPr algn="just"/>
            <a:endParaRPr lang="en-US" sz="3200" dirty="0"/>
          </a:p>
          <a:p>
            <a:pPr marL="457200" indent="-457200" algn="just">
              <a:buFont typeface="Wingdings"/>
              <a:buChar char="q"/>
            </a:pPr>
            <a:r>
              <a:rPr lang="en-US" sz="3200" b="1" dirty="0"/>
              <a:t>Drivers and Vehicle Owners</a:t>
            </a:r>
            <a:r>
              <a:rPr lang="en-US" sz="3200" dirty="0"/>
              <a:t>:</a:t>
            </a:r>
            <a:endParaRPr lang="en-US" dirty="0"/>
          </a:p>
          <a:p>
            <a:pPr algn="just"/>
            <a:r>
              <a:rPr lang="en-US" sz="3200" dirty="0"/>
              <a:t>         </a:t>
            </a:r>
            <a:r>
              <a:rPr lang="en-US" sz="3200" dirty="0" err="1"/>
              <a:t>i</a:t>
            </a:r>
            <a:r>
              <a:rPr lang="en-US" sz="3200" dirty="0"/>
              <a:t>. Improved Performance</a:t>
            </a:r>
            <a:endParaRPr lang="en-US" dirty="0"/>
          </a:p>
          <a:p>
            <a:pPr algn="just"/>
            <a:r>
              <a:rPr lang="en-US" sz="3200" dirty="0"/>
              <a:t>        ii. Enhanced Safety</a:t>
            </a:r>
            <a:endParaRPr lang="en-US" dirty="0"/>
          </a:p>
          <a:p>
            <a:pPr algn="just"/>
            <a:r>
              <a:rPr lang="en-US" sz="3200" dirty="0"/>
              <a:t>       iii. Customizable Driving Modes</a:t>
            </a:r>
            <a:endParaRPr lang="en-US" dirty="0"/>
          </a:p>
          <a:p>
            <a:pPr algn="just"/>
            <a:endParaRPr lang="en-US" sz="3200" dirty="0"/>
          </a:p>
          <a:p>
            <a:pPr algn="just"/>
            <a:r>
              <a:rPr lang="en-US" sz="3200" dirty="0">
                <a:latin typeface="Wingdings"/>
                <a:sym typeface="Wingdings"/>
              </a:rPr>
              <a:t>q</a:t>
            </a:r>
            <a:r>
              <a:rPr lang="en-US" sz="3200" dirty="0"/>
              <a:t> </a:t>
            </a:r>
            <a:r>
              <a:rPr lang="en-US" sz="3200" b="1" dirty="0"/>
              <a:t>Automotive Manufacturers:</a:t>
            </a:r>
            <a:endParaRPr lang="en-US" b="1" dirty="0"/>
          </a:p>
          <a:p>
            <a:pPr algn="just"/>
            <a:r>
              <a:rPr lang="en-US" sz="3200" dirty="0"/>
              <a:t>         </a:t>
            </a:r>
            <a:r>
              <a:rPr lang="en-US" sz="3200" dirty="0" err="1"/>
              <a:t>i</a:t>
            </a:r>
            <a:r>
              <a:rPr lang="en-US" sz="3200" dirty="0"/>
              <a:t>. Technological Leadership</a:t>
            </a:r>
            <a:endParaRPr lang="en-US" dirty="0"/>
          </a:p>
          <a:p>
            <a:pPr algn="just"/>
            <a:r>
              <a:rPr lang="en-US" sz="3200" dirty="0"/>
              <a:t>        ii.  Brand value</a:t>
            </a:r>
            <a:endParaRPr lang="en-US" dirty="0"/>
          </a:p>
          <a:p>
            <a:pPr algn="just"/>
            <a:endParaRPr lang="en-US" sz="3200" dirty="0"/>
          </a:p>
          <a:p>
            <a:pPr marL="457200" indent="-457200" algn="just">
              <a:buFont typeface="Wingdings"/>
              <a:buChar char="q"/>
            </a:pPr>
            <a:r>
              <a:rPr lang="en-US" sz="3200" b="1" dirty="0"/>
              <a:t>Environmental Impact:</a:t>
            </a:r>
            <a:endParaRPr lang="en-US" b="1" dirty="0"/>
          </a:p>
          <a:p>
            <a:pPr algn="just"/>
            <a:r>
              <a:rPr lang="en-US" sz="3200" dirty="0"/>
              <a:t>         </a:t>
            </a:r>
            <a:r>
              <a:rPr lang="en-US" sz="3200" dirty="0" err="1"/>
              <a:t>i</a:t>
            </a:r>
            <a:r>
              <a:rPr lang="en-US" sz="3200" dirty="0"/>
              <a:t>. Efficient Power Distribution</a:t>
            </a:r>
            <a:endParaRPr lang="en-US" dirty="0"/>
          </a:p>
          <a:p>
            <a:pPr algn="just"/>
            <a:r>
              <a:rPr lang="en-US" sz="3200" dirty="0"/>
              <a:t>        ii. Reduced Tire Wear</a:t>
            </a:r>
            <a:endParaRPr lang="en-US" dirty="0"/>
          </a:p>
          <a:p>
            <a:pPr marR="0" lvl="0" indent="0" algn="just">
              <a:spcBef>
                <a:spcPts val="0"/>
              </a:spcBef>
              <a:spcAft>
                <a:spcPts val="0"/>
              </a:spcAft>
              <a:buNone/>
            </a:pPr>
            <a:endParaRPr lang="en-US" sz="3200" dirty="0"/>
          </a:p>
          <a:p>
            <a:pPr algn="just"/>
            <a:endParaRPr lang="en-US" sz="3200" dirty="0"/>
          </a:p>
          <a:p>
            <a:pPr marL="457200" algn="just">
              <a:lnSpc>
                <a:spcPct val="101000"/>
              </a:lnSpc>
            </a:pPr>
            <a:endParaRPr lang="en-US" dirty="0"/>
          </a:p>
        </p:txBody>
      </p:sp>
      <p:sp>
        <p:nvSpPr>
          <p:cNvPr id="86" name="Google Shape;86;p4"/>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7" name="Google Shape;87;p4"/>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8" name="Google Shape;88;p4"/>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9" name="Google Shape;89;p4"/>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90" name="Google Shape;90;p4"/>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a:solidFill>
                  <a:srgbClr val="231F20"/>
                </a:solidFill>
                <a:latin typeface="Helvetica Neue"/>
                <a:ea typeface="Helvetica Neue"/>
                <a:cs typeface="Helvetica Neue"/>
                <a:sym typeface="Helvetica Neue"/>
              </a:rPr>
              <a:t>RV College of</a:t>
            </a:r>
            <a:endParaRPr/>
          </a:p>
          <a:p>
            <a:pPr marL="12700" marR="0" lvl="0" indent="0" algn="l" rtl="0">
              <a:lnSpc>
                <a:spcPct val="106250"/>
              </a:lnSpc>
              <a:spcBef>
                <a:spcPts val="100"/>
              </a:spcBef>
              <a:spcAft>
                <a:spcPts val="0"/>
              </a:spcAft>
              <a:buClr>
                <a:srgbClr val="231F20"/>
              </a:buClr>
              <a:buSzPts val="1600"/>
              <a:buFont typeface="Helvetica Neue"/>
              <a:buNone/>
            </a:pPr>
            <a:r>
              <a:rPr lang="en-US" sz="1600" b="1" i="0" u="none">
                <a:solidFill>
                  <a:srgbClr val="231F20"/>
                </a:solidFill>
                <a:latin typeface="Helvetica Neue"/>
                <a:ea typeface="Helvetica Neue"/>
                <a:cs typeface="Helvetica Neue"/>
                <a:sym typeface="Helvetica Neue"/>
              </a:rPr>
              <a:t>Engineering </a:t>
            </a:r>
            <a:endParaRPr/>
          </a:p>
        </p:txBody>
      </p:sp>
      <p:sp>
        <p:nvSpPr>
          <p:cNvPr id="92" name="Google Shape;92;p4"/>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a:solidFill>
                  <a:srgbClr val="422C75"/>
                </a:solidFill>
                <a:latin typeface="Playfair Display"/>
                <a:ea typeface="Playfair Display"/>
                <a:cs typeface="Playfair Display"/>
                <a:sym typeface="Playfair Display"/>
              </a:rPr>
              <a:t>Go, change the world</a:t>
            </a:r>
            <a:endParaRPr/>
          </a:p>
        </p:txBody>
      </p:sp>
      <p:sp>
        <p:nvSpPr>
          <p:cNvPr id="93" name="Google Shape;93;p4"/>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a:solidFill>
                  <a:srgbClr val="898989"/>
                </a:solidFill>
                <a:latin typeface="Calibri"/>
                <a:ea typeface="Calibri"/>
                <a:cs typeface="Calibri"/>
                <a:sym typeface="Calibri"/>
              </a:rPr>
              <a:t>*</a:t>
            </a:r>
            <a:endParaRPr/>
          </a:p>
        </p:txBody>
      </p:sp>
      <p:sp>
        <p:nvSpPr>
          <p:cNvPr id="94" name="Google Shape;94;p4"/>
          <p:cNvSpPr txBox="1"/>
          <p:nvPr/>
        </p:nvSpPr>
        <p:spPr>
          <a:xfrm>
            <a:off x="6835775" y="10517187"/>
            <a:ext cx="6432550" cy="56673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a:solidFill>
                  <a:srgbClr val="898989"/>
                </a:solidFill>
                <a:latin typeface="Calibri"/>
                <a:ea typeface="Calibri"/>
                <a:cs typeface="Calibri"/>
                <a:sym typeface="Calibri"/>
              </a:rPr>
              <a:t>Department of ECE</a:t>
            </a:r>
            <a:endParaRPr/>
          </a:p>
        </p:txBody>
      </p:sp>
      <p:sp>
        <p:nvSpPr>
          <p:cNvPr id="95" name="Google Shape;95;p4"/>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15</a:t>
            </a:fld>
            <a:endParaRPr/>
          </a:p>
        </p:txBody>
      </p:sp>
    </p:spTree>
    <p:extLst>
      <p:ext uri="{BB962C8B-B14F-4D97-AF65-F5344CB8AC3E}">
        <p14:creationId xmlns:p14="http://schemas.microsoft.com/office/powerpoint/2010/main" val="39906914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4"/>
          <p:cNvSpPr txBox="1"/>
          <p:nvPr/>
        </p:nvSpPr>
        <p:spPr>
          <a:xfrm>
            <a:off x="0" y="-46486"/>
            <a:ext cx="20104101" cy="11309350"/>
          </a:xfrm>
          <a:prstGeom prst="rect">
            <a:avLst/>
          </a:prstGeom>
          <a:solidFill>
            <a:schemeClr val="lt1">
              <a:alpha val="98431"/>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5" name="Google Shape;85;p4"/>
          <p:cNvSpPr txBox="1"/>
          <p:nvPr/>
        </p:nvSpPr>
        <p:spPr>
          <a:xfrm>
            <a:off x="2479675" y="3687762"/>
            <a:ext cx="15497100" cy="227700"/>
          </a:xfrm>
          <a:prstGeom prst="rect">
            <a:avLst/>
          </a:prstGeom>
          <a:noFill/>
          <a:ln>
            <a:noFill/>
          </a:ln>
        </p:spPr>
        <p:txBody>
          <a:bodyPr spcFirstLastPara="1" wrap="square" lIns="0" tIns="12050" rIns="0" bIns="0" anchor="t" anchorCtr="0">
            <a:spAutoFit/>
          </a:bodyPr>
          <a:lstStyle/>
          <a:p>
            <a:pPr marL="457200" marR="0" lvl="0" indent="0" algn="just" rtl="0">
              <a:lnSpc>
                <a:spcPct val="101000"/>
              </a:lnSpc>
              <a:spcBef>
                <a:spcPts val="0"/>
              </a:spcBef>
              <a:spcAft>
                <a:spcPts val="0"/>
              </a:spcAft>
              <a:buNone/>
            </a:pPr>
            <a:endParaRPr dirty="0"/>
          </a:p>
        </p:txBody>
      </p:sp>
      <p:sp>
        <p:nvSpPr>
          <p:cNvPr id="86" name="Google Shape;86;p4"/>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7" name="Google Shape;87;p4"/>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8" name="Google Shape;88;p4"/>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9" name="Google Shape;89;p4"/>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90" name="Google Shape;90;p4"/>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RV College of</a:t>
            </a:r>
            <a:endParaRPr dirty="0"/>
          </a:p>
          <a:p>
            <a:pPr marL="12700" marR="0" lvl="0" indent="0" algn="l" rtl="0">
              <a:lnSpc>
                <a:spcPct val="106250"/>
              </a:lnSpc>
              <a:spcBef>
                <a:spcPts val="10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Engineering </a:t>
            </a:r>
            <a:endParaRPr dirty="0"/>
          </a:p>
        </p:txBody>
      </p:sp>
      <p:sp>
        <p:nvSpPr>
          <p:cNvPr id="92" name="Google Shape;92;p4"/>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dirty="0">
                <a:solidFill>
                  <a:srgbClr val="422C75"/>
                </a:solidFill>
                <a:latin typeface="Playfair Display"/>
                <a:ea typeface="Playfair Display"/>
                <a:cs typeface="Playfair Display"/>
                <a:sym typeface="Playfair Display"/>
              </a:rPr>
              <a:t>Go, change the world</a:t>
            </a:r>
            <a:endParaRPr dirty="0"/>
          </a:p>
        </p:txBody>
      </p:sp>
      <p:sp>
        <p:nvSpPr>
          <p:cNvPr id="93" name="Google Shape;93;p4"/>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a:t>
            </a:r>
            <a:endParaRPr dirty="0"/>
          </a:p>
        </p:txBody>
      </p:sp>
      <p:sp>
        <p:nvSpPr>
          <p:cNvPr id="94" name="Google Shape;94;p4"/>
          <p:cNvSpPr txBox="1"/>
          <p:nvPr/>
        </p:nvSpPr>
        <p:spPr>
          <a:xfrm>
            <a:off x="6835775" y="10517187"/>
            <a:ext cx="6432550" cy="56673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Department of ECE</a:t>
            </a:r>
            <a:endParaRPr dirty="0"/>
          </a:p>
        </p:txBody>
      </p:sp>
      <p:sp>
        <p:nvSpPr>
          <p:cNvPr id="95" name="Google Shape;95;p4"/>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16</a:t>
            </a:fld>
            <a:endParaRPr dirty="0"/>
          </a:p>
        </p:txBody>
      </p:sp>
      <p:pic>
        <p:nvPicPr>
          <p:cNvPr id="3" name="Picture 2">
            <a:extLst>
              <a:ext uri="{FF2B5EF4-FFF2-40B4-BE49-F238E27FC236}">
                <a16:creationId xmlns:a16="http://schemas.microsoft.com/office/drawing/2014/main" id="{9AB44D75-CE90-CB83-7002-C928E6F75BCA}"/>
              </a:ext>
            </a:extLst>
          </p:cNvPr>
          <p:cNvPicPr>
            <a:picLocks noChangeAspect="1"/>
          </p:cNvPicPr>
          <p:nvPr/>
        </p:nvPicPr>
        <p:blipFill rotWithShape="1">
          <a:blip r:embed="rId4"/>
          <a:srcRect t="4414" r="3963"/>
          <a:stretch/>
        </p:blipFill>
        <p:spPr>
          <a:xfrm>
            <a:off x="9093879" y="1514477"/>
            <a:ext cx="9760177" cy="7948648"/>
          </a:xfrm>
          <a:prstGeom prst="rect">
            <a:avLst/>
          </a:prstGeom>
        </p:spPr>
      </p:pic>
      <p:sp>
        <p:nvSpPr>
          <p:cNvPr id="4" name="TextBox 3">
            <a:extLst>
              <a:ext uri="{FF2B5EF4-FFF2-40B4-BE49-F238E27FC236}">
                <a16:creationId xmlns:a16="http://schemas.microsoft.com/office/drawing/2014/main" id="{3904110C-572D-DD09-7E02-FE368DA13CC5}"/>
              </a:ext>
            </a:extLst>
          </p:cNvPr>
          <p:cNvSpPr txBox="1"/>
          <p:nvPr/>
        </p:nvSpPr>
        <p:spPr>
          <a:xfrm>
            <a:off x="690338" y="1557118"/>
            <a:ext cx="7153496" cy="646331"/>
          </a:xfrm>
          <a:prstGeom prst="rect">
            <a:avLst/>
          </a:prstGeom>
          <a:noFill/>
        </p:spPr>
        <p:txBody>
          <a:bodyPr wrap="square" rtlCol="0">
            <a:spAutoFit/>
          </a:bodyPr>
          <a:lstStyle/>
          <a:p>
            <a:r>
              <a:rPr lang="en-US" sz="3600" b="1" dirty="0">
                <a:latin typeface="Calibri" panose="020F0502020204030204" pitchFamily="34" charset="0"/>
                <a:ea typeface="Calibri" panose="020F0502020204030204" pitchFamily="34" charset="0"/>
                <a:cs typeface="Calibri" panose="020F0502020204030204" pitchFamily="34" charset="0"/>
              </a:rPr>
              <a:t>Growth of Electrical Vehicles in India</a:t>
            </a:r>
            <a:endParaRPr lang="en-IN" sz="3600" b="1" dirty="0">
              <a:latin typeface="Calibri" panose="020F0502020204030204" pitchFamily="34" charset="0"/>
              <a:ea typeface="Calibri" panose="020F0502020204030204" pitchFamily="34" charset="0"/>
              <a:cs typeface="Calibri" panose="020F0502020204030204" pitchFamily="34" charset="0"/>
            </a:endParaRPr>
          </a:p>
        </p:txBody>
      </p:sp>
      <p:pic>
        <p:nvPicPr>
          <p:cNvPr id="9218" name="Picture 2">
            <a:extLst>
              <a:ext uri="{FF2B5EF4-FFF2-40B4-BE49-F238E27FC236}">
                <a16:creationId xmlns:a16="http://schemas.microsoft.com/office/drawing/2014/main" id="{064E3C8E-E210-E1E0-2BEF-7407D39069D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1179" y="3303328"/>
            <a:ext cx="8302700" cy="616904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8836A79-15C9-12B3-7517-9E4055402D2F}"/>
              </a:ext>
            </a:extLst>
          </p:cNvPr>
          <p:cNvSpPr txBox="1"/>
          <p:nvPr/>
        </p:nvSpPr>
        <p:spPr>
          <a:xfrm flipH="1">
            <a:off x="3756454" y="9666990"/>
            <a:ext cx="15779320" cy="646331"/>
          </a:xfrm>
          <a:prstGeom prst="rect">
            <a:avLst/>
          </a:prstGeom>
          <a:noFill/>
        </p:spPr>
        <p:txBody>
          <a:bodyPr wrap="square" rtlCol="0">
            <a:spAutoFit/>
          </a:bodyPr>
          <a:lstStyle/>
          <a:p>
            <a:r>
              <a:rPr lang="en-US" sz="3600" b="1" dirty="0">
                <a:latin typeface="Calibri" panose="020F0502020204030204" pitchFamily="34" charset="0"/>
                <a:ea typeface="Calibri" panose="020F0502020204030204" pitchFamily="34" charset="0"/>
                <a:cs typeface="Calibri" panose="020F0502020204030204" pitchFamily="34" charset="0"/>
              </a:rPr>
              <a:t>Fig.1  Growth of Electrical Vehicles in India</a:t>
            </a:r>
            <a:r>
              <a:rPr lang="en-IN" sz="3600" b="1" dirty="0">
                <a:latin typeface="Calibri" panose="020F0502020204030204" pitchFamily="34" charset="0"/>
                <a:ea typeface="Calibri" panose="020F0502020204030204" pitchFamily="34" charset="0"/>
                <a:cs typeface="Calibri" panose="020F0502020204030204" pitchFamily="34" charset="0"/>
              </a:rPr>
              <a:t> </a:t>
            </a:r>
            <a:r>
              <a:rPr lang="en-US" sz="3600" b="1" dirty="0">
                <a:latin typeface="Calibri" panose="020F0502020204030204" pitchFamily="34" charset="0"/>
                <a:ea typeface="Calibri" panose="020F0502020204030204" pitchFamily="34" charset="0"/>
                <a:cs typeface="Calibri" panose="020F0502020204030204" pitchFamily="34" charset="0"/>
              </a:rPr>
              <a:t>Financial Year-2022</a:t>
            </a:r>
            <a:endParaRPr lang="en-IN" sz="36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612325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4"/>
          <p:cNvSpPr txBox="1"/>
          <p:nvPr/>
        </p:nvSpPr>
        <p:spPr>
          <a:xfrm>
            <a:off x="-1" y="0"/>
            <a:ext cx="20104101" cy="11309350"/>
          </a:xfrm>
          <a:prstGeom prst="rect">
            <a:avLst/>
          </a:prstGeom>
          <a:solidFill>
            <a:schemeClr val="lt1">
              <a:alpha val="98431"/>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5" name="Google Shape;85;p4"/>
          <p:cNvSpPr txBox="1"/>
          <p:nvPr/>
        </p:nvSpPr>
        <p:spPr>
          <a:xfrm>
            <a:off x="2479675" y="3687762"/>
            <a:ext cx="15497100" cy="227700"/>
          </a:xfrm>
          <a:prstGeom prst="rect">
            <a:avLst/>
          </a:prstGeom>
          <a:noFill/>
          <a:ln>
            <a:noFill/>
          </a:ln>
        </p:spPr>
        <p:txBody>
          <a:bodyPr spcFirstLastPara="1" wrap="square" lIns="0" tIns="12050" rIns="0" bIns="0" anchor="t" anchorCtr="0">
            <a:spAutoFit/>
          </a:bodyPr>
          <a:lstStyle/>
          <a:p>
            <a:pPr marL="457200" marR="0" lvl="0" indent="0" algn="just" rtl="0">
              <a:lnSpc>
                <a:spcPct val="101000"/>
              </a:lnSpc>
              <a:spcBef>
                <a:spcPts val="0"/>
              </a:spcBef>
              <a:spcAft>
                <a:spcPts val="0"/>
              </a:spcAft>
              <a:buNone/>
            </a:pPr>
            <a:endParaRPr/>
          </a:p>
        </p:txBody>
      </p:sp>
      <p:sp>
        <p:nvSpPr>
          <p:cNvPr id="86" name="Google Shape;86;p4"/>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7" name="Google Shape;87;p4"/>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8" name="Google Shape;88;p4"/>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9" name="Google Shape;89;p4"/>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90" name="Google Shape;90;p4"/>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a:solidFill>
                  <a:srgbClr val="231F20"/>
                </a:solidFill>
                <a:latin typeface="Helvetica Neue"/>
                <a:ea typeface="Helvetica Neue"/>
                <a:cs typeface="Helvetica Neue"/>
                <a:sym typeface="Helvetica Neue"/>
              </a:rPr>
              <a:t>RV College of</a:t>
            </a:r>
            <a:endParaRPr/>
          </a:p>
          <a:p>
            <a:pPr marL="12700" marR="0" lvl="0" indent="0" algn="l" rtl="0">
              <a:lnSpc>
                <a:spcPct val="106250"/>
              </a:lnSpc>
              <a:spcBef>
                <a:spcPts val="100"/>
              </a:spcBef>
              <a:spcAft>
                <a:spcPts val="0"/>
              </a:spcAft>
              <a:buClr>
                <a:srgbClr val="231F20"/>
              </a:buClr>
              <a:buSzPts val="1600"/>
              <a:buFont typeface="Helvetica Neue"/>
              <a:buNone/>
            </a:pPr>
            <a:r>
              <a:rPr lang="en-US" sz="1600" b="1" i="0" u="none">
                <a:solidFill>
                  <a:srgbClr val="231F20"/>
                </a:solidFill>
                <a:latin typeface="Helvetica Neue"/>
                <a:ea typeface="Helvetica Neue"/>
                <a:cs typeface="Helvetica Neue"/>
                <a:sym typeface="Helvetica Neue"/>
              </a:rPr>
              <a:t>Engineering </a:t>
            </a:r>
            <a:endParaRPr/>
          </a:p>
        </p:txBody>
      </p:sp>
      <p:sp>
        <p:nvSpPr>
          <p:cNvPr id="92" name="Google Shape;92;p4"/>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a:solidFill>
                  <a:srgbClr val="422C75"/>
                </a:solidFill>
                <a:latin typeface="Playfair Display"/>
                <a:ea typeface="Playfair Display"/>
                <a:cs typeface="Playfair Display"/>
                <a:sym typeface="Playfair Display"/>
              </a:rPr>
              <a:t>Go, change the world</a:t>
            </a:r>
            <a:endParaRPr/>
          </a:p>
        </p:txBody>
      </p:sp>
      <p:sp>
        <p:nvSpPr>
          <p:cNvPr id="93" name="Google Shape;93;p4"/>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a:solidFill>
                  <a:srgbClr val="898989"/>
                </a:solidFill>
                <a:latin typeface="Calibri"/>
                <a:ea typeface="Calibri"/>
                <a:cs typeface="Calibri"/>
                <a:sym typeface="Calibri"/>
              </a:rPr>
              <a:t>*</a:t>
            </a:r>
            <a:endParaRPr/>
          </a:p>
        </p:txBody>
      </p:sp>
      <p:sp>
        <p:nvSpPr>
          <p:cNvPr id="94" name="Google Shape;94;p4"/>
          <p:cNvSpPr txBox="1"/>
          <p:nvPr/>
        </p:nvSpPr>
        <p:spPr>
          <a:xfrm>
            <a:off x="6835775" y="10517187"/>
            <a:ext cx="6432550" cy="56673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a:solidFill>
                  <a:srgbClr val="898989"/>
                </a:solidFill>
                <a:latin typeface="Calibri"/>
                <a:ea typeface="Calibri"/>
                <a:cs typeface="Calibri"/>
                <a:sym typeface="Calibri"/>
              </a:rPr>
              <a:t>Department of ECE</a:t>
            </a:r>
            <a:endParaRPr/>
          </a:p>
        </p:txBody>
      </p:sp>
      <p:sp>
        <p:nvSpPr>
          <p:cNvPr id="95" name="Google Shape;95;p4"/>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17</a:t>
            </a:fld>
            <a:endParaRPr/>
          </a:p>
        </p:txBody>
      </p:sp>
      <p:sp>
        <p:nvSpPr>
          <p:cNvPr id="2" name="TextBox 1">
            <a:extLst>
              <a:ext uri="{FF2B5EF4-FFF2-40B4-BE49-F238E27FC236}">
                <a16:creationId xmlns:a16="http://schemas.microsoft.com/office/drawing/2014/main" id="{3F9EE763-0354-29A9-0B83-BD89163B0D0E}"/>
              </a:ext>
            </a:extLst>
          </p:cNvPr>
          <p:cNvSpPr txBox="1"/>
          <p:nvPr/>
        </p:nvSpPr>
        <p:spPr>
          <a:xfrm>
            <a:off x="6142621" y="2021251"/>
            <a:ext cx="7347284" cy="1323439"/>
          </a:xfrm>
          <a:prstGeom prst="rect">
            <a:avLst/>
          </a:prstGeom>
          <a:noFill/>
        </p:spPr>
        <p:txBody>
          <a:bodyPr wrap="square" rtlCol="0">
            <a:spAutoFit/>
          </a:bodyPr>
          <a:lstStyle/>
          <a:p>
            <a:pPr algn="ctr"/>
            <a:r>
              <a:rPr lang="en-IN" sz="8000"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IDEATION PHASE</a:t>
            </a:r>
          </a:p>
        </p:txBody>
      </p:sp>
      <p:pic>
        <p:nvPicPr>
          <p:cNvPr id="2050" name="Picture 2">
            <a:extLst>
              <a:ext uri="{FF2B5EF4-FFF2-40B4-BE49-F238E27FC236}">
                <a16:creationId xmlns:a16="http://schemas.microsoft.com/office/drawing/2014/main" id="{E6F0961E-B199-4875-1CF0-50E3E35563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88659" y="4378883"/>
            <a:ext cx="11726779" cy="5452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45126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2" name="Google Shape;102;p5"/>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03" name="Google Shape;103;p5"/>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04" name="Google Shape;104;p5"/>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05" name="Google Shape;105;p5"/>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06" name="Google Shape;106;p5"/>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a:solidFill>
                  <a:srgbClr val="231F20"/>
                </a:solidFill>
                <a:latin typeface="Helvetica Neue"/>
                <a:ea typeface="Helvetica Neue"/>
                <a:cs typeface="Helvetica Neue"/>
                <a:sym typeface="Helvetica Neue"/>
              </a:rPr>
              <a:t>RV College of</a:t>
            </a:r>
            <a:endParaRPr/>
          </a:p>
          <a:p>
            <a:pPr marL="12700" marR="0" lvl="0" indent="0" algn="l" rtl="0">
              <a:lnSpc>
                <a:spcPct val="106250"/>
              </a:lnSpc>
              <a:spcBef>
                <a:spcPts val="100"/>
              </a:spcBef>
              <a:spcAft>
                <a:spcPts val="0"/>
              </a:spcAft>
              <a:buClr>
                <a:srgbClr val="231F20"/>
              </a:buClr>
              <a:buSzPts val="1600"/>
              <a:buFont typeface="Helvetica Neue"/>
              <a:buNone/>
            </a:pPr>
            <a:r>
              <a:rPr lang="en-US" sz="1600" b="1" i="0" u="none">
                <a:solidFill>
                  <a:srgbClr val="231F20"/>
                </a:solidFill>
                <a:latin typeface="Helvetica Neue"/>
                <a:ea typeface="Helvetica Neue"/>
                <a:cs typeface="Helvetica Neue"/>
                <a:sym typeface="Helvetica Neue"/>
              </a:rPr>
              <a:t>Engineering </a:t>
            </a:r>
            <a:endParaRPr/>
          </a:p>
        </p:txBody>
      </p:sp>
      <p:sp>
        <p:nvSpPr>
          <p:cNvPr id="108" name="Google Shape;108;p5"/>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a:solidFill>
                  <a:srgbClr val="422C75"/>
                </a:solidFill>
                <a:latin typeface="Playfair Display"/>
                <a:ea typeface="Playfair Display"/>
                <a:cs typeface="Playfair Display"/>
                <a:sym typeface="Playfair Display"/>
              </a:rPr>
              <a:t>Go, change the world</a:t>
            </a:r>
            <a:endParaRPr/>
          </a:p>
        </p:txBody>
      </p:sp>
      <p:sp>
        <p:nvSpPr>
          <p:cNvPr id="109" name="Google Shape;109;p5"/>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a:solidFill>
                  <a:srgbClr val="898989"/>
                </a:solidFill>
                <a:latin typeface="Calibri"/>
                <a:ea typeface="Calibri"/>
                <a:cs typeface="Calibri"/>
                <a:sym typeface="Calibri"/>
              </a:rPr>
              <a:t>*</a:t>
            </a:r>
            <a:endParaRPr/>
          </a:p>
        </p:txBody>
      </p:sp>
      <p:sp>
        <p:nvSpPr>
          <p:cNvPr id="110" name="Google Shape;110;p5"/>
          <p:cNvSpPr txBox="1"/>
          <p:nvPr/>
        </p:nvSpPr>
        <p:spPr>
          <a:xfrm>
            <a:off x="6835775" y="10517187"/>
            <a:ext cx="6432550" cy="56673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a:solidFill>
                  <a:srgbClr val="898989"/>
                </a:solidFill>
                <a:latin typeface="Calibri"/>
                <a:ea typeface="Calibri"/>
                <a:cs typeface="Calibri"/>
                <a:sym typeface="Calibri"/>
              </a:rPr>
              <a:t>Department of ECE</a:t>
            </a:r>
            <a:endParaRPr/>
          </a:p>
        </p:txBody>
      </p:sp>
      <p:sp>
        <p:nvSpPr>
          <p:cNvPr id="111" name="Google Shape;111;p5"/>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18</a:t>
            </a:fld>
            <a:endParaRPr/>
          </a:p>
        </p:txBody>
      </p:sp>
      <p:sp>
        <p:nvSpPr>
          <p:cNvPr id="6" name="TextBox 5">
            <a:extLst>
              <a:ext uri="{FF2B5EF4-FFF2-40B4-BE49-F238E27FC236}">
                <a16:creationId xmlns:a16="http://schemas.microsoft.com/office/drawing/2014/main" id="{8C3AAFE3-242D-8738-7B7F-27EFEDDC7396}"/>
              </a:ext>
            </a:extLst>
          </p:cNvPr>
          <p:cNvSpPr txBox="1"/>
          <p:nvPr/>
        </p:nvSpPr>
        <p:spPr>
          <a:xfrm>
            <a:off x="1004887" y="1285874"/>
            <a:ext cx="10027502" cy="769441"/>
          </a:xfrm>
          <a:prstGeom prst="rect">
            <a:avLst/>
          </a:prstGeom>
          <a:noFill/>
        </p:spPr>
        <p:txBody>
          <a:bodyPr wrap="square" rtlCol="0">
            <a:spAutoFit/>
          </a:bodyPr>
          <a:lstStyle/>
          <a:p>
            <a:r>
              <a:rPr lang="en-IN" sz="4400" b="1" dirty="0"/>
              <a:t>IDEATION:</a:t>
            </a:r>
          </a:p>
        </p:txBody>
      </p:sp>
      <p:sp>
        <p:nvSpPr>
          <p:cNvPr id="9" name="TextBox 8">
            <a:extLst>
              <a:ext uri="{FF2B5EF4-FFF2-40B4-BE49-F238E27FC236}">
                <a16:creationId xmlns:a16="http://schemas.microsoft.com/office/drawing/2014/main" id="{CE2F10FF-CCA8-35F2-9D02-0C7BA113D942}"/>
              </a:ext>
            </a:extLst>
          </p:cNvPr>
          <p:cNvSpPr txBox="1"/>
          <p:nvPr/>
        </p:nvSpPr>
        <p:spPr>
          <a:xfrm>
            <a:off x="818147" y="2055315"/>
            <a:ext cx="12689305" cy="9211561"/>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IN" sz="4000" dirty="0"/>
              <a:t> To develop an e-differential model that plays key role in delivering necessary angular velocity to different wheels.</a:t>
            </a:r>
          </a:p>
          <a:p>
            <a:pPr marL="285750" indent="-285750">
              <a:lnSpc>
                <a:spcPct val="150000"/>
              </a:lnSpc>
              <a:buFont typeface="Wingdings" panose="05000000000000000000" pitchFamily="2" charset="2"/>
              <a:buChar char="Ø"/>
            </a:pPr>
            <a:r>
              <a:rPr lang="en-IN" sz="4000" dirty="0"/>
              <a:t>The aim is to replace bulky mechanical differentials and provide faster turning mechanism in vehicles</a:t>
            </a:r>
          </a:p>
          <a:p>
            <a:pPr marL="285750" indent="-285750">
              <a:lnSpc>
                <a:spcPct val="150000"/>
              </a:lnSpc>
              <a:buFont typeface="Wingdings" panose="05000000000000000000" pitchFamily="2" charset="2"/>
              <a:buChar char="Ø"/>
            </a:pPr>
            <a:r>
              <a:rPr lang="en-IN" sz="4000" dirty="0"/>
              <a:t>Along with which reduce the power consumption as E-Diff use low power microcontrollers.</a:t>
            </a:r>
          </a:p>
          <a:p>
            <a:pPr marL="285750" indent="-285750">
              <a:lnSpc>
                <a:spcPct val="150000"/>
              </a:lnSpc>
              <a:buFont typeface="Wingdings" panose="05000000000000000000" pitchFamily="2" charset="2"/>
              <a:buChar char="Ø"/>
            </a:pPr>
            <a:r>
              <a:rPr lang="en-IN" sz="4000" dirty="0"/>
              <a:t>This phase is the journey through the simulation work along with the progress in hardware department.</a:t>
            </a:r>
          </a:p>
          <a:p>
            <a:pPr marL="285750" indent="-285750">
              <a:lnSpc>
                <a:spcPct val="150000"/>
              </a:lnSpc>
              <a:buFont typeface="Wingdings" panose="05000000000000000000" pitchFamily="2" charset="2"/>
              <a:buChar char="Ø"/>
            </a:pPr>
            <a:endParaRPr lang="en-IN" sz="4000" dirty="0"/>
          </a:p>
        </p:txBody>
      </p:sp>
      <p:pic>
        <p:nvPicPr>
          <p:cNvPr id="1038" name="Picture 14" descr="Explore drivetrain designs with Romax Concept">
            <a:extLst>
              <a:ext uri="{FF2B5EF4-FFF2-40B4-BE49-F238E27FC236}">
                <a16:creationId xmlns:a16="http://schemas.microsoft.com/office/drawing/2014/main" id="{B7B0119B-70D6-B51F-318F-4040835E32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57426" y="1285875"/>
            <a:ext cx="5055046" cy="4368799"/>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Electronic differential in electric vehicles">
            <a:extLst>
              <a:ext uri="{FF2B5EF4-FFF2-40B4-BE49-F238E27FC236}">
                <a16:creationId xmlns:a16="http://schemas.microsoft.com/office/drawing/2014/main" id="{02CF9C76-A582-B461-68AF-BA724CDA103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130754" y="6356671"/>
            <a:ext cx="5405020" cy="392645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55EC757-730C-08EE-A2EA-7E80523230FD}"/>
              </a:ext>
            </a:extLst>
          </p:cNvPr>
          <p:cNvSpPr txBox="1"/>
          <p:nvPr/>
        </p:nvSpPr>
        <p:spPr>
          <a:xfrm flipH="1">
            <a:off x="13797420" y="5710340"/>
            <a:ext cx="5910682" cy="646331"/>
          </a:xfrm>
          <a:prstGeom prst="rect">
            <a:avLst/>
          </a:prstGeom>
          <a:noFill/>
        </p:spPr>
        <p:txBody>
          <a:bodyPr wrap="square" rtlCol="0">
            <a:spAutoFit/>
          </a:bodyPr>
          <a:lstStyle/>
          <a:p>
            <a:r>
              <a:rPr lang="en-US" sz="3600" b="1" dirty="0">
                <a:latin typeface="Calibri" panose="020F0502020204030204" pitchFamily="34" charset="0"/>
                <a:ea typeface="Calibri" panose="020F0502020204030204" pitchFamily="34" charset="0"/>
                <a:cs typeface="Calibri" panose="020F0502020204030204" pitchFamily="34" charset="0"/>
              </a:rPr>
              <a:t>Fig.2  Mechanical Differential</a:t>
            </a:r>
            <a:endParaRPr lang="en-IN" sz="36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D71CB803-AEE5-63FB-F1FE-C5D79A9DD94B}"/>
              </a:ext>
            </a:extLst>
          </p:cNvPr>
          <p:cNvSpPr txBox="1"/>
          <p:nvPr/>
        </p:nvSpPr>
        <p:spPr>
          <a:xfrm flipH="1">
            <a:off x="13797420" y="10255032"/>
            <a:ext cx="5910682" cy="646331"/>
          </a:xfrm>
          <a:prstGeom prst="rect">
            <a:avLst/>
          </a:prstGeom>
          <a:noFill/>
        </p:spPr>
        <p:txBody>
          <a:bodyPr wrap="square" rtlCol="0">
            <a:spAutoFit/>
          </a:bodyPr>
          <a:lstStyle/>
          <a:p>
            <a:r>
              <a:rPr lang="en-US" sz="3600" b="1" dirty="0">
                <a:latin typeface="Calibri" panose="020F0502020204030204" pitchFamily="34" charset="0"/>
                <a:ea typeface="Calibri" panose="020F0502020204030204" pitchFamily="34" charset="0"/>
                <a:cs typeface="Calibri" panose="020F0502020204030204" pitchFamily="34" charset="0"/>
              </a:rPr>
              <a:t>Fig.3  Electronic Differential</a:t>
            </a:r>
            <a:endParaRPr lang="en-IN" sz="3600" b="1"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2" name="Google Shape;102;p5"/>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03" name="Google Shape;103;p5"/>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04" name="Google Shape;104;p5"/>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05" name="Google Shape;105;p5"/>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06" name="Google Shape;106;p5"/>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a:solidFill>
                  <a:srgbClr val="231F20"/>
                </a:solidFill>
                <a:latin typeface="Helvetica Neue"/>
                <a:ea typeface="Helvetica Neue"/>
                <a:cs typeface="Helvetica Neue"/>
                <a:sym typeface="Helvetica Neue"/>
              </a:rPr>
              <a:t>RV College of</a:t>
            </a:r>
            <a:endParaRPr/>
          </a:p>
          <a:p>
            <a:pPr marL="12700" marR="0" lvl="0" indent="0" algn="l" rtl="0">
              <a:lnSpc>
                <a:spcPct val="106250"/>
              </a:lnSpc>
              <a:spcBef>
                <a:spcPts val="100"/>
              </a:spcBef>
              <a:spcAft>
                <a:spcPts val="0"/>
              </a:spcAft>
              <a:buClr>
                <a:srgbClr val="231F20"/>
              </a:buClr>
              <a:buSzPts val="1600"/>
              <a:buFont typeface="Helvetica Neue"/>
              <a:buNone/>
            </a:pPr>
            <a:r>
              <a:rPr lang="en-US" sz="1600" b="1" i="0" u="none">
                <a:solidFill>
                  <a:srgbClr val="231F20"/>
                </a:solidFill>
                <a:latin typeface="Helvetica Neue"/>
                <a:ea typeface="Helvetica Neue"/>
                <a:cs typeface="Helvetica Neue"/>
                <a:sym typeface="Helvetica Neue"/>
              </a:rPr>
              <a:t>Engineering </a:t>
            </a:r>
            <a:endParaRPr/>
          </a:p>
        </p:txBody>
      </p:sp>
      <p:sp>
        <p:nvSpPr>
          <p:cNvPr id="108" name="Google Shape;108;p5"/>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a:solidFill>
                  <a:srgbClr val="422C75"/>
                </a:solidFill>
                <a:latin typeface="Playfair Display"/>
                <a:ea typeface="Playfair Display"/>
                <a:cs typeface="Playfair Display"/>
                <a:sym typeface="Playfair Display"/>
              </a:rPr>
              <a:t>Go, change the world</a:t>
            </a:r>
            <a:endParaRPr/>
          </a:p>
        </p:txBody>
      </p:sp>
      <p:sp>
        <p:nvSpPr>
          <p:cNvPr id="109" name="Google Shape;109;p5"/>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a:solidFill>
                  <a:srgbClr val="898989"/>
                </a:solidFill>
                <a:latin typeface="Calibri"/>
                <a:ea typeface="Calibri"/>
                <a:cs typeface="Calibri"/>
                <a:sym typeface="Calibri"/>
              </a:rPr>
              <a:t>*</a:t>
            </a:r>
            <a:endParaRPr/>
          </a:p>
        </p:txBody>
      </p:sp>
      <p:sp>
        <p:nvSpPr>
          <p:cNvPr id="110" name="Google Shape;110;p5"/>
          <p:cNvSpPr txBox="1"/>
          <p:nvPr/>
        </p:nvSpPr>
        <p:spPr>
          <a:xfrm>
            <a:off x="6835775" y="10517187"/>
            <a:ext cx="6432550" cy="56673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a:solidFill>
                  <a:srgbClr val="898989"/>
                </a:solidFill>
                <a:latin typeface="Calibri"/>
                <a:ea typeface="Calibri"/>
                <a:cs typeface="Calibri"/>
                <a:sym typeface="Calibri"/>
              </a:rPr>
              <a:t>Department of ECE</a:t>
            </a:r>
            <a:endParaRPr/>
          </a:p>
        </p:txBody>
      </p:sp>
      <p:sp>
        <p:nvSpPr>
          <p:cNvPr id="111" name="Google Shape;111;p5"/>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19</a:t>
            </a:fld>
            <a:endParaRPr/>
          </a:p>
        </p:txBody>
      </p:sp>
      <p:sp>
        <p:nvSpPr>
          <p:cNvPr id="2" name="TextBox 1">
            <a:extLst>
              <a:ext uri="{FF2B5EF4-FFF2-40B4-BE49-F238E27FC236}">
                <a16:creationId xmlns:a16="http://schemas.microsoft.com/office/drawing/2014/main" id="{7AC2D947-DDAF-5B89-E9DB-648AC56B746A}"/>
              </a:ext>
            </a:extLst>
          </p:cNvPr>
          <p:cNvSpPr txBox="1"/>
          <p:nvPr/>
        </p:nvSpPr>
        <p:spPr>
          <a:xfrm>
            <a:off x="1004886" y="1514476"/>
            <a:ext cx="12131994" cy="1200329"/>
          </a:xfrm>
          <a:prstGeom prst="rect">
            <a:avLst/>
          </a:prstGeom>
          <a:noFill/>
        </p:spPr>
        <p:txBody>
          <a:bodyPr wrap="square" rtlCol="0">
            <a:spAutoFit/>
          </a:bodyPr>
          <a:lstStyle/>
          <a:p>
            <a:r>
              <a:rPr lang="en-IN" sz="3600" dirty="0">
                <a:latin typeface="Calibri" panose="020F0502020204030204" pitchFamily="34" charset="0"/>
                <a:ea typeface="Calibri" panose="020F0502020204030204" pitchFamily="34" charset="0"/>
                <a:cs typeface="Calibri" panose="020F0502020204030204" pitchFamily="34" charset="0"/>
              </a:rPr>
              <a:t>The following equations are used to calculate the angular velocity to be given to the Wheels based on steering angle   </a:t>
            </a:r>
          </a:p>
        </p:txBody>
      </p:sp>
      <p:sp>
        <p:nvSpPr>
          <p:cNvPr id="3" name="TextBox 2">
            <a:extLst>
              <a:ext uri="{FF2B5EF4-FFF2-40B4-BE49-F238E27FC236}">
                <a16:creationId xmlns:a16="http://schemas.microsoft.com/office/drawing/2014/main" id="{BC0C5128-8FFA-7BCB-36E6-75F3CC3E7AEE}"/>
              </a:ext>
            </a:extLst>
          </p:cNvPr>
          <p:cNvSpPr txBox="1"/>
          <p:nvPr/>
        </p:nvSpPr>
        <p:spPr>
          <a:xfrm>
            <a:off x="1712912" y="3034280"/>
            <a:ext cx="9753600" cy="1938992"/>
          </a:xfrm>
          <a:prstGeom prst="rect">
            <a:avLst/>
          </a:prstGeom>
          <a:noFill/>
        </p:spPr>
        <p:txBody>
          <a:bodyPr wrap="square" rtlCol="0">
            <a:spAutoFit/>
          </a:bodyPr>
          <a:lstStyle/>
          <a:p>
            <a:r>
              <a:rPr lang="el-GR" sz="6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ω</a:t>
            </a:r>
            <a:r>
              <a:rPr lang="en-IN" sz="4000" b="1"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l</a:t>
            </a:r>
            <a:r>
              <a:rPr lang="en-IN" sz="54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a:t>
            </a:r>
            <a:r>
              <a:rPr lang="el-GR" sz="6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ω</a:t>
            </a:r>
            <a:r>
              <a:rPr lang="en-IN" sz="44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v</a:t>
            </a:r>
            <a:r>
              <a:rPr lang="en-IN" sz="54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(1+d/2l * tan(</a:t>
            </a:r>
            <a:r>
              <a:rPr lang="el-GR" sz="54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ϴ</a:t>
            </a:r>
            <a:r>
              <a:rPr lang="en-IN" sz="54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a:t>
            </a:r>
            <a:endParaRPr lang="en-IN" sz="4800" dirty="0">
              <a:latin typeface="Calibri" panose="020F0502020204030204" pitchFamily="34" charset="0"/>
              <a:ea typeface="Calibri" panose="020F0502020204030204" pitchFamily="34" charset="0"/>
              <a:cs typeface="Calibri" panose="020F0502020204030204" pitchFamily="34" charset="0"/>
            </a:endParaRPr>
          </a:p>
          <a:p>
            <a:endParaRPr lang="en-IN" sz="5400" dirty="0">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681ECD1E-F6CD-C1C8-9CEA-FA0510B27C4F}"/>
              </a:ext>
            </a:extLst>
          </p:cNvPr>
          <p:cNvSpPr txBox="1"/>
          <p:nvPr/>
        </p:nvSpPr>
        <p:spPr>
          <a:xfrm>
            <a:off x="1712912" y="4484766"/>
            <a:ext cx="10050780" cy="110799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l-GR" sz="6600" b="0" i="0" u="none" strike="noStrike" kern="0" cap="none" spc="0" normalizeH="0" baseline="0" noProof="0" dirty="0">
                <a:ln>
                  <a:noFill/>
                </a:ln>
                <a:solidFill>
                  <a:schemeClr val="accent6">
                    <a:lumMod val="75000"/>
                  </a:schemeClr>
                </a:solidFill>
                <a:effectLst/>
                <a:uLnTx/>
                <a:uFillTx/>
                <a:latin typeface="Calibri" panose="020F0502020204030204" pitchFamily="34" charset="0"/>
                <a:ea typeface="Calibri" panose="020F0502020204030204" pitchFamily="34" charset="0"/>
                <a:cs typeface="Calibri" panose="020F0502020204030204" pitchFamily="34" charset="0"/>
                <a:sym typeface="Arial"/>
              </a:rPr>
              <a:t>ω</a:t>
            </a:r>
            <a:r>
              <a:rPr lang="en-IN" sz="4000" b="1"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r</a:t>
            </a:r>
            <a:r>
              <a:rPr kumimoji="0" lang="en-IN" sz="5400" b="0" i="0" u="none" strike="noStrike" kern="0" cap="none" spc="0" normalizeH="0" baseline="0" noProof="0" dirty="0">
                <a:ln>
                  <a:noFill/>
                </a:ln>
                <a:solidFill>
                  <a:schemeClr val="accent6">
                    <a:lumMod val="75000"/>
                  </a:schemeClr>
                </a:solidFill>
                <a:effectLst/>
                <a:uLnTx/>
                <a:uFillTx/>
                <a:latin typeface="Calibri" panose="020F0502020204030204" pitchFamily="34" charset="0"/>
                <a:ea typeface="Calibri" panose="020F0502020204030204" pitchFamily="34" charset="0"/>
                <a:cs typeface="Calibri" panose="020F0502020204030204" pitchFamily="34" charset="0"/>
                <a:sym typeface="Arial"/>
              </a:rPr>
              <a:t>=</a:t>
            </a:r>
            <a:r>
              <a:rPr kumimoji="0" lang="el-GR" sz="6600" b="0" i="0" u="none" strike="noStrike" kern="0" cap="none" spc="0" normalizeH="0" baseline="0" noProof="0" dirty="0">
                <a:ln>
                  <a:noFill/>
                </a:ln>
                <a:solidFill>
                  <a:schemeClr val="accent6">
                    <a:lumMod val="75000"/>
                  </a:schemeClr>
                </a:solidFill>
                <a:effectLst/>
                <a:uLnTx/>
                <a:uFillTx/>
                <a:latin typeface="Calibri" panose="020F0502020204030204" pitchFamily="34" charset="0"/>
                <a:ea typeface="Calibri" panose="020F0502020204030204" pitchFamily="34" charset="0"/>
                <a:cs typeface="Calibri" panose="020F0502020204030204" pitchFamily="34" charset="0"/>
                <a:sym typeface="Arial"/>
              </a:rPr>
              <a:t>ω</a:t>
            </a:r>
            <a:r>
              <a:rPr kumimoji="0" lang="en-IN" sz="4400" b="0" i="0" u="none" strike="noStrike" kern="0" cap="none" spc="0" normalizeH="0" baseline="0" noProof="0" dirty="0">
                <a:ln>
                  <a:noFill/>
                </a:ln>
                <a:solidFill>
                  <a:schemeClr val="accent6">
                    <a:lumMod val="75000"/>
                  </a:schemeClr>
                </a:solidFill>
                <a:effectLst/>
                <a:uLnTx/>
                <a:uFillTx/>
                <a:latin typeface="Calibri" panose="020F0502020204030204" pitchFamily="34" charset="0"/>
                <a:ea typeface="Calibri" panose="020F0502020204030204" pitchFamily="34" charset="0"/>
                <a:cs typeface="Calibri" panose="020F0502020204030204" pitchFamily="34" charset="0"/>
                <a:sym typeface="Arial"/>
              </a:rPr>
              <a:t>v</a:t>
            </a:r>
            <a:r>
              <a:rPr kumimoji="0" lang="en-IN" sz="5400" b="0" i="0" u="none" strike="noStrike" kern="0" cap="none" spc="0" normalizeH="0" baseline="0" noProof="0" dirty="0">
                <a:ln>
                  <a:noFill/>
                </a:ln>
                <a:solidFill>
                  <a:schemeClr val="accent6">
                    <a:lumMod val="75000"/>
                  </a:schemeClr>
                </a:solidFill>
                <a:effectLst/>
                <a:uLnTx/>
                <a:uFillTx/>
                <a:latin typeface="Calibri" panose="020F0502020204030204" pitchFamily="34" charset="0"/>
                <a:ea typeface="Calibri" panose="020F0502020204030204" pitchFamily="34" charset="0"/>
                <a:cs typeface="Calibri" panose="020F0502020204030204" pitchFamily="34" charset="0"/>
                <a:sym typeface="Arial"/>
              </a:rPr>
              <a:t>(1-d/2l * tan(</a:t>
            </a:r>
            <a:r>
              <a:rPr kumimoji="0" lang="el-GR" sz="5400" b="0" i="0" u="none" strike="noStrike" kern="0" cap="none" spc="0" normalizeH="0" baseline="0" noProof="0" dirty="0">
                <a:ln>
                  <a:noFill/>
                </a:ln>
                <a:solidFill>
                  <a:schemeClr val="accent6">
                    <a:lumMod val="75000"/>
                  </a:schemeClr>
                </a:solidFill>
                <a:effectLst/>
                <a:uLnTx/>
                <a:uFillTx/>
                <a:latin typeface="Calibri" panose="020F0502020204030204" pitchFamily="34" charset="0"/>
                <a:ea typeface="Calibri" panose="020F0502020204030204" pitchFamily="34" charset="0"/>
                <a:cs typeface="Calibri" panose="020F0502020204030204" pitchFamily="34" charset="0"/>
                <a:sym typeface="Arial"/>
              </a:rPr>
              <a:t>ϴ</a:t>
            </a:r>
            <a:r>
              <a:rPr kumimoji="0" lang="en-IN" sz="5400" b="0" i="0" u="none" strike="noStrike" kern="0" cap="none" spc="0" normalizeH="0" baseline="0" noProof="0" dirty="0">
                <a:ln>
                  <a:noFill/>
                </a:ln>
                <a:solidFill>
                  <a:schemeClr val="accent6">
                    <a:lumMod val="75000"/>
                  </a:schemeClr>
                </a:solidFill>
                <a:effectLst/>
                <a:uLnTx/>
                <a:uFillTx/>
                <a:latin typeface="Calibri" panose="020F0502020204030204" pitchFamily="34" charset="0"/>
                <a:ea typeface="Calibri" panose="020F0502020204030204" pitchFamily="34" charset="0"/>
                <a:cs typeface="Calibri" panose="020F0502020204030204" pitchFamily="34" charset="0"/>
                <a:sym typeface="Arial"/>
              </a:rPr>
              <a:t>))</a:t>
            </a:r>
            <a:endParaRPr kumimoji="0" lang="en-IN" sz="4800" b="0" i="0" u="none" strike="noStrike" kern="0" cap="none" spc="0" normalizeH="0" baseline="0" noProof="0" dirty="0">
              <a:ln>
                <a:noFill/>
              </a:ln>
              <a:solidFill>
                <a:schemeClr val="accent6">
                  <a:lumMod val="75000"/>
                </a:schemeClr>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0" name="TextBox 9">
            <a:extLst>
              <a:ext uri="{FF2B5EF4-FFF2-40B4-BE49-F238E27FC236}">
                <a16:creationId xmlns:a16="http://schemas.microsoft.com/office/drawing/2014/main" id="{241BF341-46E4-F7C5-DC8E-5485F7ED1513}"/>
              </a:ext>
            </a:extLst>
          </p:cNvPr>
          <p:cNvSpPr txBox="1"/>
          <p:nvPr/>
        </p:nvSpPr>
        <p:spPr>
          <a:xfrm>
            <a:off x="1358899" y="5931890"/>
            <a:ext cx="9184641" cy="2800767"/>
          </a:xfrm>
          <a:prstGeom prst="rect">
            <a:avLst/>
          </a:prstGeom>
          <a:noFill/>
        </p:spPr>
        <p:txBody>
          <a:bodyPr wrap="square" rtlCol="0">
            <a:spAutoFit/>
          </a:bodyPr>
          <a:lstStyle/>
          <a:p>
            <a:r>
              <a:rPr lang="el-GR" sz="4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ω</a:t>
            </a:r>
            <a:r>
              <a:rPr lang="en-IN" sz="1800"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l , </a:t>
            </a:r>
            <a:r>
              <a:rPr lang="el-GR" sz="4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ω</a:t>
            </a:r>
            <a:r>
              <a:rPr lang="en-IN" sz="1800"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r</a:t>
            </a:r>
            <a:r>
              <a:rPr lang="en-IN" sz="4000"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IN" sz="3600"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a:t>
            </a:r>
            <a:r>
              <a:rPr lang="en-IN" sz="1800"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IN" sz="2800"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Angular velocity of left and right wheel respectively</a:t>
            </a:r>
          </a:p>
          <a:p>
            <a:r>
              <a:rPr lang="el-GR" sz="4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ω</a:t>
            </a:r>
            <a:r>
              <a:rPr lang="en-IN" sz="1800"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l </a:t>
            </a:r>
            <a:r>
              <a:rPr lang="en-IN" sz="4400"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 -  </a:t>
            </a:r>
            <a:r>
              <a:rPr lang="en-IN" sz="2800"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Throttle</a:t>
            </a:r>
          </a:p>
          <a:p>
            <a:r>
              <a:rPr lang="en-IN" sz="3600"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d – </a:t>
            </a:r>
            <a:r>
              <a:rPr lang="en-IN" sz="2800"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Distance between two rear wheels</a:t>
            </a:r>
          </a:p>
          <a:p>
            <a:r>
              <a:rPr lang="en-IN" sz="3600"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l – </a:t>
            </a:r>
            <a:r>
              <a:rPr lang="en-IN" sz="2800"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Distance between front and rear wheel</a:t>
            </a:r>
            <a:endParaRPr lang="en-IN" sz="4000"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a:p>
            <a:endParaRPr lang="en-IN" sz="2000" dirty="0"/>
          </a:p>
        </p:txBody>
      </p:sp>
      <p:pic>
        <p:nvPicPr>
          <p:cNvPr id="3074" name="Picture 2" descr="Sensors | Free Full-Text | Steering Angle Assisted Vehicular Navigation  Using Portable Devices in GNSS-Denied Environments">
            <a:extLst>
              <a:ext uri="{FF2B5EF4-FFF2-40B4-BE49-F238E27FC236}">
                <a16:creationId xmlns:a16="http://schemas.microsoft.com/office/drawing/2014/main" id="{7034867C-8579-1AED-0EB1-71E5442C7E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06185" y="1311810"/>
            <a:ext cx="7178584" cy="809781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B2C0A47-52DE-9FE5-C77D-41396F59160A}"/>
              </a:ext>
            </a:extLst>
          </p:cNvPr>
          <p:cNvSpPr txBox="1"/>
          <p:nvPr/>
        </p:nvSpPr>
        <p:spPr>
          <a:xfrm flipH="1">
            <a:off x="14474825" y="9870856"/>
            <a:ext cx="5910682" cy="646331"/>
          </a:xfrm>
          <a:prstGeom prst="rect">
            <a:avLst/>
          </a:prstGeom>
          <a:noFill/>
        </p:spPr>
        <p:txBody>
          <a:bodyPr wrap="square" rtlCol="0">
            <a:spAutoFit/>
          </a:bodyPr>
          <a:lstStyle/>
          <a:p>
            <a:r>
              <a:rPr lang="en-US" sz="3600" b="1" dirty="0">
                <a:latin typeface="Calibri" panose="020F0502020204030204" pitchFamily="34" charset="0"/>
                <a:ea typeface="Calibri" panose="020F0502020204030204" pitchFamily="34" charset="0"/>
                <a:cs typeface="Calibri" panose="020F0502020204030204" pitchFamily="34" charset="0"/>
              </a:rPr>
              <a:t>Fig.4   Steering Angle</a:t>
            </a:r>
            <a:endParaRPr lang="en-IN" sz="36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017981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6"/>
          <p:cNvSpPr txBox="1"/>
          <p:nvPr/>
        </p:nvSpPr>
        <p:spPr>
          <a:xfrm>
            <a:off x="0" y="-49427"/>
            <a:ext cx="20104101" cy="11309350"/>
          </a:xfrm>
          <a:prstGeom prst="rect">
            <a:avLst/>
          </a:prstGeom>
          <a:solidFill>
            <a:schemeClr val="lt1">
              <a:alpha val="98431"/>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18" name="Google Shape;118;p6"/>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19" name="Google Shape;119;p6"/>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20" name="Google Shape;120;p6"/>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21" name="Google Shape;121;p6"/>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22" name="Google Shape;122;p6"/>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a:solidFill>
                  <a:srgbClr val="231F20"/>
                </a:solidFill>
                <a:latin typeface="Helvetica Neue"/>
                <a:ea typeface="Helvetica Neue"/>
                <a:cs typeface="Helvetica Neue"/>
                <a:sym typeface="Helvetica Neue"/>
              </a:rPr>
              <a:t>RV College of</a:t>
            </a:r>
            <a:endParaRPr/>
          </a:p>
          <a:p>
            <a:pPr marL="12700" marR="0" lvl="0" indent="0" algn="l" rtl="0">
              <a:lnSpc>
                <a:spcPct val="106250"/>
              </a:lnSpc>
              <a:spcBef>
                <a:spcPts val="100"/>
              </a:spcBef>
              <a:spcAft>
                <a:spcPts val="0"/>
              </a:spcAft>
              <a:buClr>
                <a:srgbClr val="231F20"/>
              </a:buClr>
              <a:buSzPts val="1600"/>
              <a:buFont typeface="Helvetica Neue"/>
              <a:buNone/>
            </a:pPr>
            <a:r>
              <a:rPr lang="en-US" sz="1600" b="1" i="0" u="none">
                <a:solidFill>
                  <a:srgbClr val="231F20"/>
                </a:solidFill>
                <a:latin typeface="Helvetica Neue"/>
                <a:ea typeface="Helvetica Neue"/>
                <a:cs typeface="Helvetica Neue"/>
                <a:sym typeface="Helvetica Neue"/>
              </a:rPr>
              <a:t>Engineering </a:t>
            </a:r>
            <a:endParaRPr/>
          </a:p>
        </p:txBody>
      </p:sp>
      <p:sp>
        <p:nvSpPr>
          <p:cNvPr id="124" name="Google Shape;124;p6"/>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a:solidFill>
                  <a:srgbClr val="422C75"/>
                </a:solidFill>
                <a:latin typeface="Playfair Display"/>
                <a:ea typeface="Playfair Display"/>
                <a:cs typeface="Playfair Display"/>
                <a:sym typeface="Playfair Display"/>
              </a:rPr>
              <a:t>Go, change the world</a:t>
            </a:r>
            <a:endParaRPr/>
          </a:p>
        </p:txBody>
      </p:sp>
      <p:sp>
        <p:nvSpPr>
          <p:cNvPr id="125" name="Google Shape;125;p6"/>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a:solidFill>
                  <a:srgbClr val="898989"/>
                </a:solidFill>
                <a:latin typeface="Calibri"/>
                <a:ea typeface="Calibri"/>
                <a:cs typeface="Calibri"/>
                <a:sym typeface="Calibri"/>
              </a:rPr>
              <a:t>*</a:t>
            </a:r>
            <a:endParaRPr/>
          </a:p>
        </p:txBody>
      </p:sp>
      <p:sp>
        <p:nvSpPr>
          <p:cNvPr id="126" name="Google Shape;126;p6"/>
          <p:cNvSpPr txBox="1"/>
          <p:nvPr/>
        </p:nvSpPr>
        <p:spPr>
          <a:xfrm>
            <a:off x="6835775" y="10517187"/>
            <a:ext cx="6432550" cy="56673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a:solidFill>
                  <a:srgbClr val="898989"/>
                </a:solidFill>
                <a:latin typeface="Calibri"/>
                <a:ea typeface="Calibri"/>
                <a:cs typeface="Calibri"/>
                <a:sym typeface="Calibri"/>
              </a:rPr>
              <a:t>Department of ECE</a:t>
            </a:r>
            <a:endParaRPr/>
          </a:p>
        </p:txBody>
      </p:sp>
      <p:sp>
        <p:nvSpPr>
          <p:cNvPr id="127" name="Google Shape;127;p6"/>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20</a:t>
            </a:fld>
            <a:endParaRPr/>
          </a:p>
        </p:txBody>
      </p:sp>
      <p:sp>
        <p:nvSpPr>
          <p:cNvPr id="2" name="TextBox 1">
            <a:extLst>
              <a:ext uri="{FF2B5EF4-FFF2-40B4-BE49-F238E27FC236}">
                <a16:creationId xmlns:a16="http://schemas.microsoft.com/office/drawing/2014/main" id="{BA79C9D8-2384-1691-ED63-76ACEDBEFE8B}"/>
              </a:ext>
            </a:extLst>
          </p:cNvPr>
          <p:cNvSpPr txBox="1"/>
          <p:nvPr/>
        </p:nvSpPr>
        <p:spPr>
          <a:xfrm>
            <a:off x="1004887" y="1474446"/>
            <a:ext cx="7360920" cy="769441"/>
          </a:xfrm>
          <a:prstGeom prst="rect">
            <a:avLst/>
          </a:prstGeom>
          <a:noFill/>
        </p:spPr>
        <p:txBody>
          <a:bodyPr wrap="square" rtlCol="0">
            <a:spAutoFit/>
          </a:bodyPr>
          <a:lstStyle/>
          <a:p>
            <a:r>
              <a:rPr lang="en-IN" sz="4400" b="1" dirty="0">
                <a:latin typeface="Calibri" panose="020F0502020204030204" pitchFamily="34" charset="0"/>
                <a:ea typeface="Calibri" panose="020F0502020204030204" pitchFamily="34" charset="0"/>
                <a:cs typeface="Calibri" panose="020F0502020204030204" pitchFamily="34" charset="0"/>
              </a:rPr>
              <a:t>MATLAB simulation model:</a:t>
            </a:r>
          </a:p>
        </p:txBody>
      </p:sp>
      <p:pic>
        <p:nvPicPr>
          <p:cNvPr id="4" name="Picture 3" descr="A diagram of a computer&#10;&#10;Description automatically generated">
            <a:extLst>
              <a:ext uri="{FF2B5EF4-FFF2-40B4-BE49-F238E27FC236}">
                <a16:creationId xmlns:a16="http://schemas.microsoft.com/office/drawing/2014/main" id="{32FCC0FE-FB3D-65B0-0249-2D285C431DE1}"/>
              </a:ext>
            </a:extLst>
          </p:cNvPr>
          <p:cNvPicPr>
            <a:picLocks noChangeAspect="1"/>
          </p:cNvPicPr>
          <p:nvPr/>
        </p:nvPicPr>
        <p:blipFill>
          <a:blip r:embed="rId4"/>
          <a:stretch>
            <a:fillRect/>
          </a:stretch>
        </p:blipFill>
        <p:spPr>
          <a:xfrm>
            <a:off x="185111" y="3781012"/>
            <a:ext cx="9647071" cy="5422563"/>
          </a:xfrm>
          <a:prstGeom prst="rect">
            <a:avLst/>
          </a:prstGeom>
        </p:spPr>
      </p:pic>
      <p:pic>
        <p:nvPicPr>
          <p:cNvPr id="6" name="Picture 5" descr="A diagram of a company&#10;&#10;Description automatically generated">
            <a:extLst>
              <a:ext uri="{FF2B5EF4-FFF2-40B4-BE49-F238E27FC236}">
                <a16:creationId xmlns:a16="http://schemas.microsoft.com/office/drawing/2014/main" id="{03CA87A7-880F-49B0-2948-E7DF928A641D}"/>
              </a:ext>
            </a:extLst>
          </p:cNvPr>
          <p:cNvPicPr>
            <a:picLocks noChangeAspect="1"/>
          </p:cNvPicPr>
          <p:nvPr/>
        </p:nvPicPr>
        <p:blipFill>
          <a:blip r:embed="rId5"/>
          <a:stretch>
            <a:fillRect/>
          </a:stretch>
        </p:blipFill>
        <p:spPr>
          <a:xfrm>
            <a:off x="9710017" y="3139441"/>
            <a:ext cx="9529616" cy="7061381"/>
          </a:xfrm>
          <a:prstGeom prst="rect">
            <a:avLst/>
          </a:prstGeom>
        </p:spPr>
      </p:pic>
      <p:sp>
        <p:nvSpPr>
          <p:cNvPr id="7" name="TextBox 6">
            <a:extLst>
              <a:ext uri="{FF2B5EF4-FFF2-40B4-BE49-F238E27FC236}">
                <a16:creationId xmlns:a16="http://schemas.microsoft.com/office/drawing/2014/main" id="{51CCA6F5-B2E6-E47C-AF12-EC863A901AEA}"/>
              </a:ext>
            </a:extLst>
          </p:cNvPr>
          <p:cNvSpPr txBox="1"/>
          <p:nvPr/>
        </p:nvSpPr>
        <p:spPr>
          <a:xfrm>
            <a:off x="864467" y="2672484"/>
            <a:ext cx="11066586" cy="523220"/>
          </a:xfrm>
          <a:prstGeom prst="rect">
            <a:avLst/>
          </a:prstGeom>
          <a:noFill/>
        </p:spPr>
        <p:txBody>
          <a:bodyPr wrap="square" rtlCol="0">
            <a:spAutoFit/>
          </a:bodyPr>
          <a:lstStyle/>
          <a:p>
            <a:r>
              <a:rPr lang="en-IN" sz="2800" b="1" dirty="0"/>
              <a:t>SIMULINK MODEL FOR LEFT AND RIGHT WHEEL CONTROL</a:t>
            </a:r>
          </a:p>
        </p:txBody>
      </p:sp>
      <p:sp>
        <p:nvSpPr>
          <p:cNvPr id="3" name="TextBox 2">
            <a:extLst>
              <a:ext uri="{FF2B5EF4-FFF2-40B4-BE49-F238E27FC236}">
                <a16:creationId xmlns:a16="http://schemas.microsoft.com/office/drawing/2014/main" id="{26D857C3-68DA-A356-C482-3B5095655E0E}"/>
              </a:ext>
            </a:extLst>
          </p:cNvPr>
          <p:cNvSpPr txBox="1"/>
          <p:nvPr/>
        </p:nvSpPr>
        <p:spPr>
          <a:xfrm flipH="1">
            <a:off x="864467" y="9293078"/>
            <a:ext cx="9165570" cy="646331"/>
          </a:xfrm>
          <a:prstGeom prst="rect">
            <a:avLst/>
          </a:prstGeom>
          <a:noFill/>
        </p:spPr>
        <p:txBody>
          <a:bodyPr wrap="square" rtlCol="0">
            <a:spAutoFit/>
          </a:bodyPr>
          <a:lstStyle/>
          <a:p>
            <a:r>
              <a:rPr lang="en-US" sz="3600" b="1" dirty="0">
                <a:latin typeface="Calibri" panose="020F0502020204030204" pitchFamily="34" charset="0"/>
                <a:ea typeface="Calibri" panose="020F0502020204030204" pitchFamily="34" charset="0"/>
                <a:cs typeface="Calibri" panose="020F0502020204030204" pitchFamily="34" charset="0"/>
              </a:rPr>
              <a:t>Fig.5  Simulink model for left wheel control </a:t>
            </a:r>
            <a:endParaRPr lang="en-IN" sz="3600" b="1"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2AD4337-F486-C396-342F-2B100AA36591}"/>
              </a:ext>
            </a:extLst>
          </p:cNvPr>
          <p:cNvSpPr txBox="1"/>
          <p:nvPr/>
        </p:nvSpPr>
        <p:spPr>
          <a:xfrm flipH="1">
            <a:off x="10956703" y="9293078"/>
            <a:ext cx="8715164" cy="646331"/>
          </a:xfrm>
          <a:prstGeom prst="rect">
            <a:avLst/>
          </a:prstGeom>
          <a:noFill/>
        </p:spPr>
        <p:txBody>
          <a:bodyPr wrap="square" rtlCol="0">
            <a:spAutoFit/>
          </a:bodyPr>
          <a:lstStyle/>
          <a:p>
            <a:r>
              <a:rPr lang="en-US" sz="3600" b="1" dirty="0">
                <a:latin typeface="Calibri" panose="020F0502020204030204" pitchFamily="34" charset="0"/>
                <a:ea typeface="Calibri" panose="020F0502020204030204" pitchFamily="34" charset="0"/>
                <a:cs typeface="Calibri" panose="020F0502020204030204" pitchFamily="34" charset="0"/>
              </a:rPr>
              <a:t>Fig.6  Simulink model for Right wheel control </a:t>
            </a:r>
            <a:endParaRPr lang="en-IN" sz="3600" b="1"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7"/>
          <p:cNvSpPr txBox="1"/>
          <p:nvPr/>
        </p:nvSpPr>
        <p:spPr>
          <a:xfrm>
            <a:off x="-15241" y="-24714"/>
            <a:ext cx="20104101" cy="11309350"/>
          </a:xfrm>
          <a:prstGeom prst="rect">
            <a:avLst/>
          </a:prstGeom>
          <a:solidFill>
            <a:schemeClr val="lt1">
              <a:alpha val="98431"/>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34" name="Google Shape;134;p7"/>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35" name="Google Shape;135;p7"/>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36" name="Google Shape;136;p7"/>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37" name="Google Shape;137;p7"/>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38" name="Google Shape;138;p7"/>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a:solidFill>
                  <a:srgbClr val="231F20"/>
                </a:solidFill>
                <a:latin typeface="Helvetica Neue"/>
                <a:ea typeface="Helvetica Neue"/>
                <a:cs typeface="Helvetica Neue"/>
                <a:sym typeface="Helvetica Neue"/>
              </a:rPr>
              <a:t>RV College of</a:t>
            </a:r>
            <a:endParaRPr/>
          </a:p>
          <a:p>
            <a:pPr marL="12700" marR="0" lvl="0" indent="0" algn="l" rtl="0">
              <a:lnSpc>
                <a:spcPct val="106250"/>
              </a:lnSpc>
              <a:spcBef>
                <a:spcPts val="100"/>
              </a:spcBef>
              <a:spcAft>
                <a:spcPts val="0"/>
              </a:spcAft>
              <a:buClr>
                <a:srgbClr val="231F20"/>
              </a:buClr>
              <a:buSzPts val="1600"/>
              <a:buFont typeface="Helvetica Neue"/>
              <a:buNone/>
            </a:pPr>
            <a:r>
              <a:rPr lang="en-US" sz="1600" b="1" i="0" u="none">
                <a:solidFill>
                  <a:srgbClr val="231F20"/>
                </a:solidFill>
                <a:latin typeface="Helvetica Neue"/>
                <a:ea typeface="Helvetica Neue"/>
                <a:cs typeface="Helvetica Neue"/>
                <a:sym typeface="Helvetica Neue"/>
              </a:rPr>
              <a:t>Engineering </a:t>
            </a:r>
            <a:endParaRPr/>
          </a:p>
        </p:txBody>
      </p:sp>
      <p:sp>
        <p:nvSpPr>
          <p:cNvPr id="140" name="Google Shape;140;p7"/>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a:solidFill>
                  <a:srgbClr val="422C75"/>
                </a:solidFill>
                <a:latin typeface="Playfair Display"/>
                <a:ea typeface="Playfair Display"/>
                <a:cs typeface="Playfair Display"/>
                <a:sym typeface="Playfair Display"/>
              </a:rPr>
              <a:t>Go, change the world</a:t>
            </a:r>
            <a:endParaRPr/>
          </a:p>
        </p:txBody>
      </p:sp>
      <p:sp>
        <p:nvSpPr>
          <p:cNvPr id="141" name="Google Shape;141;p7"/>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a:solidFill>
                  <a:srgbClr val="898989"/>
                </a:solidFill>
                <a:latin typeface="Calibri"/>
                <a:ea typeface="Calibri"/>
                <a:cs typeface="Calibri"/>
                <a:sym typeface="Calibri"/>
              </a:rPr>
              <a:t>*</a:t>
            </a:r>
            <a:endParaRPr/>
          </a:p>
        </p:txBody>
      </p:sp>
      <p:sp>
        <p:nvSpPr>
          <p:cNvPr id="143" name="Google Shape;143;p7"/>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21</a:t>
            </a:fld>
            <a:endParaRPr/>
          </a:p>
        </p:txBody>
      </p:sp>
      <p:pic>
        <p:nvPicPr>
          <p:cNvPr id="3" name="Picture 2" descr="A diagram of a computer system&#10;&#10;Description automatically generated with medium confidence">
            <a:extLst>
              <a:ext uri="{FF2B5EF4-FFF2-40B4-BE49-F238E27FC236}">
                <a16:creationId xmlns:a16="http://schemas.microsoft.com/office/drawing/2014/main" id="{53E0F40D-9105-F3FD-F014-491585F58511}"/>
              </a:ext>
            </a:extLst>
          </p:cNvPr>
          <p:cNvPicPr>
            <a:picLocks noChangeAspect="1"/>
          </p:cNvPicPr>
          <p:nvPr/>
        </p:nvPicPr>
        <p:blipFill>
          <a:blip r:embed="rId4"/>
          <a:stretch>
            <a:fillRect/>
          </a:stretch>
        </p:blipFill>
        <p:spPr>
          <a:xfrm>
            <a:off x="2897766" y="2486904"/>
            <a:ext cx="14278086" cy="7608007"/>
          </a:xfrm>
          <a:prstGeom prst="rect">
            <a:avLst/>
          </a:prstGeom>
        </p:spPr>
      </p:pic>
      <p:sp>
        <p:nvSpPr>
          <p:cNvPr id="5" name="TextBox 4">
            <a:extLst>
              <a:ext uri="{FF2B5EF4-FFF2-40B4-BE49-F238E27FC236}">
                <a16:creationId xmlns:a16="http://schemas.microsoft.com/office/drawing/2014/main" id="{51310EB1-F77C-26AF-F40B-6B453BFE4F41}"/>
              </a:ext>
            </a:extLst>
          </p:cNvPr>
          <p:cNvSpPr txBox="1"/>
          <p:nvPr/>
        </p:nvSpPr>
        <p:spPr>
          <a:xfrm>
            <a:off x="1712912" y="1612228"/>
            <a:ext cx="7782780" cy="707886"/>
          </a:xfrm>
          <a:prstGeom prst="rect">
            <a:avLst/>
          </a:prstGeom>
          <a:noFill/>
        </p:spPr>
        <p:txBody>
          <a:bodyPr wrap="square" rtlCol="0">
            <a:spAutoFit/>
          </a:bodyPr>
          <a:lstStyle/>
          <a:p>
            <a:r>
              <a:rPr lang="en-IN" sz="4000" b="1" dirty="0"/>
              <a:t>FINAL SIMULINK  MODEL</a:t>
            </a:r>
          </a:p>
        </p:txBody>
      </p:sp>
      <p:sp>
        <p:nvSpPr>
          <p:cNvPr id="2" name="TextBox 1">
            <a:extLst>
              <a:ext uri="{FF2B5EF4-FFF2-40B4-BE49-F238E27FC236}">
                <a16:creationId xmlns:a16="http://schemas.microsoft.com/office/drawing/2014/main" id="{037B6349-55FD-3975-D7F4-F9B7E0EBD786}"/>
              </a:ext>
            </a:extLst>
          </p:cNvPr>
          <p:cNvSpPr txBox="1"/>
          <p:nvPr/>
        </p:nvSpPr>
        <p:spPr>
          <a:xfrm flipH="1">
            <a:off x="6029591" y="10316475"/>
            <a:ext cx="9165570" cy="646331"/>
          </a:xfrm>
          <a:prstGeom prst="rect">
            <a:avLst/>
          </a:prstGeom>
          <a:noFill/>
        </p:spPr>
        <p:txBody>
          <a:bodyPr wrap="square" rtlCol="0">
            <a:spAutoFit/>
          </a:bodyPr>
          <a:lstStyle/>
          <a:p>
            <a:r>
              <a:rPr lang="en-US" sz="3600" b="1" dirty="0">
                <a:latin typeface="Calibri" panose="020F0502020204030204" pitchFamily="34" charset="0"/>
                <a:ea typeface="Calibri" panose="020F0502020204030204" pitchFamily="34" charset="0"/>
                <a:cs typeface="Calibri" panose="020F0502020204030204" pitchFamily="34" charset="0"/>
              </a:rPr>
              <a:t>Fig.7  Simulink model for E-differential </a:t>
            </a:r>
            <a:endParaRPr lang="en-IN" sz="3600" b="1"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4"/>
          <p:cNvSpPr txBox="1"/>
          <p:nvPr/>
        </p:nvSpPr>
        <p:spPr>
          <a:xfrm>
            <a:off x="2003" y="-49428"/>
            <a:ext cx="20104101" cy="11309350"/>
          </a:xfrm>
          <a:prstGeom prst="rect">
            <a:avLst/>
          </a:prstGeom>
          <a:solidFill>
            <a:schemeClr val="lt1">
              <a:alpha val="98431"/>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IN" sz="4000" b="0" i="0" u="none"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a:t>
            </a:r>
            <a:endParaRPr sz="4000" b="0" i="0" u="none"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5" name="Google Shape;85;p4"/>
          <p:cNvSpPr txBox="1"/>
          <p:nvPr/>
        </p:nvSpPr>
        <p:spPr>
          <a:xfrm>
            <a:off x="2479675" y="3687762"/>
            <a:ext cx="15497100" cy="227700"/>
          </a:xfrm>
          <a:prstGeom prst="rect">
            <a:avLst/>
          </a:prstGeom>
          <a:noFill/>
          <a:ln>
            <a:noFill/>
          </a:ln>
        </p:spPr>
        <p:txBody>
          <a:bodyPr spcFirstLastPara="1" wrap="square" lIns="0" tIns="12050" rIns="0" bIns="0" anchor="t" anchorCtr="0">
            <a:spAutoFit/>
          </a:bodyPr>
          <a:lstStyle/>
          <a:p>
            <a:pPr marL="457200" marR="0" lvl="0" indent="0" algn="just" rtl="0">
              <a:lnSpc>
                <a:spcPct val="101000"/>
              </a:lnSpc>
              <a:spcBef>
                <a:spcPts val="0"/>
              </a:spcBef>
              <a:spcAft>
                <a:spcPts val="0"/>
              </a:spcAft>
              <a:buNone/>
            </a:pPr>
            <a:endParaRPr/>
          </a:p>
        </p:txBody>
      </p:sp>
      <p:sp>
        <p:nvSpPr>
          <p:cNvPr id="86" name="Google Shape;86;p4"/>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7" name="Google Shape;87;p4"/>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8" name="Google Shape;88;p4"/>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9" name="Google Shape;89;p4"/>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90" name="Google Shape;90;p4"/>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a:solidFill>
                  <a:srgbClr val="231F20"/>
                </a:solidFill>
                <a:latin typeface="Helvetica Neue"/>
                <a:ea typeface="Helvetica Neue"/>
                <a:cs typeface="Helvetica Neue"/>
                <a:sym typeface="Helvetica Neue"/>
              </a:rPr>
              <a:t>RV College of</a:t>
            </a:r>
            <a:endParaRPr/>
          </a:p>
          <a:p>
            <a:pPr marL="12700" marR="0" lvl="0" indent="0" algn="l" rtl="0">
              <a:lnSpc>
                <a:spcPct val="106250"/>
              </a:lnSpc>
              <a:spcBef>
                <a:spcPts val="100"/>
              </a:spcBef>
              <a:spcAft>
                <a:spcPts val="0"/>
              </a:spcAft>
              <a:buClr>
                <a:srgbClr val="231F20"/>
              </a:buClr>
              <a:buSzPts val="1600"/>
              <a:buFont typeface="Helvetica Neue"/>
              <a:buNone/>
            </a:pPr>
            <a:r>
              <a:rPr lang="en-US" sz="1600" b="1" i="0" u="none">
                <a:solidFill>
                  <a:srgbClr val="231F20"/>
                </a:solidFill>
                <a:latin typeface="Helvetica Neue"/>
                <a:ea typeface="Helvetica Neue"/>
                <a:cs typeface="Helvetica Neue"/>
                <a:sym typeface="Helvetica Neue"/>
              </a:rPr>
              <a:t>Engineering </a:t>
            </a:r>
            <a:endParaRPr/>
          </a:p>
        </p:txBody>
      </p:sp>
      <p:sp>
        <p:nvSpPr>
          <p:cNvPr id="92" name="Google Shape;92;p4"/>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a:solidFill>
                  <a:srgbClr val="422C75"/>
                </a:solidFill>
                <a:latin typeface="Playfair Display"/>
                <a:ea typeface="Playfair Display"/>
                <a:cs typeface="Playfair Display"/>
                <a:sym typeface="Playfair Display"/>
              </a:rPr>
              <a:t>Go, change the world</a:t>
            </a:r>
            <a:endParaRPr/>
          </a:p>
        </p:txBody>
      </p:sp>
      <p:sp>
        <p:nvSpPr>
          <p:cNvPr id="93" name="Google Shape;93;p4"/>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a:solidFill>
                  <a:srgbClr val="898989"/>
                </a:solidFill>
                <a:latin typeface="Calibri"/>
                <a:ea typeface="Calibri"/>
                <a:cs typeface="Calibri"/>
                <a:sym typeface="Calibri"/>
              </a:rPr>
              <a:t>*</a:t>
            </a:r>
            <a:endParaRPr/>
          </a:p>
        </p:txBody>
      </p:sp>
      <p:sp>
        <p:nvSpPr>
          <p:cNvPr id="95" name="Google Shape;95;p4"/>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22</a:t>
            </a:fld>
            <a:endParaRPr/>
          </a:p>
        </p:txBody>
      </p:sp>
      <p:sp>
        <p:nvSpPr>
          <p:cNvPr id="3" name="Rectangle: Rounded Corners 2">
            <a:extLst>
              <a:ext uri="{FF2B5EF4-FFF2-40B4-BE49-F238E27FC236}">
                <a16:creationId xmlns:a16="http://schemas.microsoft.com/office/drawing/2014/main" id="{0CBE21D3-0F33-CCE5-A174-577F0B3096AB}"/>
              </a:ext>
            </a:extLst>
          </p:cNvPr>
          <p:cNvSpPr/>
          <p:nvPr/>
        </p:nvSpPr>
        <p:spPr>
          <a:xfrm>
            <a:off x="6851817" y="2915586"/>
            <a:ext cx="8357937" cy="4878352"/>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dirty="0">
                <a:latin typeface="Calibri" panose="020F0502020204030204" pitchFamily="34" charset="0"/>
                <a:ea typeface="Calibri" panose="020F0502020204030204" pitchFamily="34" charset="0"/>
                <a:cs typeface="Calibri" panose="020F0502020204030204" pitchFamily="34" charset="0"/>
              </a:rPr>
              <a:t>CONTROL UNIT</a:t>
            </a:r>
          </a:p>
          <a:p>
            <a:pPr algn="ctr"/>
            <a:endParaRPr lang="en-IN" sz="3600" dirty="0">
              <a:latin typeface="Calibri" panose="020F0502020204030204" pitchFamily="34" charset="0"/>
              <a:ea typeface="Calibri" panose="020F0502020204030204" pitchFamily="34" charset="0"/>
              <a:cs typeface="Calibri" panose="020F0502020204030204" pitchFamily="34" charset="0"/>
            </a:endParaRPr>
          </a:p>
          <a:p>
            <a:pPr algn="ctr"/>
            <a:endParaRPr lang="en-IN" sz="3600" dirty="0">
              <a:latin typeface="Calibri" panose="020F0502020204030204" pitchFamily="34" charset="0"/>
              <a:ea typeface="Calibri" panose="020F0502020204030204" pitchFamily="34" charset="0"/>
              <a:cs typeface="Calibri" panose="020F0502020204030204" pitchFamily="34" charset="0"/>
            </a:endParaRPr>
          </a:p>
          <a:p>
            <a:pPr algn="ctr"/>
            <a:endParaRPr lang="en-IN" sz="3600" dirty="0">
              <a:latin typeface="Calibri" panose="020F0502020204030204" pitchFamily="34" charset="0"/>
              <a:ea typeface="Calibri" panose="020F0502020204030204" pitchFamily="34" charset="0"/>
              <a:cs typeface="Calibri" panose="020F0502020204030204" pitchFamily="34" charset="0"/>
            </a:endParaRPr>
          </a:p>
          <a:p>
            <a:pPr algn="ctr"/>
            <a:endParaRPr lang="en-IN" sz="3600" dirty="0">
              <a:latin typeface="Calibri" panose="020F0502020204030204" pitchFamily="34" charset="0"/>
              <a:ea typeface="Calibri" panose="020F0502020204030204" pitchFamily="34" charset="0"/>
              <a:cs typeface="Calibri" panose="020F0502020204030204" pitchFamily="34" charset="0"/>
            </a:endParaRPr>
          </a:p>
          <a:p>
            <a:pPr algn="ctr"/>
            <a:endParaRPr lang="en-IN" sz="3600" dirty="0">
              <a:latin typeface="Calibri" panose="020F0502020204030204" pitchFamily="34" charset="0"/>
              <a:ea typeface="Calibri" panose="020F0502020204030204" pitchFamily="34" charset="0"/>
              <a:cs typeface="Calibri" panose="020F0502020204030204" pitchFamily="34" charset="0"/>
            </a:endParaRPr>
          </a:p>
          <a:p>
            <a:pPr algn="ctr"/>
            <a:endParaRPr lang="en-IN" sz="3600" dirty="0">
              <a:latin typeface="Calibri" panose="020F0502020204030204" pitchFamily="34" charset="0"/>
              <a:ea typeface="Calibri" panose="020F0502020204030204" pitchFamily="34" charset="0"/>
              <a:cs typeface="Calibri" panose="020F0502020204030204" pitchFamily="34" charset="0"/>
            </a:endParaRPr>
          </a:p>
          <a:p>
            <a:pPr algn="ctr"/>
            <a:endParaRPr lang="en-IN" sz="3600" dirty="0">
              <a:latin typeface="Calibri" panose="020F0502020204030204" pitchFamily="34" charset="0"/>
              <a:ea typeface="Calibri" panose="020F0502020204030204" pitchFamily="34" charset="0"/>
              <a:cs typeface="Calibri" panose="020F0502020204030204" pitchFamily="34" charset="0"/>
            </a:endParaRPr>
          </a:p>
        </p:txBody>
      </p:sp>
      <p:sp>
        <p:nvSpPr>
          <p:cNvPr id="4" name="Rectangle: Rounded Corners 3">
            <a:extLst>
              <a:ext uri="{FF2B5EF4-FFF2-40B4-BE49-F238E27FC236}">
                <a16:creationId xmlns:a16="http://schemas.microsoft.com/office/drawing/2014/main" id="{D2A6F4EC-2B9F-EB18-4996-51910106B027}"/>
              </a:ext>
            </a:extLst>
          </p:cNvPr>
          <p:cNvSpPr/>
          <p:nvPr/>
        </p:nvSpPr>
        <p:spPr>
          <a:xfrm>
            <a:off x="1921543" y="1421753"/>
            <a:ext cx="2545013" cy="14289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dirty="0">
                <a:latin typeface="Calibri" panose="020F0502020204030204" pitchFamily="34" charset="0"/>
                <a:ea typeface="Calibri" panose="020F0502020204030204" pitchFamily="34" charset="0"/>
                <a:cs typeface="Calibri" panose="020F0502020204030204" pitchFamily="34" charset="0"/>
              </a:rPr>
              <a:t>LEFT MOTOR</a:t>
            </a:r>
          </a:p>
        </p:txBody>
      </p:sp>
      <p:sp>
        <p:nvSpPr>
          <p:cNvPr id="5" name="Rectangle: Rounded Corners 4">
            <a:extLst>
              <a:ext uri="{FF2B5EF4-FFF2-40B4-BE49-F238E27FC236}">
                <a16:creationId xmlns:a16="http://schemas.microsoft.com/office/drawing/2014/main" id="{7B80A682-A233-7424-B030-97A353E52F02}"/>
              </a:ext>
            </a:extLst>
          </p:cNvPr>
          <p:cNvSpPr/>
          <p:nvPr/>
        </p:nvSpPr>
        <p:spPr>
          <a:xfrm>
            <a:off x="2105368" y="8825809"/>
            <a:ext cx="2771432" cy="1428929"/>
          </a:xfrm>
          <a:prstGeom prst="round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dirty="0">
                <a:latin typeface="Calibri" panose="020F0502020204030204" pitchFamily="34" charset="0"/>
                <a:ea typeface="Calibri" panose="020F0502020204030204" pitchFamily="34" charset="0"/>
                <a:cs typeface="Calibri" panose="020F0502020204030204" pitchFamily="34" charset="0"/>
              </a:rPr>
              <a:t>RIGHT MOTOR</a:t>
            </a:r>
          </a:p>
        </p:txBody>
      </p:sp>
      <p:cxnSp>
        <p:nvCxnSpPr>
          <p:cNvPr id="11" name="Connector: Curved 10">
            <a:extLst>
              <a:ext uri="{FF2B5EF4-FFF2-40B4-BE49-F238E27FC236}">
                <a16:creationId xmlns:a16="http://schemas.microsoft.com/office/drawing/2014/main" id="{AB32E27A-789F-59A8-FBD8-A32D40A3D346}"/>
              </a:ext>
            </a:extLst>
          </p:cNvPr>
          <p:cNvCxnSpPr>
            <a:cxnSpLocks/>
          </p:cNvCxnSpPr>
          <p:nvPr/>
        </p:nvCxnSpPr>
        <p:spPr>
          <a:xfrm rot="10800000">
            <a:off x="4466558" y="2401679"/>
            <a:ext cx="2561722" cy="789967"/>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5" name="Connector: Curved 14">
            <a:extLst>
              <a:ext uri="{FF2B5EF4-FFF2-40B4-BE49-F238E27FC236}">
                <a16:creationId xmlns:a16="http://schemas.microsoft.com/office/drawing/2014/main" id="{5B430B8C-6CAE-01B3-B91D-3787E4EBF139}"/>
              </a:ext>
            </a:extLst>
          </p:cNvPr>
          <p:cNvCxnSpPr>
            <a:cxnSpLocks/>
          </p:cNvCxnSpPr>
          <p:nvPr/>
        </p:nvCxnSpPr>
        <p:spPr>
          <a:xfrm rot="10800000" flipV="1">
            <a:off x="4826845" y="7648350"/>
            <a:ext cx="2327934" cy="1748330"/>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
        <p:nvSpPr>
          <p:cNvPr id="19" name="Rectangle: Rounded Corners 18">
            <a:extLst>
              <a:ext uri="{FF2B5EF4-FFF2-40B4-BE49-F238E27FC236}">
                <a16:creationId xmlns:a16="http://schemas.microsoft.com/office/drawing/2014/main" id="{14EA9EF0-D89C-079B-7EB5-62A06F0404E5}"/>
              </a:ext>
            </a:extLst>
          </p:cNvPr>
          <p:cNvSpPr/>
          <p:nvPr/>
        </p:nvSpPr>
        <p:spPr>
          <a:xfrm>
            <a:off x="7154778" y="4411579"/>
            <a:ext cx="3272589" cy="22298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l-GR" sz="2800" dirty="0"/>
              <a:t>ω</a:t>
            </a:r>
            <a:r>
              <a:rPr lang="en-IN" b="1" dirty="0"/>
              <a:t>l</a:t>
            </a:r>
            <a:r>
              <a:rPr lang="en-IN" sz="2000" dirty="0"/>
              <a:t>=</a:t>
            </a:r>
            <a:r>
              <a:rPr lang="el-GR" sz="2800" dirty="0"/>
              <a:t>ω</a:t>
            </a:r>
            <a:r>
              <a:rPr lang="en-IN" sz="1600" dirty="0"/>
              <a:t>v</a:t>
            </a:r>
            <a:r>
              <a:rPr lang="en-IN" sz="2000" dirty="0"/>
              <a:t>(1+d/2l * tan(</a:t>
            </a:r>
            <a:r>
              <a:rPr lang="el-GR" sz="2000" dirty="0"/>
              <a:t>ϴ</a:t>
            </a:r>
            <a:r>
              <a:rPr lang="en-IN" sz="2000" dirty="0"/>
              <a:t>))</a:t>
            </a:r>
          </a:p>
        </p:txBody>
      </p:sp>
      <p:sp>
        <p:nvSpPr>
          <p:cNvPr id="20" name="Flowchart: Alternate Process 19">
            <a:extLst>
              <a:ext uri="{FF2B5EF4-FFF2-40B4-BE49-F238E27FC236}">
                <a16:creationId xmlns:a16="http://schemas.microsoft.com/office/drawing/2014/main" id="{10DF55C8-3E75-25F1-F466-10475F048AF0}"/>
              </a:ext>
            </a:extLst>
          </p:cNvPr>
          <p:cNvSpPr/>
          <p:nvPr/>
        </p:nvSpPr>
        <p:spPr>
          <a:xfrm>
            <a:off x="10972800" y="4408859"/>
            <a:ext cx="3502025" cy="2229852"/>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l-GR" sz="2800" dirty="0"/>
              <a:t>ω</a:t>
            </a:r>
            <a:r>
              <a:rPr lang="en-IN" b="1" dirty="0"/>
              <a:t>r</a:t>
            </a:r>
            <a:r>
              <a:rPr lang="en-IN" sz="2000" dirty="0"/>
              <a:t>=</a:t>
            </a:r>
            <a:r>
              <a:rPr lang="el-GR" sz="2800" dirty="0"/>
              <a:t>ω</a:t>
            </a:r>
            <a:r>
              <a:rPr lang="en-IN" sz="1600" dirty="0"/>
              <a:t>v</a:t>
            </a:r>
            <a:r>
              <a:rPr lang="en-IN" sz="2000" dirty="0"/>
              <a:t>(1-d/2l * tan(</a:t>
            </a:r>
            <a:r>
              <a:rPr lang="el-GR" sz="2000" dirty="0"/>
              <a:t>ϴ</a:t>
            </a:r>
            <a:r>
              <a:rPr lang="en-IN" sz="2000" dirty="0"/>
              <a:t>))</a:t>
            </a:r>
          </a:p>
        </p:txBody>
      </p:sp>
      <p:sp>
        <p:nvSpPr>
          <p:cNvPr id="21" name="Flowchart: Alternate Process 20">
            <a:extLst>
              <a:ext uri="{FF2B5EF4-FFF2-40B4-BE49-F238E27FC236}">
                <a16:creationId xmlns:a16="http://schemas.microsoft.com/office/drawing/2014/main" id="{330ADEE4-4C64-35DD-C8EB-007B0484D0AB}"/>
              </a:ext>
            </a:extLst>
          </p:cNvPr>
          <p:cNvSpPr/>
          <p:nvPr/>
        </p:nvSpPr>
        <p:spPr>
          <a:xfrm>
            <a:off x="16546297" y="4224848"/>
            <a:ext cx="3047833" cy="1958223"/>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dirty="0"/>
              <a:t>STEERING ANGLE</a:t>
            </a:r>
          </a:p>
        </p:txBody>
      </p:sp>
      <p:sp>
        <p:nvSpPr>
          <p:cNvPr id="28" name="Flowchart: Alternate Process 27">
            <a:extLst>
              <a:ext uri="{FF2B5EF4-FFF2-40B4-BE49-F238E27FC236}">
                <a16:creationId xmlns:a16="http://schemas.microsoft.com/office/drawing/2014/main" id="{5AF58F57-EF94-5ED2-9309-E9BD734067E1}"/>
              </a:ext>
            </a:extLst>
          </p:cNvPr>
          <p:cNvSpPr/>
          <p:nvPr/>
        </p:nvSpPr>
        <p:spPr>
          <a:xfrm>
            <a:off x="2066145" y="4228207"/>
            <a:ext cx="2501870" cy="1131181"/>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dirty="0">
                <a:latin typeface="Calibri" panose="020F0502020204030204" pitchFamily="34" charset="0"/>
                <a:ea typeface="Calibri" panose="020F0502020204030204" pitchFamily="34" charset="0"/>
                <a:cs typeface="Calibri" panose="020F0502020204030204" pitchFamily="34" charset="0"/>
              </a:rPr>
              <a:t>WHEEL ENCODER</a:t>
            </a:r>
          </a:p>
        </p:txBody>
      </p:sp>
      <p:sp>
        <p:nvSpPr>
          <p:cNvPr id="29" name="Flowchart: Alternate Process 28">
            <a:extLst>
              <a:ext uri="{FF2B5EF4-FFF2-40B4-BE49-F238E27FC236}">
                <a16:creationId xmlns:a16="http://schemas.microsoft.com/office/drawing/2014/main" id="{026778EB-6C1A-CF06-EB88-71C05210B92A}"/>
              </a:ext>
            </a:extLst>
          </p:cNvPr>
          <p:cNvSpPr/>
          <p:nvPr/>
        </p:nvSpPr>
        <p:spPr>
          <a:xfrm>
            <a:off x="2208259" y="6281686"/>
            <a:ext cx="2515694" cy="1109902"/>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dirty="0">
                <a:latin typeface="Calibri" panose="020F0502020204030204" pitchFamily="34" charset="0"/>
                <a:ea typeface="Calibri" panose="020F0502020204030204" pitchFamily="34" charset="0"/>
                <a:cs typeface="Calibri" panose="020F0502020204030204" pitchFamily="34" charset="0"/>
              </a:rPr>
              <a:t>WHEEL ENCODER</a:t>
            </a:r>
          </a:p>
        </p:txBody>
      </p:sp>
      <p:sp>
        <p:nvSpPr>
          <p:cNvPr id="30" name="Flowchart: Alternate Process 29">
            <a:extLst>
              <a:ext uri="{FF2B5EF4-FFF2-40B4-BE49-F238E27FC236}">
                <a16:creationId xmlns:a16="http://schemas.microsoft.com/office/drawing/2014/main" id="{6F6E3008-474F-7DEA-F7B0-3435D4263AC2}"/>
              </a:ext>
            </a:extLst>
          </p:cNvPr>
          <p:cNvSpPr/>
          <p:nvPr/>
        </p:nvSpPr>
        <p:spPr>
          <a:xfrm>
            <a:off x="9900268" y="9197735"/>
            <a:ext cx="3408248" cy="1237705"/>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dirty="0">
                <a:latin typeface="Calibri" panose="020F0502020204030204" pitchFamily="34" charset="0"/>
                <a:ea typeface="Calibri" panose="020F0502020204030204" pitchFamily="34" charset="0"/>
                <a:cs typeface="Calibri" panose="020F0502020204030204" pitchFamily="34" charset="0"/>
              </a:rPr>
              <a:t>THROTTLE</a:t>
            </a:r>
          </a:p>
        </p:txBody>
      </p:sp>
      <p:sp>
        <p:nvSpPr>
          <p:cNvPr id="31" name="Arrow: Up 30">
            <a:extLst>
              <a:ext uri="{FF2B5EF4-FFF2-40B4-BE49-F238E27FC236}">
                <a16:creationId xmlns:a16="http://schemas.microsoft.com/office/drawing/2014/main" id="{BD790187-A712-25BD-073E-E2D228590A5D}"/>
              </a:ext>
            </a:extLst>
          </p:cNvPr>
          <p:cNvSpPr/>
          <p:nvPr/>
        </p:nvSpPr>
        <p:spPr>
          <a:xfrm>
            <a:off x="3245989" y="7396890"/>
            <a:ext cx="399732" cy="1428919"/>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Arrow: Up 32">
            <a:extLst>
              <a:ext uri="{FF2B5EF4-FFF2-40B4-BE49-F238E27FC236}">
                <a16:creationId xmlns:a16="http://schemas.microsoft.com/office/drawing/2014/main" id="{A5748863-825E-CF86-9840-F95515029534}"/>
              </a:ext>
            </a:extLst>
          </p:cNvPr>
          <p:cNvSpPr/>
          <p:nvPr/>
        </p:nvSpPr>
        <p:spPr>
          <a:xfrm rot="10800000">
            <a:off x="3040061" y="2843975"/>
            <a:ext cx="408992" cy="1428919"/>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Arrow: Up 33">
            <a:extLst>
              <a:ext uri="{FF2B5EF4-FFF2-40B4-BE49-F238E27FC236}">
                <a16:creationId xmlns:a16="http://schemas.microsoft.com/office/drawing/2014/main" id="{2C6B28FC-2114-C07E-37CC-75AF401F36A0}"/>
              </a:ext>
            </a:extLst>
          </p:cNvPr>
          <p:cNvSpPr/>
          <p:nvPr/>
        </p:nvSpPr>
        <p:spPr>
          <a:xfrm>
            <a:off x="11404526" y="7759218"/>
            <a:ext cx="399732" cy="1428919"/>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Arrow: Up 34">
            <a:extLst>
              <a:ext uri="{FF2B5EF4-FFF2-40B4-BE49-F238E27FC236}">
                <a16:creationId xmlns:a16="http://schemas.microsoft.com/office/drawing/2014/main" id="{0BCE51C8-7589-BD0C-CB07-D3FE8DB16FB4}"/>
              </a:ext>
            </a:extLst>
          </p:cNvPr>
          <p:cNvSpPr/>
          <p:nvPr/>
        </p:nvSpPr>
        <p:spPr>
          <a:xfrm rot="16200000">
            <a:off x="15611502" y="4462795"/>
            <a:ext cx="399732" cy="1428919"/>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7" name="Connector: Curved 36">
            <a:extLst>
              <a:ext uri="{FF2B5EF4-FFF2-40B4-BE49-F238E27FC236}">
                <a16:creationId xmlns:a16="http://schemas.microsoft.com/office/drawing/2014/main" id="{81541B37-1BEA-243A-4217-32EDAB68C03F}"/>
              </a:ext>
            </a:extLst>
          </p:cNvPr>
          <p:cNvCxnSpPr>
            <a:cxnSpLocks/>
          </p:cNvCxnSpPr>
          <p:nvPr/>
        </p:nvCxnSpPr>
        <p:spPr>
          <a:xfrm>
            <a:off x="4568015" y="4451611"/>
            <a:ext cx="2267760" cy="584358"/>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nector: Curved 44">
            <a:extLst>
              <a:ext uri="{FF2B5EF4-FFF2-40B4-BE49-F238E27FC236}">
                <a16:creationId xmlns:a16="http://schemas.microsoft.com/office/drawing/2014/main" id="{0D2C8F02-3591-6ED6-2D2F-A9581CE7C83E}"/>
              </a:ext>
            </a:extLst>
          </p:cNvPr>
          <p:cNvCxnSpPr>
            <a:cxnSpLocks/>
          </p:cNvCxnSpPr>
          <p:nvPr/>
        </p:nvCxnSpPr>
        <p:spPr>
          <a:xfrm flipV="1">
            <a:off x="4705451" y="6503485"/>
            <a:ext cx="2129707" cy="598575"/>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Thought Bubble: Cloud 46">
            <a:extLst>
              <a:ext uri="{FF2B5EF4-FFF2-40B4-BE49-F238E27FC236}">
                <a16:creationId xmlns:a16="http://schemas.microsoft.com/office/drawing/2014/main" id="{2FA80BBD-BD6B-6BBA-014E-6540499CA2C5}"/>
              </a:ext>
            </a:extLst>
          </p:cNvPr>
          <p:cNvSpPr/>
          <p:nvPr/>
        </p:nvSpPr>
        <p:spPr>
          <a:xfrm>
            <a:off x="7908758" y="1186209"/>
            <a:ext cx="4219073" cy="1193215"/>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dirty="0">
                <a:latin typeface="Calibri" panose="020F0502020204030204" pitchFamily="34" charset="0"/>
                <a:ea typeface="Calibri" panose="020F0502020204030204" pitchFamily="34" charset="0"/>
                <a:cs typeface="Calibri" panose="020F0502020204030204" pitchFamily="34" charset="0"/>
              </a:rPr>
              <a:t>ARDUINO IOT CLOUD</a:t>
            </a:r>
          </a:p>
        </p:txBody>
      </p:sp>
      <p:sp>
        <p:nvSpPr>
          <p:cNvPr id="6" name="TextBox 5">
            <a:extLst>
              <a:ext uri="{FF2B5EF4-FFF2-40B4-BE49-F238E27FC236}">
                <a16:creationId xmlns:a16="http://schemas.microsoft.com/office/drawing/2014/main" id="{E7EEE10F-F854-50DC-B21A-EF2F5A95D866}"/>
              </a:ext>
            </a:extLst>
          </p:cNvPr>
          <p:cNvSpPr txBox="1"/>
          <p:nvPr/>
        </p:nvSpPr>
        <p:spPr>
          <a:xfrm flipH="1">
            <a:off x="6409972" y="10445038"/>
            <a:ext cx="11273190" cy="1200329"/>
          </a:xfrm>
          <a:prstGeom prst="rect">
            <a:avLst/>
          </a:prstGeom>
          <a:noFill/>
        </p:spPr>
        <p:txBody>
          <a:bodyPr wrap="square" rtlCol="0">
            <a:spAutoFit/>
          </a:bodyPr>
          <a:lstStyle/>
          <a:p>
            <a:r>
              <a:rPr lang="en-US" sz="3600" b="1" dirty="0">
                <a:latin typeface="Calibri" panose="020F0502020204030204" pitchFamily="34" charset="0"/>
                <a:ea typeface="Calibri" panose="020F0502020204030204" pitchFamily="34" charset="0"/>
                <a:cs typeface="Calibri" panose="020F0502020204030204" pitchFamily="34" charset="0"/>
              </a:rPr>
              <a:t>Fig.7  </a:t>
            </a:r>
            <a:r>
              <a:rPr lang="en-IN" sz="3600" b="1" dirty="0">
                <a:latin typeface="Calibri" panose="020F0502020204030204" pitchFamily="34" charset="0"/>
                <a:ea typeface="Calibri" panose="020F0502020204030204" pitchFamily="34" charset="0"/>
                <a:cs typeface="Calibri" panose="020F0502020204030204" pitchFamily="34" charset="0"/>
              </a:rPr>
              <a:t>Block diagram for proposed model</a:t>
            </a:r>
          </a:p>
          <a:p>
            <a:endParaRPr lang="en-IN" sz="36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806321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4"/>
          <p:cNvSpPr txBox="1"/>
          <p:nvPr/>
        </p:nvSpPr>
        <p:spPr>
          <a:xfrm>
            <a:off x="0" y="0"/>
            <a:ext cx="20104101" cy="11309350"/>
          </a:xfrm>
          <a:prstGeom prst="rect">
            <a:avLst/>
          </a:prstGeom>
          <a:solidFill>
            <a:schemeClr val="lt1">
              <a:alpha val="98431"/>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5" name="Google Shape;85;p4"/>
          <p:cNvSpPr txBox="1"/>
          <p:nvPr/>
        </p:nvSpPr>
        <p:spPr>
          <a:xfrm>
            <a:off x="8857616" y="2916748"/>
            <a:ext cx="10328830" cy="6478105"/>
          </a:xfrm>
          <a:prstGeom prst="rect">
            <a:avLst/>
          </a:prstGeom>
          <a:noFill/>
          <a:ln>
            <a:noFill/>
          </a:ln>
        </p:spPr>
        <p:txBody>
          <a:bodyPr spcFirstLastPara="1" wrap="square" lIns="0" tIns="12050" rIns="0" bIns="0" anchor="t" anchorCtr="0">
            <a:spAutoFit/>
          </a:bodyPr>
          <a:lstStyle/>
          <a:p>
            <a:pPr marL="457200" algn="just">
              <a:lnSpc>
                <a:spcPct val="101000"/>
              </a:lnSpc>
            </a:pPr>
            <a:r>
              <a:rPr lang="en-US" sz="3200" b="1" dirty="0"/>
              <a:t>Encoders :</a:t>
            </a:r>
            <a:r>
              <a:rPr lang="en-US" sz="3200" dirty="0"/>
              <a:t> used in wheels, often referred to as "wheel encoders" or "rotary wheel encoders," are devices that measure the rotational motion and position of a wheel</a:t>
            </a:r>
          </a:p>
          <a:p>
            <a:pPr marL="457200" algn="just">
              <a:lnSpc>
                <a:spcPct val="101000"/>
              </a:lnSpc>
            </a:pPr>
            <a:endParaRPr lang="en-US" sz="3200" dirty="0"/>
          </a:p>
          <a:p>
            <a:pPr marL="457200" algn="just">
              <a:lnSpc>
                <a:spcPct val="101000"/>
              </a:lnSpc>
            </a:pPr>
            <a:endParaRPr lang="en-US" sz="3200" dirty="0"/>
          </a:p>
          <a:p>
            <a:pPr marL="457200" algn="just">
              <a:lnSpc>
                <a:spcPct val="101000"/>
              </a:lnSpc>
            </a:pPr>
            <a:endParaRPr lang="en-US" sz="3200" dirty="0"/>
          </a:p>
          <a:p>
            <a:pPr marL="457200" algn="just">
              <a:lnSpc>
                <a:spcPct val="101000"/>
              </a:lnSpc>
            </a:pPr>
            <a:endParaRPr lang="en-US" sz="3200" dirty="0"/>
          </a:p>
          <a:p>
            <a:pPr marL="457200" algn="just">
              <a:lnSpc>
                <a:spcPct val="101000"/>
              </a:lnSpc>
            </a:pPr>
            <a:endParaRPr lang="en-US" sz="3200" dirty="0"/>
          </a:p>
          <a:p>
            <a:pPr marL="457200" algn="just">
              <a:lnSpc>
                <a:spcPct val="101000"/>
              </a:lnSpc>
            </a:pPr>
            <a:r>
              <a:rPr lang="en-US" sz="3200" b="1" dirty="0"/>
              <a:t>MOTOR DRIVER: </a:t>
            </a:r>
            <a:r>
              <a:rPr lang="en-US" sz="3200" dirty="0"/>
              <a:t>The </a:t>
            </a:r>
            <a:r>
              <a:rPr lang="en-US" sz="3200" b="1" dirty="0"/>
              <a:t>L298</a:t>
            </a:r>
            <a:r>
              <a:rPr lang="en-US" sz="3200" dirty="0"/>
              <a:t> is a dual full-bridge motor driver integrated circuit (IC) commonly used to control the speed and direction of DC motors and stepper motors in robotics and automation applications.</a:t>
            </a:r>
            <a:endParaRPr lang="en-US" dirty="0"/>
          </a:p>
          <a:p>
            <a:pPr marL="457200" algn="just">
              <a:lnSpc>
                <a:spcPct val="101000"/>
              </a:lnSpc>
            </a:pPr>
            <a:endParaRPr lang="en-US" sz="3200" dirty="0"/>
          </a:p>
        </p:txBody>
      </p:sp>
      <p:sp>
        <p:nvSpPr>
          <p:cNvPr id="86" name="Google Shape;86;p4"/>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7" name="Google Shape;87;p4"/>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8" name="Google Shape;88;p4"/>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9" name="Google Shape;89;p4"/>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90" name="Google Shape;90;p4"/>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RV College of</a:t>
            </a:r>
            <a:endParaRPr dirty="0"/>
          </a:p>
          <a:p>
            <a:pPr marL="12700" marR="0" lvl="0" indent="0" algn="l" rtl="0">
              <a:lnSpc>
                <a:spcPct val="106250"/>
              </a:lnSpc>
              <a:spcBef>
                <a:spcPts val="10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Engineering </a:t>
            </a:r>
            <a:endParaRPr dirty="0"/>
          </a:p>
        </p:txBody>
      </p:sp>
      <p:sp>
        <p:nvSpPr>
          <p:cNvPr id="92" name="Google Shape;92;p4"/>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dirty="0">
                <a:solidFill>
                  <a:srgbClr val="422C75"/>
                </a:solidFill>
                <a:latin typeface="Playfair Display"/>
                <a:ea typeface="Playfair Display"/>
                <a:cs typeface="Playfair Display"/>
                <a:sym typeface="Playfair Display"/>
              </a:rPr>
              <a:t>Go, change the world</a:t>
            </a:r>
            <a:endParaRPr dirty="0"/>
          </a:p>
        </p:txBody>
      </p:sp>
      <p:sp>
        <p:nvSpPr>
          <p:cNvPr id="93" name="Google Shape;93;p4"/>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a:t>
            </a:r>
            <a:endParaRPr dirty="0"/>
          </a:p>
        </p:txBody>
      </p:sp>
      <p:sp>
        <p:nvSpPr>
          <p:cNvPr id="94" name="Google Shape;94;p4"/>
          <p:cNvSpPr txBox="1"/>
          <p:nvPr/>
        </p:nvSpPr>
        <p:spPr>
          <a:xfrm>
            <a:off x="6835775" y="10517187"/>
            <a:ext cx="6432550" cy="56673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Department of ECE</a:t>
            </a:r>
            <a:endParaRPr dirty="0"/>
          </a:p>
        </p:txBody>
      </p:sp>
      <p:sp>
        <p:nvSpPr>
          <p:cNvPr id="95" name="Google Shape;95;p4"/>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23</a:t>
            </a:fld>
            <a:endParaRPr dirty="0"/>
          </a:p>
        </p:txBody>
      </p:sp>
      <p:pic>
        <p:nvPicPr>
          <p:cNvPr id="4" name="Picture 3">
            <a:extLst>
              <a:ext uri="{FF2B5EF4-FFF2-40B4-BE49-F238E27FC236}">
                <a16:creationId xmlns:a16="http://schemas.microsoft.com/office/drawing/2014/main" id="{75B4F84D-D8CD-3843-B2F5-FCF981838E4A}"/>
              </a:ext>
            </a:extLst>
          </p:cNvPr>
          <p:cNvPicPr>
            <a:picLocks noChangeAspect="1"/>
          </p:cNvPicPr>
          <p:nvPr/>
        </p:nvPicPr>
        <p:blipFill>
          <a:blip r:embed="rId4"/>
          <a:stretch>
            <a:fillRect/>
          </a:stretch>
        </p:blipFill>
        <p:spPr>
          <a:xfrm>
            <a:off x="1184459" y="1329880"/>
            <a:ext cx="6508021" cy="4100054"/>
          </a:xfrm>
          <a:prstGeom prst="rect">
            <a:avLst/>
          </a:prstGeom>
        </p:spPr>
      </p:pic>
      <p:pic>
        <p:nvPicPr>
          <p:cNvPr id="5122" name="Picture 2">
            <a:extLst>
              <a:ext uri="{FF2B5EF4-FFF2-40B4-BE49-F238E27FC236}">
                <a16:creationId xmlns:a16="http://schemas.microsoft.com/office/drawing/2014/main" id="{2AE438C2-D136-B7A1-CD53-BC9FFCA77E7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8296" y="5737395"/>
            <a:ext cx="5808476" cy="580847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5A7A8DD-66C8-234E-78BF-AB022C630587}"/>
              </a:ext>
            </a:extLst>
          </p:cNvPr>
          <p:cNvSpPr txBox="1"/>
          <p:nvPr/>
        </p:nvSpPr>
        <p:spPr>
          <a:xfrm flipH="1">
            <a:off x="2838739" y="5534848"/>
            <a:ext cx="3380984" cy="646331"/>
          </a:xfrm>
          <a:prstGeom prst="rect">
            <a:avLst/>
          </a:prstGeom>
          <a:noFill/>
        </p:spPr>
        <p:txBody>
          <a:bodyPr wrap="square" rtlCol="0">
            <a:spAutoFit/>
          </a:bodyPr>
          <a:lstStyle/>
          <a:p>
            <a:r>
              <a:rPr lang="en-US" sz="3600" b="1" dirty="0">
                <a:latin typeface="Calibri" panose="020F0502020204030204" pitchFamily="34" charset="0"/>
                <a:ea typeface="Calibri" panose="020F0502020204030204" pitchFamily="34" charset="0"/>
                <a:cs typeface="Calibri" panose="020F0502020204030204" pitchFamily="34" charset="0"/>
              </a:rPr>
              <a:t>Fig.8 Encoders</a:t>
            </a:r>
            <a:endParaRPr lang="en-IN" sz="3600" b="1" dirty="0">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BA65DA05-9269-2299-DF3A-D83B6C98DCB1}"/>
              </a:ext>
            </a:extLst>
          </p:cNvPr>
          <p:cNvSpPr txBox="1"/>
          <p:nvPr/>
        </p:nvSpPr>
        <p:spPr>
          <a:xfrm flipH="1">
            <a:off x="2550081" y="10555853"/>
            <a:ext cx="4084080" cy="646331"/>
          </a:xfrm>
          <a:prstGeom prst="rect">
            <a:avLst/>
          </a:prstGeom>
          <a:noFill/>
        </p:spPr>
        <p:txBody>
          <a:bodyPr wrap="square" rtlCol="0">
            <a:spAutoFit/>
          </a:bodyPr>
          <a:lstStyle/>
          <a:p>
            <a:r>
              <a:rPr lang="en-US" sz="3600" b="1" dirty="0">
                <a:latin typeface="Calibri" panose="020F0502020204030204" pitchFamily="34" charset="0"/>
                <a:ea typeface="Calibri" panose="020F0502020204030204" pitchFamily="34" charset="0"/>
                <a:cs typeface="Calibri" panose="020F0502020204030204" pitchFamily="34" charset="0"/>
              </a:rPr>
              <a:t>Fig.9 Motor driver </a:t>
            </a:r>
            <a:endParaRPr lang="en-IN" sz="36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865456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4"/>
          <p:cNvSpPr txBox="1"/>
          <p:nvPr/>
        </p:nvSpPr>
        <p:spPr>
          <a:xfrm>
            <a:off x="0" y="-24713"/>
            <a:ext cx="20104101" cy="11309350"/>
          </a:xfrm>
          <a:prstGeom prst="rect">
            <a:avLst/>
          </a:prstGeom>
          <a:solidFill>
            <a:schemeClr val="lt1">
              <a:alpha val="98431"/>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lang="en-IN" sz="1800" b="0" i="0" u="none" dirty="0">
              <a:solidFill>
                <a:schemeClr val="dk1"/>
              </a:solidFill>
              <a:latin typeface="Calibri"/>
              <a:ea typeface="Calibri"/>
              <a:cs typeface="Calibri"/>
              <a:sym typeface="Calibri"/>
            </a:endParaRPr>
          </a:p>
        </p:txBody>
      </p:sp>
      <p:sp>
        <p:nvSpPr>
          <p:cNvPr id="85" name="Google Shape;85;p4"/>
          <p:cNvSpPr txBox="1"/>
          <p:nvPr/>
        </p:nvSpPr>
        <p:spPr>
          <a:xfrm>
            <a:off x="7105435" y="2356010"/>
            <a:ext cx="11798705" cy="7970244"/>
          </a:xfrm>
          <a:prstGeom prst="rect">
            <a:avLst/>
          </a:prstGeom>
          <a:noFill/>
          <a:ln>
            <a:noFill/>
          </a:ln>
        </p:spPr>
        <p:txBody>
          <a:bodyPr spcFirstLastPara="1" wrap="square" lIns="0" tIns="12050" rIns="0" bIns="0" anchor="t" anchorCtr="0">
            <a:spAutoFit/>
          </a:bodyPr>
          <a:lstStyle/>
          <a:p>
            <a:pPr marL="457200" algn="just">
              <a:lnSpc>
                <a:spcPct val="101000"/>
              </a:lnSpc>
            </a:pPr>
            <a:r>
              <a:rPr lang="en-US" sz="3200" b="1" dirty="0"/>
              <a:t>CHARGING MODULE : </a:t>
            </a:r>
            <a:r>
              <a:rPr lang="en-US" sz="3200" dirty="0"/>
              <a:t>The TP4056 charging module is a compact device that charges lithium-ion or lithium-polymer batteries efficiently and safely, with features like constant current and voltage charging, protection against overcharging, and LED indicators for charging status.</a:t>
            </a:r>
          </a:p>
          <a:p>
            <a:pPr marL="457200" algn="just">
              <a:lnSpc>
                <a:spcPct val="101000"/>
              </a:lnSpc>
            </a:pPr>
            <a:endParaRPr lang="en-US" sz="3200" dirty="0"/>
          </a:p>
          <a:p>
            <a:pPr marL="457200" algn="just">
              <a:lnSpc>
                <a:spcPct val="101000"/>
              </a:lnSpc>
            </a:pPr>
            <a:endParaRPr lang="en-US" sz="3200" dirty="0"/>
          </a:p>
          <a:p>
            <a:pPr marL="457200" algn="just">
              <a:lnSpc>
                <a:spcPct val="101000"/>
              </a:lnSpc>
            </a:pPr>
            <a:endParaRPr lang="en-US" sz="3200" dirty="0"/>
          </a:p>
          <a:p>
            <a:pPr marL="457200" algn="just">
              <a:lnSpc>
                <a:spcPct val="101000"/>
              </a:lnSpc>
            </a:pPr>
            <a:endParaRPr lang="en-US" sz="3200" dirty="0"/>
          </a:p>
          <a:p>
            <a:pPr marL="457200" algn="just">
              <a:lnSpc>
                <a:spcPct val="101000"/>
              </a:lnSpc>
            </a:pPr>
            <a:r>
              <a:rPr lang="en-US" sz="3200" b="1" dirty="0"/>
              <a:t>Li-ION BATTERY: </a:t>
            </a:r>
            <a:r>
              <a:rPr lang="en-US" sz="3200" dirty="0"/>
              <a:t>The 18650 lithium-ion battery is a cylindrical cell format often used in various electronic devices, including laptops and power banks. Its specifications typically include a nominal voltage of 3.7V, capacity ranging from around 1500mAh to over 3500mAh, and a rechargeable design</a:t>
            </a:r>
            <a:endParaRPr lang="en-US" dirty="0"/>
          </a:p>
          <a:p>
            <a:pPr marL="457200" algn="just">
              <a:lnSpc>
                <a:spcPct val="101000"/>
              </a:lnSpc>
            </a:pPr>
            <a:endParaRPr lang="en-US" sz="3200" dirty="0"/>
          </a:p>
          <a:p>
            <a:pPr marL="457200" algn="just">
              <a:lnSpc>
                <a:spcPct val="101000"/>
              </a:lnSpc>
            </a:pPr>
            <a:endParaRPr lang="en-US" sz="3200" dirty="0"/>
          </a:p>
        </p:txBody>
      </p:sp>
      <p:sp>
        <p:nvSpPr>
          <p:cNvPr id="86" name="Google Shape;86;p4"/>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7" name="Google Shape;87;p4"/>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8" name="Google Shape;88;p4"/>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9" name="Google Shape;89;p4"/>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90" name="Google Shape;90;p4"/>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RV College of</a:t>
            </a:r>
            <a:endParaRPr dirty="0"/>
          </a:p>
          <a:p>
            <a:pPr marL="12700" marR="0" lvl="0" indent="0" algn="l" rtl="0">
              <a:lnSpc>
                <a:spcPct val="106250"/>
              </a:lnSpc>
              <a:spcBef>
                <a:spcPts val="10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Engineering </a:t>
            </a:r>
            <a:endParaRPr dirty="0"/>
          </a:p>
        </p:txBody>
      </p:sp>
      <p:sp>
        <p:nvSpPr>
          <p:cNvPr id="92" name="Google Shape;92;p4"/>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dirty="0">
                <a:solidFill>
                  <a:srgbClr val="422C75"/>
                </a:solidFill>
                <a:latin typeface="Playfair Display"/>
                <a:ea typeface="Playfair Display"/>
                <a:cs typeface="Playfair Display"/>
                <a:sym typeface="Playfair Display"/>
              </a:rPr>
              <a:t>Go, change the world</a:t>
            </a:r>
            <a:endParaRPr dirty="0"/>
          </a:p>
        </p:txBody>
      </p:sp>
      <p:sp>
        <p:nvSpPr>
          <p:cNvPr id="93" name="Google Shape;93;p4"/>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a:t>
            </a:r>
            <a:endParaRPr dirty="0"/>
          </a:p>
        </p:txBody>
      </p:sp>
      <p:sp>
        <p:nvSpPr>
          <p:cNvPr id="94" name="Google Shape;94;p4"/>
          <p:cNvSpPr txBox="1"/>
          <p:nvPr/>
        </p:nvSpPr>
        <p:spPr>
          <a:xfrm>
            <a:off x="6835775" y="10517187"/>
            <a:ext cx="6432550" cy="56673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Department of ECE</a:t>
            </a:r>
            <a:endParaRPr dirty="0"/>
          </a:p>
        </p:txBody>
      </p:sp>
      <p:sp>
        <p:nvSpPr>
          <p:cNvPr id="95" name="Google Shape;95;p4"/>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24</a:t>
            </a:fld>
            <a:endParaRPr dirty="0"/>
          </a:p>
        </p:txBody>
      </p:sp>
      <p:pic>
        <p:nvPicPr>
          <p:cNvPr id="4098" name="Picture 2">
            <a:extLst>
              <a:ext uri="{FF2B5EF4-FFF2-40B4-BE49-F238E27FC236}">
                <a16:creationId xmlns:a16="http://schemas.microsoft.com/office/drawing/2014/main" id="{01558935-33A7-FBEB-5FE9-45A84BDE45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2044" y="1044574"/>
            <a:ext cx="4762500" cy="4762500"/>
          </a:xfrm>
          <a:prstGeom prst="rect">
            <a:avLst/>
          </a:prstGeom>
          <a:noFill/>
          <a:extLst>
            <a:ext uri="{909E8E84-426E-40DD-AFC4-6F175D3DCCD1}">
              <a14:hiddenFill xmlns:a14="http://schemas.microsoft.com/office/drawing/2010/main">
                <a:solidFill>
                  <a:srgbClr val="FFFFFF"/>
                </a:solidFill>
              </a14:hiddenFill>
            </a:ext>
          </a:extLst>
        </p:spPr>
      </p:pic>
      <p:sp>
        <p:nvSpPr>
          <p:cNvPr id="2" name="AutoShape 4">
            <a:extLst>
              <a:ext uri="{FF2B5EF4-FFF2-40B4-BE49-F238E27FC236}">
                <a16:creationId xmlns:a16="http://schemas.microsoft.com/office/drawing/2014/main" id="{FE0DB32B-71E6-6FEF-FC4B-90A797FF87C2}"/>
              </a:ext>
            </a:extLst>
          </p:cNvPr>
          <p:cNvSpPr>
            <a:spLocks noChangeAspect="1" noChangeArrowheads="1"/>
          </p:cNvSpPr>
          <p:nvPr/>
        </p:nvSpPr>
        <p:spPr bwMode="auto">
          <a:xfrm>
            <a:off x="9899650" y="55022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102" name="Picture 6">
            <a:extLst>
              <a:ext uri="{FF2B5EF4-FFF2-40B4-BE49-F238E27FC236}">
                <a16:creationId xmlns:a16="http://schemas.microsoft.com/office/drawing/2014/main" id="{785FD317-54CA-BB18-EDD7-241BD1007D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2450" y="6183311"/>
            <a:ext cx="4538663" cy="453866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CE03E2D-1331-3E4C-4D73-DFC13AE00AAF}"/>
              </a:ext>
            </a:extLst>
          </p:cNvPr>
          <p:cNvSpPr txBox="1"/>
          <p:nvPr/>
        </p:nvSpPr>
        <p:spPr>
          <a:xfrm flipH="1">
            <a:off x="1971273" y="5568919"/>
            <a:ext cx="4970731" cy="646331"/>
          </a:xfrm>
          <a:prstGeom prst="rect">
            <a:avLst/>
          </a:prstGeom>
          <a:noFill/>
        </p:spPr>
        <p:txBody>
          <a:bodyPr wrap="square" rtlCol="0">
            <a:spAutoFit/>
          </a:bodyPr>
          <a:lstStyle/>
          <a:p>
            <a:r>
              <a:rPr lang="en-US" sz="3600" b="1" dirty="0">
                <a:latin typeface="Calibri" panose="020F0502020204030204" pitchFamily="34" charset="0"/>
                <a:ea typeface="Calibri" panose="020F0502020204030204" pitchFamily="34" charset="0"/>
                <a:cs typeface="Calibri" panose="020F0502020204030204" pitchFamily="34" charset="0"/>
              </a:rPr>
              <a:t>Fig.10 Charging module</a:t>
            </a:r>
            <a:endParaRPr lang="en-IN" sz="3600" b="1" dirty="0">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372AEFD7-6626-486D-EDB0-B53E7004CC96}"/>
              </a:ext>
            </a:extLst>
          </p:cNvPr>
          <p:cNvSpPr txBox="1"/>
          <p:nvPr/>
        </p:nvSpPr>
        <p:spPr>
          <a:xfrm flipH="1">
            <a:off x="2142936" y="10575148"/>
            <a:ext cx="4491225" cy="646331"/>
          </a:xfrm>
          <a:prstGeom prst="rect">
            <a:avLst/>
          </a:prstGeom>
          <a:noFill/>
        </p:spPr>
        <p:txBody>
          <a:bodyPr wrap="square" rtlCol="0">
            <a:spAutoFit/>
          </a:bodyPr>
          <a:lstStyle/>
          <a:p>
            <a:r>
              <a:rPr lang="en-US" sz="3600" b="1" dirty="0">
                <a:latin typeface="Calibri" panose="020F0502020204030204" pitchFamily="34" charset="0"/>
                <a:ea typeface="Calibri" panose="020F0502020204030204" pitchFamily="34" charset="0"/>
                <a:cs typeface="Calibri" panose="020F0502020204030204" pitchFamily="34" charset="0"/>
              </a:rPr>
              <a:t>Fig.11 Li-ion battery</a:t>
            </a:r>
            <a:endParaRPr lang="en-IN" sz="36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530423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4"/>
          <p:cNvSpPr txBox="1"/>
          <p:nvPr/>
        </p:nvSpPr>
        <p:spPr>
          <a:xfrm>
            <a:off x="0" y="-81643"/>
            <a:ext cx="20104101" cy="11309350"/>
          </a:xfrm>
          <a:prstGeom prst="rect">
            <a:avLst/>
          </a:prstGeom>
          <a:solidFill>
            <a:schemeClr val="lt1">
              <a:alpha val="98431"/>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5" name="Google Shape;85;p4"/>
          <p:cNvSpPr txBox="1"/>
          <p:nvPr/>
        </p:nvSpPr>
        <p:spPr>
          <a:xfrm>
            <a:off x="8425542" y="1992086"/>
            <a:ext cx="10365123" cy="7970244"/>
          </a:xfrm>
          <a:prstGeom prst="rect">
            <a:avLst/>
          </a:prstGeom>
          <a:noFill/>
          <a:ln>
            <a:noFill/>
          </a:ln>
        </p:spPr>
        <p:txBody>
          <a:bodyPr spcFirstLastPara="1" wrap="square" lIns="0" tIns="12050" rIns="0" bIns="0" anchor="t" anchorCtr="0">
            <a:spAutoFit/>
          </a:bodyPr>
          <a:lstStyle/>
          <a:p>
            <a:pPr marL="457200" algn="just">
              <a:lnSpc>
                <a:spcPct val="101000"/>
              </a:lnSpc>
            </a:pPr>
            <a:r>
              <a:rPr lang="en-US" sz="3200" b="1" dirty="0"/>
              <a:t>ESP8266 </a:t>
            </a:r>
            <a:r>
              <a:rPr lang="en-US" sz="3200" dirty="0"/>
              <a:t>:The ESP8266 is a Wi-Fi-enabled microcontroller module used for IoT and embedded applications. It enables wireless communication, sensor integration, web server hosting, and IoT device control.</a:t>
            </a:r>
          </a:p>
          <a:p>
            <a:pPr marL="457200" algn="just">
              <a:lnSpc>
                <a:spcPct val="101000"/>
              </a:lnSpc>
            </a:pPr>
            <a:endParaRPr lang="en-US" sz="3200" dirty="0"/>
          </a:p>
          <a:p>
            <a:pPr marL="457200" algn="just">
              <a:lnSpc>
                <a:spcPct val="101000"/>
              </a:lnSpc>
            </a:pPr>
            <a:endParaRPr lang="en-US" sz="3200" dirty="0"/>
          </a:p>
          <a:p>
            <a:pPr marL="457200" algn="just">
              <a:lnSpc>
                <a:spcPct val="101000"/>
              </a:lnSpc>
            </a:pPr>
            <a:endParaRPr lang="en-US" sz="3200" dirty="0"/>
          </a:p>
          <a:p>
            <a:pPr marL="457200" algn="just">
              <a:lnSpc>
                <a:spcPct val="101000"/>
              </a:lnSpc>
            </a:pPr>
            <a:endParaRPr lang="en-US" sz="3200" dirty="0"/>
          </a:p>
          <a:p>
            <a:pPr marL="457200" algn="just">
              <a:lnSpc>
                <a:spcPct val="101000"/>
              </a:lnSpc>
            </a:pPr>
            <a:endParaRPr lang="en-US" sz="3200" dirty="0"/>
          </a:p>
          <a:p>
            <a:pPr marL="457200" algn="just">
              <a:lnSpc>
                <a:spcPct val="101000"/>
              </a:lnSpc>
            </a:pPr>
            <a:r>
              <a:rPr lang="en-US" sz="3200" b="1" dirty="0"/>
              <a:t>DC MOTOR :</a:t>
            </a:r>
            <a:r>
              <a:rPr lang="en-US" sz="3200" dirty="0"/>
              <a:t>A DC geared motor is a combination of a DC motor and a gearbox, providing controlled torque and speed output. It's used in various applications like robotics and automation to convert electrical energy into mechanical motion with adjustable speed and power.</a:t>
            </a:r>
            <a:endParaRPr lang="en-US" dirty="0"/>
          </a:p>
        </p:txBody>
      </p:sp>
      <p:sp>
        <p:nvSpPr>
          <p:cNvPr id="86" name="Google Shape;86;p4"/>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7" name="Google Shape;87;p4"/>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8" name="Google Shape;88;p4"/>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9" name="Google Shape;89;p4"/>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90" name="Google Shape;90;p4"/>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RV College of</a:t>
            </a:r>
            <a:endParaRPr dirty="0"/>
          </a:p>
          <a:p>
            <a:pPr marL="12700" marR="0" lvl="0" indent="0" algn="l" rtl="0">
              <a:lnSpc>
                <a:spcPct val="106250"/>
              </a:lnSpc>
              <a:spcBef>
                <a:spcPts val="10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Engineering </a:t>
            </a:r>
            <a:endParaRPr dirty="0"/>
          </a:p>
        </p:txBody>
      </p:sp>
      <p:sp>
        <p:nvSpPr>
          <p:cNvPr id="92" name="Google Shape;92;p4"/>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dirty="0">
                <a:solidFill>
                  <a:srgbClr val="422C75"/>
                </a:solidFill>
                <a:latin typeface="Playfair Display"/>
                <a:ea typeface="Playfair Display"/>
                <a:cs typeface="Playfair Display"/>
                <a:sym typeface="Playfair Display"/>
              </a:rPr>
              <a:t>Go, change the world</a:t>
            </a:r>
            <a:endParaRPr dirty="0"/>
          </a:p>
        </p:txBody>
      </p:sp>
      <p:sp>
        <p:nvSpPr>
          <p:cNvPr id="93" name="Google Shape;93;p4"/>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a:t>
            </a:r>
            <a:endParaRPr dirty="0"/>
          </a:p>
        </p:txBody>
      </p:sp>
      <p:sp>
        <p:nvSpPr>
          <p:cNvPr id="94" name="Google Shape;94;p4"/>
          <p:cNvSpPr txBox="1"/>
          <p:nvPr/>
        </p:nvSpPr>
        <p:spPr>
          <a:xfrm>
            <a:off x="6835775" y="10517187"/>
            <a:ext cx="6432550" cy="56673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Department of ECE</a:t>
            </a:r>
            <a:endParaRPr dirty="0"/>
          </a:p>
        </p:txBody>
      </p:sp>
      <p:sp>
        <p:nvSpPr>
          <p:cNvPr id="95" name="Google Shape;95;p4"/>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25</a:t>
            </a:fld>
            <a:endParaRPr dirty="0"/>
          </a:p>
        </p:txBody>
      </p:sp>
      <p:pic>
        <p:nvPicPr>
          <p:cNvPr id="3074" name="Picture 2">
            <a:extLst>
              <a:ext uri="{FF2B5EF4-FFF2-40B4-BE49-F238E27FC236}">
                <a16:creationId xmlns:a16="http://schemas.microsoft.com/office/drawing/2014/main" id="{771F3FB2-F159-47EF-D82B-65BF3522A9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2912" y="1168398"/>
            <a:ext cx="5467350" cy="414337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D22B564B-D631-9C47-11F1-6E8AE5CE33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2450" y="5834282"/>
            <a:ext cx="4762500" cy="47625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61990A6-6E6D-4946-BBD7-9FA6A7FA5292}"/>
              </a:ext>
            </a:extLst>
          </p:cNvPr>
          <p:cNvSpPr txBox="1"/>
          <p:nvPr/>
        </p:nvSpPr>
        <p:spPr>
          <a:xfrm flipH="1">
            <a:off x="2058345" y="10345508"/>
            <a:ext cx="4491225" cy="646331"/>
          </a:xfrm>
          <a:prstGeom prst="rect">
            <a:avLst/>
          </a:prstGeom>
          <a:noFill/>
        </p:spPr>
        <p:txBody>
          <a:bodyPr wrap="square" rtlCol="0">
            <a:spAutoFit/>
          </a:bodyPr>
          <a:lstStyle/>
          <a:p>
            <a:r>
              <a:rPr lang="en-US" sz="3600" b="1" dirty="0">
                <a:latin typeface="Calibri" panose="020F0502020204030204" pitchFamily="34" charset="0"/>
                <a:ea typeface="Calibri" panose="020F0502020204030204" pitchFamily="34" charset="0"/>
                <a:cs typeface="Calibri" panose="020F0502020204030204" pitchFamily="34" charset="0"/>
              </a:rPr>
              <a:t>Fig.13 DC Motor</a:t>
            </a:r>
            <a:endParaRPr lang="en-IN" sz="3600" b="1"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EE90FDF8-D603-75BA-E888-C707ED9A6445}"/>
              </a:ext>
            </a:extLst>
          </p:cNvPr>
          <p:cNvSpPr txBox="1"/>
          <p:nvPr/>
        </p:nvSpPr>
        <p:spPr>
          <a:xfrm flipH="1">
            <a:off x="2200974" y="5757990"/>
            <a:ext cx="4491225" cy="646331"/>
          </a:xfrm>
          <a:prstGeom prst="rect">
            <a:avLst/>
          </a:prstGeom>
          <a:noFill/>
        </p:spPr>
        <p:txBody>
          <a:bodyPr wrap="square" rtlCol="0">
            <a:spAutoFit/>
          </a:bodyPr>
          <a:lstStyle/>
          <a:p>
            <a:r>
              <a:rPr lang="en-US" sz="3600" b="1" dirty="0">
                <a:latin typeface="Calibri" panose="020F0502020204030204" pitchFamily="34" charset="0"/>
                <a:ea typeface="Calibri" panose="020F0502020204030204" pitchFamily="34" charset="0"/>
                <a:cs typeface="Calibri" panose="020F0502020204030204" pitchFamily="34" charset="0"/>
              </a:rPr>
              <a:t>Fig.12 ESP8266</a:t>
            </a:r>
            <a:endParaRPr lang="en-IN" sz="36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378892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4"/>
          <p:cNvSpPr txBox="1"/>
          <p:nvPr/>
        </p:nvSpPr>
        <p:spPr>
          <a:xfrm>
            <a:off x="0" y="-24714"/>
            <a:ext cx="20104101" cy="11309350"/>
          </a:xfrm>
          <a:prstGeom prst="rect">
            <a:avLst/>
          </a:prstGeom>
          <a:solidFill>
            <a:schemeClr val="lt1">
              <a:alpha val="98431"/>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5" name="Google Shape;85;p4"/>
          <p:cNvSpPr txBox="1"/>
          <p:nvPr/>
        </p:nvSpPr>
        <p:spPr>
          <a:xfrm>
            <a:off x="2479675" y="3687762"/>
            <a:ext cx="15497100" cy="227700"/>
          </a:xfrm>
          <a:prstGeom prst="rect">
            <a:avLst/>
          </a:prstGeom>
          <a:noFill/>
          <a:ln>
            <a:noFill/>
          </a:ln>
        </p:spPr>
        <p:txBody>
          <a:bodyPr spcFirstLastPara="1" wrap="square" lIns="0" tIns="12050" rIns="0" bIns="0" anchor="t" anchorCtr="0">
            <a:spAutoFit/>
          </a:bodyPr>
          <a:lstStyle/>
          <a:p>
            <a:pPr marL="457200" marR="0" lvl="0" indent="0" algn="just" rtl="0">
              <a:lnSpc>
                <a:spcPct val="101000"/>
              </a:lnSpc>
              <a:spcBef>
                <a:spcPts val="0"/>
              </a:spcBef>
              <a:spcAft>
                <a:spcPts val="0"/>
              </a:spcAft>
              <a:buNone/>
            </a:pPr>
            <a:endParaRPr dirty="0"/>
          </a:p>
        </p:txBody>
      </p:sp>
      <p:sp>
        <p:nvSpPr>
          <p:cNvPr id="86" name="Google Shape;86;p4"/>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7" name="Google Shape;87;p4"/>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8" name="Google Shape;88;p4"/>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89" name="Google Shape;89;p4"/>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90" name="Google Shape;90;p4"/>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RV College of</a:t>
            </a:r>
            <a:endParaRPr dirty="0"/>
          </a:p>
          <a:p>
            <a:pPr marL="12700" marR="0" lvl="0" indent="0" algn="l" rtl="0">
              <a:lnSpc>
                <a:spcPct val="106250"/>
              </a:lnSpc>
              <a:spcBef>
                <a:spcPts val="10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Engineering </a:t>
            </a:r>
            <a:endParaRPr dirty="0"/>
          </a:p>
        </p:txBody>
      </p:sp>
      <p:sp>
        <p:nvSpPr>
          <p:cNvPr id="92" name="Google Shape;92;p4"/>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dirty="0">
                <a:solidFill>
                  <a:srgbClr val="422C75"/>
                </a:solidFill>
                <a:latin typeface="Playfair Display"/>
                <a:ea typeface="Playfair Display"/>
                <a:cs typeface="Playfair Display"/>
                <a:sym typeface="Playfair Display"/>
              </a:rPr>
              <a:t>Go, change the world</a:t>
            </a:r>
            <a:endParaRPr dirty="0"/>
          </a:p>
        </p:txBody>
      </p:sp>
      <p:sp>
        <p:nvSpPr>
          <p:cNvPr id="93" name="Google Shape;93;p4"/>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a:t>
            </a:r>
            <a:endParaRPr dirty="0"/>
          </a:p>
        </p:txBody>
      </p:sp>
      <p:sp>
        <p:nvSpPr>
          <p:cNvPr id="94" name="Google Shape;94;p4"/>
          <p:cNvSpPr txBox="1"/>
          <p:nvPr/>
        </p:nvSpPr>
        <p:spPr>
          <a:xfrm>
            <a:off x="6835775" y="10517187"/>
            <a:ext cx="6432550" cy="56673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Department of ECE</a:t>
            </a:r>
            <a:endParaRPr dirty="0"/>
          </a:p>
        </p:txBody>
      </p:sp>
      <p:sp>
        <p:nvSpPr>
          <p:cNvPr id="95" name="Google Shape;95;p4"/>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26</a:t>
            </a:fld>
            <a:endParaRPr dirty="0"/>
          </a:p>
        </p:txBody>
      </p:sp>
      <p:pic>
        <p:nvPicPr>
          <p:cNvPr id="6146" name="Picture 2">
            <a:extLst>
              <a:ext uri="{FF2B5EF4-FFF2-40B4-BE49-F238E27FC236}">
                <a16:creationId xmlns:a16="http://schemas.microsoft.com/office/drawing/2014/main" id="{323946E5-C9F5-C337-0459-A3884403AD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6362" y="2703070"/>
            <a:ext cx="9731376" cy="744765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A45DEA4-432C-2241-D2A0-146908233B23}"/>
              </a:ext>
            </a:extLst>
          </p:cNvPr>
          <p:cNvSpPr txBox="1"/>
          <p:nvPr/>
        </p:nvSpPr>
        <p:spPr>
          <a:xfrm>
            <a:off x="2155373" y="1682294"/>
            <a:ext cx="7130142" cy="1200329"/>
          </a:xfrm>
          <a:prstGeom prst="rect">
            <a:avLst/>
          </a:prstGeom>
          <a:noFill/>
        </p:spPr>
        <p:txBody>
          <a:bodyPr wrap="square" rtlCol="0">
            <a:spAutoFit/>
          </a:bodyPr>
          <a:lstStyle/>
          <a:p>
            <a:pPr algn="ctr"/>
            <a:r>
              <a:rPr lang="en-US" sz="3600" b="1" dirty="0">
                <a:latin typeface="Calibri" panose="020F0502020204030204" pitchFamily="34" charset="0"/>
                <a:ea typeface="Calibri" panose="020F0502020204030204" pitchFamily="34" charset="0"/>
                <a:cs typeface="Calibri" panose="020F0502020204030204" pitchFamily="34" charset="0"/>
              </a:rPr>
              <a:t>Using Arduino Cloud Platform To Control signal</a:t>
            </a:r>
            <a:endParaRPr lang="en-IN" sz="3600" b="1" dirty="0">
              <a:latin typeface="Calibri" panose="020F0502020204030204" pitchFamily="34" charset="0"/>
              <a:ea typeface="Calibri" panose="020F0502020204030204" pitchFamily="34" charset="0"/>
              <a:cs typeface="Calibri" panose="020F0502020204030204" pitchFamily="34" charset="0"/>
            </a:endParaRPr>
          </a:p>
        </p:txBody>
      </p:sp>
      <p:pic>
        <p:nvPicPr>
          <p:cNvPr id="6150" name="Picture 6">
            <a:extLst>
              <a:ext uri="{FF2B5EF4-FFF2-40B4-BE49-F238E27FC236}">
                <a16:creationId xmlns:a16="http://schemas.microsoft.com/office/drawing/2014/main" id="{D9C42D92-A874-9385-48CA-F2BC9A3A6A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619910" y="7179721"/>
            <a:ext cx="4334216" cy="288947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5359C9F-B9E9-D3D7-20B6-74A3C71642BC}"/>
              </a:ext>
            </a:extLst>
          </p:cNvPr>
          <p:cNvSpPr txBox="1"/>
          <p:nvPr/>
        </p:nvSpPr>
        <p:spPr>
          <a:xfrm flipH="1">
            <a:off x="5812560" y="9770739"/>
            <a:ext cx="10075991" cy="646331"/>
          </a:xfrm>
          <a:prstGeom prst="rect">
            <a:avLst/>
          </a:prstGeom>
          <a:noFill/>
        </p:spPr>
        <p:txBody>
          <a:bodyPr wrap="square" rtlCol="0">
            <a:spAutoFit/>
          </a:bodyPr>
          <a:lstStyle/>
          <a:p>
            <a:r>
              <a:rPr lang="en-US" sz="3600" b="1" dirty="0">
                <a:latin typeface="Calibri" panose="020F0502020204030204" pitchFamily="34" charset="0"/>
                <a:ea typeface="Calibri" panose="020F0502020204030204" pitchFamily="34" charset="0"/>
                <a:cs typeface="Calibri" panose="020F0502020204030204" pitchFamily="34" charset="0"/>
              </a:rPr>
              <a:t>Fig.14 Arduino Cloud Platform To Control signal</a:t>
            </a:r>
            <a:endParaRPr lang="en-IN" sz="36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348159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6" name="Google Shape;166;p19"/>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167" name="Google Shape;167;p19"/>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168" name="Google Shape;168;p19"/>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169" name="Google Shape;169;p19"/>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170" name="Google Shape;170;p19"/>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RV College of</a:t>
            </a:r>
            <a:endParaRPr dirty="0"/>
          </a:p>
          <a:p>
            <a:pPr marL="12700" marR="0" lvl="0" indent="0" algn="l" rtl="0">
              <a:lnSpc>
                <a:spcPct val="106250"/>
              </a:lnSpc>
              <a:spcBef>
                <a:spcPts val="10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Engineering </a:t>
            </a:r>
            <a:endParaRPr dirty="0"/>
          </a:p>
        </p:txBody>
      </p:sp>
      <p:sp>
        <p:nvSpPr>
          <p:cNvPr id="171" name="Google Shape;171;p19"/>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dirty="0">
                <a:solidFill>
                  <a:srgbClr val="422C75"/>
                </a:solidFill>
                <a:latin typeface="Playfair Display"/>
                <a:ea typeface="Playfair Display"/>
                <a:cs typeface="Playfair Display"/>
                <a:sym typeface="Playfair Display"/>
              </a:rPr>
              <a:t>Go, change the world</a:t>
            </a:r>
            <a:endParaRPr dirty="0"/>
          </a:p>
        </p:txBody>
      </p:sp>
      <p:sp>
        <p:nvSpPr>
          <p:cNvPr id="172" name="Google Shape;172;p19"/>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a:t>
            </a:r>
            <a:endParaRPr dirty="0"/>
          </a:p>
        </p:txBody>
      </p:sp>
      <p:sp>
        <p:nvSpPr>
          <p:cNvPr id="173" name="Google Shape;173;p19"/>
          <p:cNvSpPr txBox="1"/>
          <p:nvPr/>
        </p:nvSpPr>
        <p:spPr>
          <a:xfrm>
            <a:off x="6835775" y="10517187"/>
            <a:ext cx="6432550" cy="56673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Department of ECE</a:t>
            </a:r>
            <a:endParaRPr dirty="0"/>
          </a:p>
        </p:txBody>
      </p:sp>
      <p:sp>
        <p:nvSpPr>
          <p:cNvPr id="174" name="Google Shape;174;p19"/>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27</a:t>
            </a:fld>
            <a:endParaRPr dirty="0"/>
          </a:p>
        </p:txBody>
      </p:sp>
      <p:sp>
        <p:nvSpPr>
          <p:cNvPr id="2" name="TextBox 1">
            <a:extLst>
              <a:ext uri="{FF2B5EF4-FFF2-40B4-BE49-F238E27FC236}">
                <a16:creationId xmlns:a16="http://schemas.microsoft.com/office/drawing/2014/main" id="{BE7C9495-3A2C-8B69-DC51-C60BE9F19890}"/>
              </a:ext>
            </a:extLst>
          </p:cNvPr>
          <p:cNvSpPr txBox="1"/>
          <p:nvPr/>
        </p:nvSpPr>
        <p:spPr>
          <a:xfrm>
            <a:off x="6142621" y="2021251"/>
            <a:ext cx="7347284" cy="1323439"/>
          </a:xfrm>
          <a:prstGeom prst="rect">
            <a:avLst/>
          </a:prstGeom>
          <a:noFill/>
        </p:spPr>
        <p:txBody>
          <a:bodyPr wrap="square" rtlCol="0">
            <a:spAutoFit/>
          </a:bodyPr>
          <a:lstStyle/>
          <a:p>
            <a:pPr algn="ctr"/>
            <a:r>
              <a:rPr lang="en-IN" sz="8000"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PROTOTYPE</a:t>
            </a:r>
          </a:p>
        </p:txBody>
      </p:sp>
      <p:pic>
        <p:nvPicPr>
          <p:cNvPr id="4" name="Picture 3">
            <a:extLst>
              <a:ext uri="{FF2B5EF4-FFF2-40B4-BE49-F238E27FC236}">
                <a16:creationId xmlns:a16="http://schemas.microsoft.com/office/drawing/2014/main" id="{F1146F59-7A04-742E-299A-D5776F9A1D27}"/>
              </a:ext>
            </a:extLst>
          </p:cNvPr>
          <p:cNvPicPr>
            <a:picLocks noChangeAspect="1"/>
          </p:cNvPicPr>
          <p:nvPr/>
        </p:nvPicPr>
        <p:blipFill>
          <a:blip r:embed="rId4"/>
          <a:stretch>
            <a:fillRect/>
          </a:stretch>
        </p:blipFill>
        <p:spPr>
          <a:xfrm>
            <a:off x="6378408" y="3524994"/>
            <a:ext cx="7347283" cy="608918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5"/>
          <p:cNvSpPr txBox="1"/>
          <p:nvPr/>
        </p:nvSpPr>
        <p:spPr>
          <a:xfrm>
            <a:off x="0" y="-49427"/>
            <a:ext cx="20104101" cy="11309350"/>
          </a:xfrm>
          <a:prstGeom prst="rect">
            <a:avLst/>
          </a:prstGeom>
          <a:solidFill>
            <a:schemeClr val="lt1">
              <a:alpha val="98431"/>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102" name="Google Shape;102;p5"/>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103" name="Google Shape;103;p5"/>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104" name="Google Shape;104;p5"/>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105" name="Google Shape;105;p5"/>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106" name="Google Shape;106;p5"/>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RV College of</a:t>
            </a:r>
            <a:endParaRPr dirty="0"/>
          </a:p>
          <a:p>
            <a:pPr marL="12700" marR="0" lvl="0" indent="0" algn="l" rtl="0">
              <a:lnSpc>
                <a:spcPct val="106250"/>
              </a:lnSpc>
              <a:spcBef>
                <a:spcPts val="10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Engineering </a:t>
            </a:r>
            <a:endParaRPr dirty="0"/>
          </a:p>
        </p:txBody>
      </p:sp>
      <p:sp>
        <p:nvSpPr>
          <p:cNvPr id="108" name="Google Shape;108;p5"/>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dirty="0">
                <a:solidFill>
                  <a:srgbClr val="422C75"/>
                </a:solidFill>
                <a:latin typeface="Playfair Display"/>
                <a:ea typeface="Playfair Display"/>
                <a:cs typeface="Playfair Display"/>
                <a:sym typeface="Playfair Display"/>
              </a:rPr>
              <a:t>Go, change the world</a:t>
            </a:r>
            <a:endParaRPr dirty="0"/>
          </a:p>
        </p:txBody>
      </p:sp>
      <p:sp>
        <p:nvSpPr>
          <p:cNvPr id="109" name="Google Shape;109;p5"/>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a:t>
            </a:r>
            <a:endParaRPr dirty="0"/>
          </a:p>
        </p:txBody>
      </p:sp>
      <p:sp>
        <p:nvSpPr>
          <p:cNvPr id="110" name="Google Shape;110;p5"/>
          <p:cNvSpPr txBox="1"/>
          <p:nvPr/>
        </p:nvSpPr>
        <p:spPr>
          <a:xfrm>
            <a:off x="6835775" y="10517187"/>
            <a:ext cx="6432550" cy="56673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Department of ECE</a:t>
            </a:r>
            <a:endParaRPr dirty="0"/>
          </a:p>
        </p:txBody>
      </p:sp>
      <p:sp>
        <p:nvSpPr>
          <p:cNvPr id="111" name="Google Shape;111;p5"/>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28</a:t>
            </a:fld>
            <a:endParaRPr dirty="0"/>
          </a:p>
        </p:txBody>
      </p:sp>
      <p:pic>
        <p:nvPicPr>
          <p:cNvPr id="3" name="Picture 2">
            <a:extLst>
              <a:ext uri="{FF2B5EF4-FFF2-40B4-BE49-F238E27FC236}">
                <a16:creationId xmlns:a16="http://schemas.microsoft.com/office/drawing/2014/main" id="{C2A0101F-572E-E250-B11B-B06A69FD1D05}"/>
              </a:ext>
            </a:extLst>
          </p:cNvPr>
          <p:cNvPicPr>
            <a:picLocks noChangeAspect="1"/>
          </p:cNvPicPr>
          <p:nvPr/>
        </p:nvPicPr>
        <p:blipFill>
          <a:blip r:embed="rId4"/>
          <a:stretch>
            <a:fillRect/>
          </a:stretch>
        </p:blipFill>
        <p:spPr>
          <a:xfrm rot="16200000">
            <a:off x="5571151" y="1135621"/>
            <a:ext cx="8769240" cy="9038108"/>
          </a:xfrm>
          <a:prstGeom prst="rect">
            <a:avLst/>
          </a:prstGeom>
        </p:spPr>
      </p:pic>
      <p:sp>
        <p:nvSpPr>
          <p:cNvPr id="4" name="TextBox 3">
            <a:extLst>
              <a:ext uri="{FF2B5EF4-FFF2-40B4-BE49-F238E27FC236}">
                <a16:creationId xmlns:a16="http://schemas.microsoft.com/office/drawing/2014/main" id="{576C4432-08D3-0A07-54E9-3AD99A3A1651}"/>
              </a:ext>
            </a:extLst>
          </p:cNvPr>
          <p:cNvSpPr txBox="1"/>
          <p:nvPr/>
        </p:nvSpPr>
        <p:spPr>
          <a:xfrm flipH="1">
            <a:off x="7806437" y="10039295"/>
            <a:ext cx="4491225" cy="646331"/>
          </a:xfrm>
          <a:prstGeom prst="rect">
            <a:avLst/>
          </a:prstGeom>
          <a:noFill/>
        </p:spPr>
        <p:txBody>
          <a:bodyPr wrap="square" rtlCol="0">
            <a:spAutoFit/>
          </a:bodyPr>
          <a:lstStyle/>
          <a:p>
            <a:r>
              <a:rPr lang="en-US" sz="3600" b="1" dirty="0">
                <a:latin typeface="Calibri" panose="020F0502020204030204" pitchFamily="34" charset="0"/>
                <a:ea typeface="Calibri" panose="020F0502020204030204" pitchFamily="34" charset="0"/>
                <a:cs typeface="Calibri" panose="020F0502020204030204" pitchFamily="34" charset="0"/>
              </a:rPr>
              <a:t>Fig.15 Wiring diagram</a:t>
            </a:r>
            <a:endParaRPr lang="en-IN" sz="3600" b="1"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6" name="Google Shape;166;p19"/>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167" name="Google Shape;167;p19"/>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168" name="Google Shape;168;p19"/>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169" name="Google Shape;169;p19"/>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170" name="Google Shape;170;p19"/>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RV College of</a:t>
            </a:r>
            <a:endParaRPr dirty="0"/>
          </a:p>
          <a:p>
            <a:pPr marL="12700" marR="0" lvl="0" indent="0" algn="l" rtl="0">
              <a:lnSpc>
                <a:spcPct val="106250"/>
              </a:lnSpc>
              <a:spcBef>
                <a:spcPts val="10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Engineering </a:t>
            </a:r>
            <a:endParaRPr dirty="0"/>
          </a:p>
        </p:txBody>
      </p:sp>
      <p:sp>
        <p:nvSpPr>
          <p:cNvPr id="171" name="Google Shape;171;p19"/>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dirty="0">
                <a:solidFill>
                  <a:srgbClr val="422C75"/>
                </a:solidFill>
                <a:latin typeface="Playfair Display"/>
                <a:ea typeface="Playfair Display"/>
                <a:cs typeface="Playfair Display"/>
                <a:sym typeface="Playfair Display"/>
              </a:rPr>
              <a:t>Go, change the world</a:t>
            </a:r>
            <a:endParaRPr dirty="0"/>
          </a:p>
        </p:txBody>
      </p:sp>
      <p:sp>
        <p:nvSpPr>
          <p:cNvPr id="172" name="Google Shape;172;p19"/>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a:t>
            </a:r>
            <a:endParaRPr dirty="0"/>
          </a:p>
        </p:txBody>
      </p:sp>
      <p:sp>
        <p:nvSpPr>
          <p:cNvPr id="173" name="Google Shape;173;p19"/>
          <p:cNvSpPr txBox="1"/>
          <p:nvPr/>
        </p:nvSpPr>
        <p:spPr>
          <a:xfrm>
            <a:off x="6835775" y="10517187"/>
            <a:ext cx="6432550" cy="56673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Department of ECE</a:t>
            </a:r>
            <a:endParaRPr dirty="0"/>
          </a:p>
        </p:txBody>
      </p:sp>
      <p:sp>
        <p:nvSpPr>
          <p:cNvPr id="174" name="Google Shape;174;p19"/>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29</a:t>
            </a:fld>
            <a:endParaRPr dirty="0"/>
          </a:p>
        </p:txBody>
      </p:sp>
      <p:pic>
        <p:nvPicPr>
          <p:cNvPr id="3" name="Picture 2">
            <a:extLst>
              <a:ext uri="{FF2B5EF4-FFF2-40B4-BE49-F238E27FC236}">
                <a16:creationId xmlns:a16="http://schemas.microsoft.com/office/drawing/2014/main" id="{7EC2ED39-71D3-69E2-833F-197A43762070}"/>
              </a:ext>
            </a:extLst>
          </p:cNvPr>
          <p:cNvPicPr>
            <a:picLocks noChangeAspect="1"/>
          </p:cNvPicPr>
          <p:nvPr/>
        </p:nvPicPr>
        <p:blipFill>
          <a:blip r:embed="rId4"/>
          <a:stretch>
            <a:fillRect/>
          </a:stretch>
        </p:blipFill>
        <p:spPr>
          <a:xfrm>
            <a:off x="2508250" y="2622105"/>
            <a:ext cx="7011378" cy="5595238"/>
          </a:xfrm>
          <a:prstGeom prst="rect">
            <a:avLst/>
          </a:prstGeom>
        </p:spPr>
      </p:pic>
      <p:pic>
        <p:nvPicPr>
          <p:cNvPr id="5" name="Picture 4">
            <a:extLst>
              <a:ext uri="{FF2B5EF4-FFF2-40B4-BE49-F238E27FC236}">
                <a16:creationId xmlns:a16="http://schemas.microsoft.com/office/drawing/2014/main" id="{21FDBE05-7FAE-7C23-B1E5-19D8C20D755D}"/>
              </a:ext>
            </a:extLst>
          </p:cNvPr>
          <p:cNvPicPr>
            <a:picLocks noChangeAspect="1"/>
          </p:cNvPicPr>
          <p:nvPr/>
        </p:nvPicPr>
        <p:blipFill>
          <a:blip r:embed="rId5"/>
          <a:stretch>
            <a:fillRect/>
          </a:stretch>
        </p:blipFill>
        <p:spPr>
          <a:xfrm>
            <a:off x="10969136" y="2558703"/>
            <a:ext cx="7011378" cy="5658640"/>
          </a:xfrm>
          <a:prstGeom prst="rect">
            <a:avLst/>
          </a:prstGeom>
        </p:spPr>
      </p:pic>
    </p:spTree>
    <p:extLst>
      <p:ext uri="{BB962C8B-B14F-4D97-AF65-F5344CB8AC3E}">
        <p14:creationId xmlns:p14="http://schemas.microsoft.com/office/powerpoint/2010/main" val="35111613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6" name="Google Shape;166;p19"/>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167" name="Google Shape;167;p19"/>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168" name="Google Shape;168;p19"/>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169" name="Google Shape;169;p19"/>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170" name="Google Shape;170;p19"/>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RV College of</a:t>
            </a:r>
            <a:endParaRPr dirty="0"/>
          </a:p>
          <a:p>
            <a:pPr marL="12700" marR="0" lvl="0" indent="0" algn="l" rtl="0">
              <a:lnSpc>
                <a:spcPct val="106250"/>
              </a:lnSpc>
              <a:spcBef>
                <a:spcPts val="10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Engineering </a:t>
            </a:r>
            <a:endParaRPr dirty="0"/>
          </a:p>
        </p:txBody>
      </p:sp>
      <p:sp>
        <p:nvSpPr>
          <p:cNvPr id="171" name="Google Shape;171;p19"/>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dirty="0">
                <a:solidFill>
                  <a:srgbClr val="422C75"/>
                </a:solidFill>
                <a:latin typeface="Playfair Display"/>
                <a:ea typeface="Playfair Display"/>
                <a:cs typeface="Playfair Display"/>
                <a:sym typeface="Playfair Display"/>
              </a:rPr>
              <a:t>Go, change the world</a:t>
            </a:r>
            <a:endParaRPr dirty="0"/>
          </a:p>
        </p:txBody>
      </p:sp>
      <p:sp>
        <p:nvSpPr>
          <p:cNvPr id="172" name="Google Shape;172;p19"/>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a:t>
            </a:r>
            <a:endParaRPr dirty="0"/>
          </a:p>
        </p:txBody>
      </p:sp>
      <p:sp>
        <p:nvSpPr>
          <p:cNvPr id="173" name="Google Shape;173;p19"/>
          <p:cNvSpPr txBox="1"/>
          <p:nvPr/>
        </p:nvSpPr>
        <p:spPr>
          <a:xfrm>
            <a:off x="6835775" y="10517187"/>
            <a:ext cx="6432550" cy="56673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Department of ECE</a:t>
            </a:r>
            <a:endParaRPr dirty="0"/>
          </a:p>
        </p:txBody>
      </p:sp>
      <p:sp>
        <p:nvSpPr>
          <p:cNvPr id="174" name="Google Shape;174;p19"/>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30</a:t>
            </a:fld>
            <a:endParaRPr dirty="0"/>
          </a:p>
        </p:txBody>
      </p:sp>
      <p:pic>
        <p:nvPicPr>
          <p:cNvPr id="3" name="Picture 2" descr="A screenshot of a computer&#10;&#10;Description automatically generated">
            <a:extLst>
              <a:ext uri="{FF2B5EF4-FFF2-40B4-BE49-F238E27FC236}">
                <a16:creationId xmlns:a16="http://schemas.microsoft.com/office/drawing/2014/main" id="{55994F30-41CD-19DF-7E3D-AB063BFDF72C}"/>
              </a:ext>
            </a:extLst>
          </p:cNvPr>
          <p:cNvPicPr>
            <a:picLocks noChangeAspect="1"/>
          </p:cNvPicPr>
          <p:nvPr/>
        </p:nvPicPr>
        <p:blipFill>
          <a:blip r:embed="rId4"/>
          <a:stretch>
            <a:fillRect/>
          </a:stretch>
        </p:blipFill>
        <p:spPr>
          <a:xfrm>
            <a:off x="1712912" y="1630496"/>
            <a:ext cx="17075154" cy="7803879"/>
          </a:xfrm>
          <a:prstGeom prst="rect">
            <a:avLst/>
          </a:prstGeom>
        </p:spPr>
      </p:pic>
      <p:sp>
        <p:nvSpPr>
          <p:cNvPr id="4" name="TextBox 3">
            <a:extLst>
              <a:ext uri="{FF2B5EF4-FFF2-40B4-BE49-F238E27FC236}">
                <a16:creationId xmlns:a16="http://schemas.microsoft.com/office/drawing/2014/main" id="{A0ADA22E-C8FD-BD81-C798-3010E1F6B95C}"/>
              </a:ext>
            </a:extLst>
          </p:cNvPr>
          <p:cNvSpPr txBox="1"/>
          <p:nvPr/>
        </p:nvSpPr>
        <p:spPr>
          <a:xfrm flipH="1">
            <a:off x="6125917" y="9434375"/>
            <a:ext cx="8776330" cy="646331"/>
          </a:xfrm>
          <a:prstGeom prst="rect">
            <a:avLst/>
          </a:prstGeom>
          <a:noFill/>
        </p:spPr>
        <p:txBody>
          <a:bodyPr wrap="square" rtlCol="0">
            <a:spAutoFit/>
          </a:bodyPr>
          <a:lstStyle/>
          <a:p>
            <a:r>
              <a:rPr lang="en-US" sz="3600" b="1" dirty="0">
                <a:latin typeface="Calibri" panose="020F0502020204030204" pitchFamily="34" charset="0"/>
                <a:ea typeface="Calibri" panose="020F0502020204030204" pitchFamily="34" charset="0"/>
                <a:cs typeface="Calibri" panose="020F0502020204030204" pitchFamily="34" charset="0"/>
              </a:rPr>
              <a:t>Fig.16 Dashboard interface of Arduino cloud</a:t>
            </a:r>
            <a:endParaRPr lang="en-IN" sz="36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273965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6" name="Google Shape;166;p19"/>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167" name="Google Shape;167;p19"/>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168" name="Google Shape;168;p19"/>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169" name="Google Shape;169;p19"/>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170" name="Google Shape;170;p19"/>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RV College of</a:t>
            </a:r>
            <a:endParaRPr dirty="0"/>
          </a:p>
          <a:p>
            <a:pPr marL="12700" marR="0" lvl="0" indent="0" algn="l" rtl="0">
              <a:lnSpc>
                <a:spcPct val="106250"/>
              </a:lnSpc>
              <a:spcBef>
                <a:spcPts val="10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Engineering </a:t>
            </a:r>
            <a:endParaRPr dirty="0"/>
          </a:p>
        </p:txBody>
      </p:sp>
      <p:sp>
        <p:nvSpPr>
          <p:cNvPr id="171" name="Google Shape;171;p19"/>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dirty="0">
                <a:solidFill>
                  <a:srgbClr val="422C75"/>
                </a:solidFill>
                <a:latin typeface="Playfair Display"/>
                <a:ea typeface="Playfair Display"/>
                <a:cs typeface="Playfair Display"/>
                <a:sym typeface="Playfair Display"/>
              </a:rPr>
              <a:t>Go, change the world</a:t>
            </a:r>
            <a:endParaRPr dirty="0"/>
          </a:p>
        </p:txBody>
      </p:sp>
      <p:sp>
        <p:nvSpPr>
          <p:cNvPr id="172" name="Google Shape;172;p19"/>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a:t>
            </a:r>
            <a:endParaRPr dirty="0"/>
          </a:p>
        </p:txBody>
      </p:sp>
      <p:sp>
        <p:nvSpPr>
          <p:cNvPr id="173" name="Google Shape;173;p19"/>
          <p:cNvSpPr txBox="1"/>
          <p:nvPr/>
        </p:nvSpPr>
        <p:spPr>
          <a:xfrm>
            <a:off x="6835775" y="10517187"/>
            <a:ext cx="6432550" cy="56673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Department of ECE</a:t>
            </a:r>
            <a:endParaRPr dirty="0"/>
          </a:p>
        </p:txBody>
      </p:sp>
      <p:sp>
        <p:nvSpPr>
          <p:cNvPr id="174" name="Google Shape;174;p19"/>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31</a:t>
            </a:fld>
            <a:endParaRPr dirty="0"/>
          </a:p>
        </p:txBody>
      </p:sp>
      <p:pic>
        <p:nvPicPr>
          <p:cNvPr id="3" name="Picture 2">
            <a:extLst>
              <a:ext uri="{FF2B5EF4-FFF2-40B4-BE49-F238E27FC236}">
                <a16:creationId xmlns:a16="http://schemas.microsoft.com/office/drawing/2014/main" id="{1F152624-098A-78FA-1E49-0052433E50A2}"/>
              </a:ext>
            </a:extLst>
          </p:cNvPr>
          <p:cNvPicPr>
            <a:picLocks noChangeAspect="1"/>
          </p:cNvPicPr>
          <p:nvPr/>
        </p:nvPicPr>
        <p:blipFill>
          <a:blip r:embed="rId4"/>
          <a:stretch>
            <a:fillRect/>
          </a:stretch>
        </p:blipFill>
        <p:spPr>
          <a:xfrm>
            <a:off x="1822450" y="1729951"/>
            <a:ext cx="15664366" cy="7293910"/>
          </a:xfrm>
          <a:prstGeom prst="rect">
            <a:avLst/>
          </a:prstGeom>
        </p:spPr>
      </p:pic>
      <p:sp>
        <p:nvSpPr>
          <p:cNvPr id="4" name="TextBox 3">
            <a:extLst>
              <a:ext uri="{FF2B5EF4-FFF2-40B4-BE49-F238E27FC236}">
                <a16:creationId xmlns:a16="http://schemas.microsoft.com/office/drawing/2014/main" id="{083695F4-B8E0-750C-6F3D-19794E17DF8B}"/>
              </a:ext>
            </a:extLst>
          </p:cNvPr>
          <p:cNvSpPr txBox="1"/>
          <p:nvPr/>
        </p:nvSpPr>
        <p:spPr>
          <a:xfrm flipH="1">
            <a:off x="6125917" y="9470807"/>
            <a:ext cx="8776330" cy="646331"/>
          </a:xfrm>
          <a:prstGeom prst="rect">
            <a:avLst/>
          </a:prstGeom>
          <a:noFill/>
        </p:spPr>
        <p:txBody>
          <a:bodyPr wrap="square" rtlCol="0">
            <a:spAutoFit/>
          </a:bodyPr>
          <a:lstStyle/>
          <a:p>
            <a:r>
              <a:rPr lang="en-US" sz="3600" b="1" dirty="0">
                <a:latin typeface="Calibri" panose="020F0502020204030204" pitchFamily="34" charset="0"/>
                <a:ea typeface="Calibri" panose="020F0502020204030204" pitchFamily="34" charset="0"/>
                <a:cs typeface="Calibri" panose="020F0502020204030204" pitchFamily="34" charset="0"/>
              </a:rPr>
              <a:t>Fig.17  Left motor speed </a:t>
            </a:r>
            <a:endParaRPr lang="en-IN" sz="36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081632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6" name="Google Shape;166;p19"/>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167" name="Google Shape;167;p19"/>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168" name="Google Shape;168;p19"/>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169" name="Google Shape;169;p19"/>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170" name="Google Shape;170;p19"/>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RV College of</a:t>
            </a:r>
            <a:endParaRPr dirty="0"/>
          </a:p>
          <a:p>
            <a:pPr marL="12700" marR="0" lvl="0" indent="0" algn="l" rtl="0">
              <a:lnSpc>
                <a:spcPct val="106250"/>
              </a:lnSpc>
              <a:spcBef>
                <a:spcPts val="10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Engineering </a:t>
            </a:r>
            <a:endParaRPr dirty="0"/>
          </a:p>
        </p:txBody>
      </p:sp>
      <p:sp>
        <p:nvSpPr>
          <p:cNvPr id="171" name="Google Shape;171;p19"/>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dirty="0">
                <a:solidFill>
                  <a:srgbClr val="422C75"/>
                </a:solidFill>
                <a:latin typeface="Playfair Display"/>
                <a:ea typeface="Playfair Display"/>
                <a:cs typeface="Playfair Display"/>
                <a:sym typeface="Playfair Display"/>
              </a:rPr>
              <a:t>Go, change the world</a:t>
            </a:r>
            <a:endParaRPr dirty="0"/>
          </a:p>
        </p:txBody>
      </p:sp>
      <p:sp>
        <p:nvSpPr>
          <p:cNvPr id="172" name="Google Shape;172;p19"/>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a:t>
            </a:r>
            <a:endParaRPr dirty="0"/>
          </a:p>
        </p:txBody>
      </p:sp>
      <p:sp>
        <p:nvSpPr>
          <p:cNvPr id="173" name="Google Shape;173;p19"/>
          <p:cNvSpPr txBox="1"/>
          <p:nvPr/>
        </p:nvSpPr>
        <p:spPr>
          <a:xfrm>
            <a:off x="6835775" y="10517187"/>
            <a:ext cx="6432550" cy="56673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Department of ECE</a:t>
            </a:r>
            <a:endParaRPr dirty="0"/>
          </a:p>
        </p:txBody>
      </p:sp>
      <p:sp>
        <p:nvSpPr>
          <p:cNvPr id="174" name="Google Shape;174;p19"/>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32</a:t>
            </a:fld>
            <a:endParaRPr dirty="0"/>
          </a:p>
        </p:txBody>
      </p:sp>
      <p:pic>
        <p:nvPicPr>
          <p:cNvPr id="3" name="Picture 2">
            <a:extLst>
              <a:ext uri="{FF2B5EF4-FFF2-40B4-BE49-F238E27FC236}">
                <a16:creationId xmlns:a16="http://schemas.microsoft.com/office/drawing/2014/main" id="{9FDC0863-4121-3EE5-8BA9-6AFF47E04FB6}"/>
              </a:ext>
            </a:extLst>
          </p:cNvPr>
          <p:cNvPicPr>
            <a:picLocks noChangeAspect="1"/>
          </p:cNvPicPr>
          <p:nvPr/>
        </p:nvPicPr>
        <p:blipFill>
          <a:blip r:embed="rId4"/>
          <a:stretch>
            <a:fillRect/>
          </a:stretch>
        </p:blipFill>
        <p:spPr>
          <a:xfrm>
            <a:off x="1822450" y="1652173"/>
            <a:ext cx="15742508" cy="7187586"/>
          </a:xfrm>
          <a:prstGeom prst="rect">
            <a:avLst/>
          </a:prstGeom>
        </p:spPr>
      </p:pic>
      <p:sp>
        <p:nvSpPr>
          <p:cNvPr id="4" name="TextBox 3">
            <a:extLst>
              <a:ext uri="{FF2B5EF4-FFF2-40B4-BE49-F238E27FC236}">
                <a16:creationId xmlns:a16="http://schemas.microsoft.com/office/drawing/2014/main" id="{E1C27619-F7EF-0B74-ADCA-98BAD29F9B80}"/>
              </a:ext>
            </a:extLst>
          </p:cNvPr>
          <p:cNvSpPr txBox="1"/>
          <p:nvPr/>
        </p:nvSpPr>
        <p:spPr>
          <a:xfrm flipH="1">
            <a:off x="7066920" y="9162022"/>
            <a:ext cx="8776330" cy="646331"/>
          </a:xfrm>
          <a:prstGeom prst="rect">
            <a:avLst/>
          </a:prstGeom>
          <a:noFill/>
        </p:spPr>
        <p:txBody>
          <a:bodyPr wrap="square" rtlCol="0">
            <a:spAutoFit/>
          </a:bodyPr>
          <a:lstStyle/>
          <a:p>
            <a:r>
              <a:rPr lang="en-US" sz="3600" b="1" dirty="0">
                <a:latin typeface="Calibri" panose="020F0502020204030204" pitchFamily="34" charset="0"/>
                <a:ea typeface="Calibri" panose="020F0502020204030204" pitchFamily="34" charset="0"/>
                <a:cs typeface="Calibri" panose="020F0502020204030204" pitchFamily="34" charset="0"/>
              </a:rPr>
              <a:t>Fig.18  Right motor speed </a:t>
            </a:r>
            <a:endParaRPr lang="en-IN" sz="36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721801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9"/>
          <p:cNvSpPr txBox="1"/>
          <p:nvPr/>
        </p:nvSpPr>
        <p:spPr>
          <a:xfrm>
            <a:off x="0" y="0"/>
            <a:ext cx="20104101" cy="11309350"/>
          </a:xfrm>
          <a:prstGeom prst="rect">
            <a:avLst/>
          </a:prstGeom>
          <a:solidFill>
            <a:schemeClr val="lt1">
              <a:alpha val="98431"/>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165" name="Google Shape;165;p19"/>
          <p:cNvSpPr txBox="1"/>
          <p:nvPr/>
        </p:nvSpPr>
        <p:spPr>
          <a:xfrm>
            <a:off x="11480998" y="9266115"/>
            <a:ext cx="7314243" cy="1504243"/>
          </a:xfrm>
          <a:prstGeom prst="rect">
            <a:avLst/>
          </a:prstGeom>
          <a:noFill/>
          <a:ln>
            <a:noFill/>
          </a:ln>
        </p:spPr>
        <p:txBody>
          <a:bodyPr spcFirstLastPara="1" wrap="square" lIns="0" tIns="12050" rIns="0" bIns="0" anchor="t" anchorCtr="0">
            <a:spAutoFit/>
          </a:bodyPr>
          <a:lstStyle/>
          <a:p>
            <a:pPr marL="12700" marR="0" lvl="0" indent="0" algn="ctr" rtl="0">
              <a:lnSpc>
                <a:spcPct val="101000"/>
              </a:lnSpc>
              <a:spcBef>
                <a:spcPts val="0"/>
              </a:spcBef>
              <a:spcAft>
                <a:spcPts val="0"/>
              </a:spcAft>
              <a:buClr>
                <a:schemeClr val="dk1"/>
              </a:buClr>
              <a:buSzPts val="9600"/>
              <a:buFont typeface="Calibri"/>
              <a:buNone/>
            </a:pPr>
            <a:r>
              <a:rPr lang="en-US" sz="9600" b="0" i="0" u="none" dirty="0">
                <a:solidFill>
                  <a:schemeClr val="dk1"/>
                </a:solidFill>
                <a:latin typeface="Arial Black" panose="020B0A04020102020204" pitchFamily="34" charset="0"/>
                <a:ea typeface="Calibri"/>
                <a:cs typeface="Calibri"/>
                <a:sym typeface="Calibri"/>
              </a:rPr>
              <a:t>Thank You</a:t>
            </a:r>
            <a:endParaRPr lang="en-US" sz="9600">
              <a:latin typeface="Arial Black" panose="020B0A04020102020204" pitchFamily="34" charset="0"/>
            </a:endParaRPr>
          </a:p>
        </p:txBody>
      </p:sp>
      <p:sp>
        <p:nvSpPr>
          <p:cNvPr id="166" name="Google Shape;166;p19"/>
          <p:cNvSpPr/>
          <p:nvPr/>
        </p:nvSpPr>
        <p:spPr>
          <a:xfrm>
            <a:off x="1008062" y="1192212"/>
            <a:ext cx="18527712"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167" name="Google Shape;167;p19"/>
          <p:cNvSpPr txBox="1"/>
          <p:nvPr/>
        </p:nvSpPr>
        <p:spPr>
          <a:xfrm>
            <a:off x="1004887" y="301625"/>
            <a:ext cx="708025" cy="7096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168" name="Google Shape;168;p19"/>
          <p:cNvSpPr/>
          <p:nvPr/>
        </p:nvSpPr>
        <p:spPr>
          <a:xfrm>
            <a:off x="2982912" y="712787"/>
            <a:ext cx="57150" cy="5715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169" name="Google Shape;169;p19"/>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Calibri"/>
              <a:ea typeface="Calibri"/>
              <a:cs typeface="Calibri"/>
              <a:sym typeface="Calibri"/>
            </a:endParaRPr>
          </a:p>
        </p:txBody>
      </p:sp>
      <p:sp>
        <p:nvSpPr>
          <p:cNvPr id="170" name="Google Shape;170;p19"/>
          <p:cNvSpPr txBox="1"/>
          <p:nvPr/>
        </p:nvSpPr>
        <p:spPr>
          <a:xfrm>
            <a:off x="1822450" y="438150"/>
            <a:ext cx="1371600" cy="492125"/>
          </a:xfrm>
          <a:prstGeom prst="rect">
            <a:avLst/>
          </a:prstGeom>
          <a:noFill/>
          <a:ln>
            <a:noFill/>
          </a:ln>
        </p:spPr>
        <p:txBody>
          <a:bodyPr spcFirstLastPara="1" wrap="square" lIns="0" tIns="17125" rIns="0" bIns="0" anchor="t" anchorCtr="0">
            <a:spAutoFit/>
          </a:bodyPr>
          <a:lstStyle/>
          <a:p>
            <a:pPr marL="12700" marR="0" lvl="0" indent="0" algn="l" rtl="0">
              <a:lnSpc>
                <a:spcPct val="106250"/>
              </a:lnSpc>
              <a:spcBef>
                <a:spcPts val="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RV College of</a:t>
            </a:r>
            <a:endParaRPr dirty="0"/>
          </a:p>
          <a:p>
            <a:pPr marL="12700" marR="0" lvl="0" indent="0" algn="l" rtl="0">
              <a:lnSpc>
                <a:spcPct val="106250"/>
              </a:lnSpc>
              <a:spcBef>
                <a:spcPts val="100"/>
              </a:spcBef>
              <a:spcAft>
                <a:spcPts val="0"/>
              </a:spcAft>
              <a:buClr>
                <a:srgbClr val="231F20"/>
              </a:buClr>
              <a:buSzPts val="1600"/>
              <a:buFont typeface="Helvetica Neue"/>
              <a:buNone/>
            </a:pPr>
            <a:r>
              <a:rPr lang="en-US" sz="1600" b="1" i="0" u="none" dirty="0">
                <a:solidFill>
                  <a:srgbClr val="231F20"/>
                </a:solidFill>
                <a:latin typeface="Helvetica Neue"/>
                <a:ea typeface="Helvetica Neue"/>
                <a:cs typeface="Helvetica Neue"/>
                <a:sym typeface="Helvetica Neue"/>
              </a:rPr>
              <a:t>Engineering </a:t>
            </a:r>
            <a:endParaRPr dirty="0"/>
          </a:p>
        </p:txBody>
      </p:sp>
      <p:sp>
        <p:nvSpPr>
          <p:cNvPr id="171" name="Google Shape;171;p19"/>
          <p:cNvSpPr txBox="1">
            <a:spLocks noGrp="1"/>
          </p:cNvSpPr>
          <p:nvPr>
            <p:ph type="title"/>
          </p:nvPr>
        </p:nvSpPr>
        <p:spPr>
          <a:xfrm>
            <a:off x="15843250" y="407987"/>
            <a:ext cx="3679825" cy="46196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422C75"/>
              </a:buClr>
              <a:buSzPts val="3000"/>
              <a:buFont typeface="Playfair Display"/>
              <a:buNone/>
            </a:pPr>
            <a:r>
              <a:rPr lang="en-US" sz="3000" b="0" i="1" u="none" dirty="0">
                <a:solidFill>
                  <a:srgbClr val="422C75"/>
                </a:solidFill>
                <a:latin typeface="Playfair Display"/>
                <a:ea typeface="Playfair Display"/>
                <a:cs typeface="Playfair Display"/>
                <a:sym typeface="Playfair Display"/>
              </a:rPr>
              <a:t>Go, change the world</a:t>
            </a:r>
            <a:endParaRPr dirty="0"/>
          </a:p>
        </p:txBody>
      </p:sp>
      <p:sp>
        <p:nvSpPr>
          <p:cNvPr id="172" name="Google Shape;172;p19"/>
          <p:cNvSpPr txBox="1"/>
          <p:nvPr/>
        </p:nvSpPr>
        <p:spPr>
          <a:xfrm>
            <a:off x="1004887" y="10517187"/>
            <a:ext cx="4624387" cy="56673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a:t>
            </a:r>
            <a:endParaRPr dirty="0"/>
          </a:p>
        </p:txBody>
      </p:sp>
      <p:sp>
        <p:nvSpPr>
          <p:cNvPr id="173" name="Google Shape;173;p19"/>
          <p:cNvSpPr txBox="1"/>
          <p:nvPr/>
        </p:nvSpPr>
        <p:spPr>
          <a:xfrm>
            <a:off x="6835775" y="10517187"/>
            <a:ext cx="6432550" cy="56673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dirty="0">
                <a:solidFill>
                  <a:srgbClr val="898989"/>
                </a:solidFill>
                <a:latin typeface="Calibri"/>
                <a:ea typeface="Calibri"/>
                <a:cs typeface="Calibri"/>
                <a:sym typeface="Calibri"/>
              </a:rPr>
              <a:t>Department of ECE</a:t>
            </a:r>
            <a:endParaRPr dirty="0"/>
          </a:p>
        </p:txBody>
      </p:sp>
      <p:sp>
        <p:nvSpPr>
          <p:cNvPr id="174" name="Google Shape;174;p19"/>
          <p:cNvSpPr txBox="1"/>
          <p:nvPr/>
        </p:nvSpPr>
        <p:spPr>
          <a:xfrm>
            <a:off x="14474825" y="10517187"/>
            <a:ext cx="4624387" cy="566737"/>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a:solidFill>
                  <a:srgbClr val="898989"/>
                </a:solidFill>
                <a:latin typeface="Calibri"/>
                <a:ea typeface="Calibri"/>
                <a:cs typeface="Calibri"/>
                <a:sym typeface="Calibri"/>
              </a:rPr>
              <a:pPr marL="0" marR="0" lvl="0" indent="0" algn="r" rtl="0">
                <a:lnSpc>
                  <a:spcPct val="100000"/>
                </a:lnSpc>
                <a:spcBef>
                  <a:spcPts val="0"/>
                </a:spcBef>
                <a:spcAft>
                  <a:spcPts val="0"/>
                </a:spcAft>
                <a:buClr>
                  <a:srgbClr val="898989"/>
                </a:buClr>
                <a:buSzPts val="1800"/>
                <a:buFont typeface="Calibri"/>
                <a:buNone/>
              </a:pPr>
              <a:t>33</a:t>
            </a:fld>
            <a:endParaRPr dirty="0"/>
          </a:p>
        </p:txBody>
      </p:sp>
      <p:pic>
        <p:nvPicPr>
          <p:cNvPr id="8198" name="Picture 6">
            <a:extLst>
              <a:ext uri="{FF2B5EF4-FFF2-40B4-BE49-F238E27FC236}">
                <a16:creationId xmlns:a16="http://schemas.microsoft.com/office/drawing/2014/main" id="{9CFD5A0B-EFF0-D323-724F-CD82DB08A4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6304" y="-789006"/>
            <a:ext cx="17788960" cy="13349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7309444"/>
      </p:ext>
    </p:extLst>
  </p:cSld>
  <p:clrMapOvr>
    <a:masterClrMapping/>
  </p:clrMapOvr>
</p:sld>
</file>

<file path=ppt/theme/theme1.xml><?xml version="1.0" encoding="utf-8"?>
<a:theme xmlns:a="http://schemas.openxmlformats.org/drawingml/2006/main" name="5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3425</TotalTime>
  <Words>1568</Words>
  <Application>Microsoft Office PowerPoint</Application>
  <PresentationFormat>Custom</PresentationFormat>
  <Paragraphs>328</Paragraphs>
  <Slides>33</Slides>
  <Notes>33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33</vt:i4>
      </vt:variant>
    </vt:vector>
  </HeadingPairs>
  <TitlesOfParts>
    <vt:vector size="42" baseType="lpstr">
      <vt:lpstr>Roboto</vt:lpstr>
      <vt:lpstr>Arial</vt:lpstr>
      <vt:lpstr>Helvetica Neue</vt:lpstr>
      <vt:lpstr>Calibri</vt:lpstr>
      <vt:lpstr>Playfair Display</vt:lpstr>
      <vt:lpstr>Arial Black</vt:lpstr>
      <vt:lpstr>Wingdings</vt:lpstr>
      <vt:lpstr>5_Office Theme</vt:lpstr>
      <vt:lpstr>2_Office Theme</vt:lpstr>
      <vt:lpstr>PowerPoint Presentation</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Srobona Das</dc:creator>
  <cp:lastModifiedBy>CHETAN EC</cp:lastModifiedBy>
  <cp:revision>11</cp:revision>
  <dcterms:created xsi:type="dcterms:W3CDTF">2019-11-25T06:56:12Z</dcterms:created>
  <dcterms:modified xsi:type="dcterms:W3CDTF">2023-09-29T17:36:22Z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2019-11-25T00:00:00Z</vt:filetime>
  </property>
  <property fmtid="{D5CDD505-2E9C-101B-9397-08002B2CF9AE}" pid="3" name="Creator">
    <vt:lpwstr>Adobe Illustrator CC 23.1 (Macintosh)</vt:lpwstr>
  </property>
  <property fmtid="{D5CDD505-2E9C-101B-9397-08002B2CF9AE}" pid="4" name="LastSaved">
    <vt:filetime>2019-11-25T00:00:00Z</vt:filetime>
  </property>
</Properties>
</file>